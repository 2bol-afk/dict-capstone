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0"/>
            <a:ext cx="2224735" cy="685800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20040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5B00"/>
                </a:solidFill>
                <a:latin typeface="Calibri"/>
              </a:rPr>
              <a:t>DICT Capstone Project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Aking Bukid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3F69C"/>
                </a:solidFill>
                <a:latin typeface="Calibri"/>
              </a:rPr>
              <a:t>AI-Driven Crop Recommendation for Philippine Cooperatives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587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E6C9"/>
                </a:solidFill>
                <a:latin typeface="Calibri"/>
              </a:rPr>
              <a:t>"Mas Matalinong Pagsasaka, Kahit Wala Pang Internet"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1143000" cy="32004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Offline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572000"/>
            <a:ext cx="2532888" cy="32004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617720"/>
            <a:ext cx="23500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Bilingual Filipino/English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4572000"/>
            <a:ext cx="1577340" cy="32004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4617720"/>
            <a:ext cx="13944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Zero Cloud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0468" y="4572000"/>
            <a:ext cx="1403604" cy="32004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1908" y="4617720"/>
            <a:ext cx="12207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Privacy-First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910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Random Forest + Ollama LLM + NLLB-200 Translator  ·  FastAPI + SQLite  ·  Scikit-learn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280160"/>
            <a:ext cx="1508760" cy="14173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53619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ED255"/>
                </a:solidFill>
                <a:latin typeface="Calibri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240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F69C"/>
                </a:solidFill>
                <a:latin typeface="Calibri"/>
              </a:rPr>
              <a:t>Farmers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1280160"/>
            <a:ext cx="1508760" cy="14173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153619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ED255"/>
                </a:solidFill>
                <a:latin typeface="Calibri"/>
              </a:rPr>
              <a:t>45 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240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F69C"/>
                </a:solidFill>
                <a:latin typeface="Calibri"/>
              </a:rPr>
              <a:t>Area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2926080"/>
            <a:ext cx="1508760" cy="14173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31821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ED255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8862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F69C"/>
                </a:solidFill>
                <a:latin typeface="Calibri"/>
              </a:rPr>
              <a:t>PH Crops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24160" y="2926080"/>
            <a:ext cx="1508760" cy="14173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31821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ED255"/>
                </a:solidFill>
                <a:latin typeface="Calibri"/>
              </a:rPr>
              <a:t>₱0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8862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F69C"/>
                </a:solidFill>
                <a:latin typeface="Calibri"/>
              </a:rPr>
              <a:t>Cloud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572000"/>
            <a:ext cx="3566160" cy="13716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645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F69C"/>
                </a:solidFill>
                <a:latin typeface="Calibri"/>
              </a:rPr>
              <a:t>Department of Information 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9560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Communications 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52852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F69C"/>
                </a:solidFill>
                <a:latin typeface="Calibri"/>
              </a:rPr>
              <a:t>Philippines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7A6C"/>
                </a:solidFill>
                <a:latin typeface="Calibri"/>
              </a:rPr>
              <a:t>Capstone Exhibition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&amp; Who Feels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Philippine Agriculture Context  ·  Named Stakeholders  ·  Local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562356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631B"/>
                </a:solidFill>
                <a:latin typeface="Calibri"/>
              </a:rPr>
              <a:t>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47472" cy="34747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0D631B"/>
                </a:solidFill>
                <a:latin typeface="Calibri"/>
              </a:rPr>
              <a:t>Information Gap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40493D"/>
                </a:solidFill>
                <a:latin typeface="Calibri"/>
              </a:rPr>
              <a:t>9.6M smallholder farmers have no data-driven tool for crop selection. They rely on word-of-mouth and infrequent extension worker visits.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347472" cy="34747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0D631B"/>
                </a:solidFill>
                <a:latin typeface="Calibri"/>
              </a:rPr>
              <a:t>Connectivity Barrier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40493D"/>
                </a:solidFill>
                <a:latin typeface="Calibri"/>
              </a:rPr>
              <a:t>~40% of rural barangays have unreliable internet (DICT 2023). Cloud-based agri-tools are inaccessible where they're needed most.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47472" cy="34747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0D631B"/>
                </a:solidFill>
                <a:latin typeface="Calibri"/>
              </a:rPr>
              <a:t>Language Barrier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40493D"/>
                </a:solidFill>
                <a:latin typeface="Calibri"/>
              </a:rPr>
              <a:t>All existing crop advisory tools are English-only. Over 70% of Filipino farmers are more comfortable in Tagalog/local dialects.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347472" cy="34747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0D631B"/>
                </a:solidFill>
                <a:latin typeface="Calibri"/>
              </a:rPr>
              <a:t>Yield Loss from Wrong Crop Choices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40493D"/>
                </a:solidFill>
                <a:latin typeface="Calibri"/>
              </a:rPr>
              <a:t>Mismatched crop-soil selection causes 8–12% of small-farm seasons to yield significantly below target, costing ₱10K–₱50K per farm per season (PSA 2024).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035040"/>
            <a:ext cx="5623560" cy="50292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Local Data: PSA Crop Statistics 2024  ·  PhilRice Yield Benchmarks  ·  DA-BSWM Soil DB  ·  DICT Connectivity Report 2023  ·  CDA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024128"/>
            <a:ext cx="571500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097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631B"/>
                </a:solidFill>
                <a:latin typeface="Calibri"/>
              </a:rPr>
              <a:t>Named Stakeholders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00200"/>
            <a:ext cx="5577840" cy="30175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16459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PRIMARY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1920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Smallholder rice/corn farmers  (9.6M nationwide, CDA 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2037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Agricultural cooperative member-farmers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4871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Cooperative managers &amp; supervisors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907792"/>
            <a:ext cx="5577840" cy="3017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295351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&amp; GOVERNMENT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2278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DICT  —  capstone sponsor &amp; national deployer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5112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DA Extension Workers  —  reduced field advisory 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7947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DA-BSWM  —  Bureau of Soil &amp; Water Management (data standards)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215384"/>
            <a:ext cx="5577840" cy="301752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26110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55B00"/>
                </a:solidFill>
                <a:latin typeface="Calibri"/>
              </a:rPr>
              <a:t>REGULATORY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5354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PhilRice  —  yield benchmarks &amp; PH crop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8188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National Privacy Commission (NPC)  —  RA 10173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1023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• CDA  —  Cooperative Development Authority (scale-up pathway)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504688"/>
            <a:ext cx="1691640" cy="5943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55040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ED255"/>
                </a:solidFill>
                <a:latin typeface="Calibri"/>
              </a:rPr>
              <a:t>9,600+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8704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3F69C"/>
                </a:solidFill>
                <a:latin typeface="Calibri"/>
              </a:rPr>
              <a:t>Cooperatives (CDA)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5504688"/>
            <a:ext cx="1691640" cy="5943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555040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ED255"/>
                </a:solidFill>
                <a:latin typeface="Calibri"/>
              </a:rPr>
              <a:t>9.6M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58704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3F69C"/>
                </a:solidFill>
                <a:latin typeface="Calibri"/>
              </a:rPr>
              <a:t>Smallholder Farmers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5504688"/>
            <a:ext cx="1691640" cy="5943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555040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ED255"/>
                </a:solidFill>
                <a:latin typeface="Calibri"/>
              </a:rPr>
              <a:t>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58704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3F69C"/>
                </a:solidFill>
                <a:latin typeface="Calibri"/>
              </a:rPr>
              <a:t>Rural Barangays Offline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Current Process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How crop decisions are made today — without data, without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64208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307592"/>
            <a:ext cx="15179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Farmer Observes
Soil &amp; Yield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55448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1664208" cy="548640"/>
          </a:xfrm>
          <a:prstGeom prst="rect">
            <a:avLst/>
          </a:prstGeom>
          <a:solidFill>
            <a:srgbClr val="FF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24871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1A1A"/>
                </a:solidFill>
                <a:latin typeface="Calibri"/>
              </a:rPr>
              <a:t>No soil data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6856" y="1143000"/>
            <a:ext cx="1664208" cy="12344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1307592"/>
            <a:ext cx="15179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Contacts Extension
Worker (phone/walk)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4" y="155448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76856" y="2468880"/>
            <a:ext cx="1664208" cy="548640"/>
          </a:xfrm>
          <a:prstGeom prst="rect">
            <a:avLst/>
          </a:prstGeom>
          <a:solidFill>
            <a:srgbClr val="FF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4871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1A1A"/>
                </a:solidFill>
                <a:latin typeface="Calibri"/>
              </a:rPr>
              <a:t>Only 1 worker
per 50+ farms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2" y="1143000"/>
            <a:ext cx="1664208" cy="123444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307592"/>
            <a:ext cx="15179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WAIT:
Days to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55448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2468880"/>
            <a:ext cx="1664208" cy="548640"/>
          </a:xfrm>
          <a:prstGeom prst="rect">
            <a:avLst/>
          </a:prstGeom>
          <a:solidFill>
            <a:srgbClr val="FF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6" y="24871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1A1A"/>
                </a:solidFill>
                <a:latin typeface="Calibri"/>
              </a:rPr>
              <a:t>2–4 weeks avg.
window often missed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1143000"/>
            <a:ext cx="1664208" cy="12344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307592"/>
            <a:ext cx="15179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Manual Field
Assessment 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155448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2468880"/>
            <a:ext cx="1664208" cy="548640"/>
          </a:xfrm>
          <a:prstGeom prst="rect">
            <a:avLst/>
          </a:prstGeom>
          <a:solidFill>
            <a:srgbClr val="FF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24871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1A1A"/>
                </a:solidFill>
                <a:latin typeface="Calibri"/>
              </a:rPr>
              <a:t>4–6 hrs travel
per farm visit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7304" y="1143000"/>
            <a:ext cx="1664208" cy="12344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1307592"/>
            <a:ext cx="15179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Verbal Crop
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155448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4" y="2468880"/>
            <a:ext cx="1664208" cy="548640"/>
          </a:xfrm>
          <a:prstGeom prst="rect">
            <a:avLst/>
          </a:prstGeom>
          <a:solidFill>
            <a:srgbClr val="FF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24871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1A1A"/>
                </a:solidFill>
                <a:latin typeface="Calibri"/>
              </a:rPr>
              <a:t>No written record;
no soil data used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1143000"/>
            <a:ext cx="1664208" cy="123444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77272" y="1307592"/>
            <a:ext cx="15179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Planting Decision
(uncertain)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2468880"/>
            <a:ext cx="1664208" cy="548640"/>
          </a:xfrm>
          <a:prstGeom prst="rect">
            <a:avLst/>
          </a:prstGeom>
          <a:solidFill>
            <a:srgbClr val="FF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8984" y="24871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1A1A"/>
                </a:solidFill>
                <a:latin typeface="Calibri"/>
              </a:rPr>
              <a:t>8–12% below-yield
rate each season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1A1A"/>
                </a:solidFill>
                <a:latin typeface="Calibri"/>
              </a:rPr>
              <a:t>Pain Points: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38328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383280"/>
            <a:ext cx="2788920" cy="3657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429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⏱ 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84048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Avg. 2–4 weeks from identifying a problem to receiving crop advice.
The planting window is often missed.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38328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3383280"/>
            <a:ext cx="2788920" cy="3657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429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💰  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84048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Transport: ₱500–₱2,000 per visit. 30 farms × 2 visits/season
= ₱30,000–₱120,000/cooperative/year in travel alone.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38328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0760" y="3383280"/>
            <a:ext cx="2788920" cy="3657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3429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84048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Zero soil sensor data used. Recommendations based entirely
on visual observation and farmer testimony.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338328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61120" y="3383280"/>
            <a:ext cx="2788920" cy="3657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3429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📈  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384048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National DA ratio: 1 extension worker per 50–100 farms.
Personalised advice is impossible at this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Proposed AI Solution: Aking Bukid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Offline-First  ·  Bilingual  ·  Explainable AI  ·  Sensor-Driven  ·  Zero Cloud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97280"/>
            <a:ext cx="2011680" cy="210312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097280"/>
            <a:ext cx="20116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1338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481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0493D"/>
                </a:solidFill>
                <a:latin typeface="Calibri"/>
              </a:rPr>
              <a:t>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93D"/>
                </a:solidFill>
                <a:latin typeface="Calibri"/>
              </a:rPr>
              <a:t>N · P · K
pH · Temp
Humidity · 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192024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097280"/>
            <a:ext cx="2011680" cy="21031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097280"/>
            <a:ext cx="2011680" cy="32004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1338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481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scikit-learn
98.9% accuracy
18 PH crops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92024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097280"/>
            <a:ext cx="2011680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4608" y="1097280"/>
            <a:ext cx="20116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11338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EXPLAINER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1481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Ollama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qwen2.5:3b
(local, offline)
2–3 sentence 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92024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23176" y="1097280"/>
            <a:ext cx="2011680" cy="210312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23176" y="1097280"/>
            <a:ext cx="2011680" cy="32004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896" y="11338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TRANSLATOR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1481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NLLB-200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EN → Filipino
100% offline
Hugging 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1920240"/>
            <a:ext cx="24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631B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81744" y="1097280"/>
            <a:ext cx="2011680" cy="210312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81744" y="1097280"/>
            <a:ext cx="2011680" cy="32004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11338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7464" y="1481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55B00"/>
                </a:solidFill>
                <a:latin typeface="Calibri"/>
              </a:rPr>
              <a:t>Farmer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5B00"/>
                </a:solidFill>
                <a:latin typeface="Calibri"/>
              </a:rPr>
              <a:t>Crop + %
Filipino + EN
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3401568"/>
            <a:ext cx="11521440" cy="3227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474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31B"/>
                </a:solidFill>
                <a:latin typeface="Calibri"/>
              </a:rPr>
              <a:t>What Makes Aking Bukid Different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9776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🔌  100% Offline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29767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All AI runs locally — Random Forest .pkl (3.5 MB), Ollama LLM, NLLB-200 translator. Zero internet after setup.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9776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🇵🇭  Filipino Language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29767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Explanations auto-translated to Tagalog via offline NLLB-200 model. No human translator needed.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9776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📍  Smart Farm Mapping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29767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Admin draws farm polygon on map. System auto-places sensors (5/ha) using point-in-polygon geometry.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1663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🔍  Explainable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48639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"Ang lupa ay may mataas na nitrogen na angkop sa mais." — every recommendation explains itself.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1663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👥  Dual User Roles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48639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Admin dashboard for cooperative staff + simplified farmer view. No passwords needed for farmers.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1663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💾  Lightweight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48639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SQLite + FastAPI + Tailwind. Runs on a ₱20K laptop. No cloud servers, no subscription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Google Stitch Prototype –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Cooperative staff view  ·  Farm &amp; plot management  ·  Sensor readings  ·  Crop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6716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965960" cy="56235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97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Agri-Admin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463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F69C"/>
                </a:solidFill>
                <a:latin typeface="Calibri"/>
              </a:rPr>
              <a:t>Crop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901952"/>
            <a:ext cx="1929384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9476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🏠 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2414016"/>
            <a:ext cx="1929384" cy="4572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4597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🗺  Farms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2926080"/>
            <a:ext cx="1929384" cy="4572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971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📍  Plots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3438144"/>
            <a:ext cx="1929384" cy="4572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4838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📊  Readings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950208"/>
            <a:ext cx="1929384" cy="4572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9959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👥  Farmers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" y="4462272"/>
            <a:ext cx="1929384" cy="4572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5079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⚙  Settings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1097280"/>
            <a:ext cx="2148840" cy="80467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11612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5361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Active Farms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097280"/>
            <a:ext cx="2148840" cy="8046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11612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5361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Total Plots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1097280"/>
            <a:ext cx="2148840" cy="804672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11612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15361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Sensors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1097280"/>
            <a:ext cx="2148840" cy="804672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11612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55B00"/>
                </a:solidFill>
                <a:latin typeface="Calibri"/>
              </a:rPr>
              <a:t>98.9%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15361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93D"/>
                </a:solidFill>
                <a:latin typeface="Calibri"/>
              </a:rPr>
              <a:t>Model 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2029968"/>
            <a:ext cx="9372600" cy="347472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20756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Farm 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0756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Owner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0756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Area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0756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Sensors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0756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Recommended Crop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2075688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Confidence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2395728"/>
            <a:ext cx="937260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0" y="24871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Bukid ni Juan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2487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Juan dela Cruz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2.0 ha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24871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2487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631B"/>
                </a:solidFill>
                <a:latin typeface="Calibri"/>
              </a:rPr>
              <a:t>🌾  Rice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248716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94.3%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2871216"/>
            <a:ext cx="9372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80" y="29626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Lupa ng Bayan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9626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Maria Santos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29626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1.5 ha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9626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29626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631B"/>
                </a:solidFill>
                <a:latin typeface="Calibri"/>
              </a:rPr>
              <a:t>🌽  Corn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296265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87.6%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3346704"/>
            <a:ext cx="937260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0" y="34381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Hardin ng Bukas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34381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Pedro Reyes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34381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3.0 ha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34381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81D17"/>
                </a:solidFill>
                <a:latin typeface="Calibri"/>
              </a:rPr>
              <a:t>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3438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631B"/>
                </a:solidFill>
                <a:latin typeface="Calibri"/>
              </a:rPr>
              <a:t>🍌  Banana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0" y="343814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91.2%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7440" y="4005072"/>
            <a:ext cx="9372600" cy="34747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87168" y="4050791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Latest AI Recommendation  —  Bukid ni Juan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4352544"/>
            <a:ext cx="9372600" cy="1298448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87168" y="44074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31B"/>
                </a:solidFill>
                <a:latin typeface="Calibri"/>
              </a:rPr>
              <a:t>🌾 Rice  —  94.3% confidence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7168" y="477316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EN: The soil has high nitrogen (120 ppm) and near-neutral pH (6.5) — ideal conditions for rice. Temperature (25°C) and humidity (80%) are within optimal range.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87168" y="51480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631B"/>
                </a:solidFill>
                <a:latin typeface="Calibri"/>
              </a:rPr>
              <a:t>FIL: Ang lupa ay may mataas na nitrogen (120 ppm) at halos neutral na pH (6.5), na angkop para sa pagtatanim ng palay. Ang temperatura at halumigmig ay nasa tamang antas.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Google Stitch Prototype – Farmer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Individual farmer login  ·  Personal sensor data  ·  Bilingual AI recommendation  ·  No password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12064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31B"/>
                </a:solidFill>
                <a:latin typeface="Calibri"/>
              </a:rPr>
              <a:t>Farmer Mobile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463040"/>
            <a:ext cx="2743200" cy="5074920"/>
          </a:xfrm>
          <a:prstGeom prst="rect">
            <a:avLst/>
          </a:prstGeom>
          <a:solidFill>
            <a:srgbClr val="18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627632"/>
            <a:ext cx="25603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627632"/>
            <a:ext cx="2560320" cy="475488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73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Aking Bukid  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Bukid ni Juan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505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0493D"/>
                </a:solidFill>
                <a:latin typeface="Calibri"/>
              </a:rPr>
              <a:t>Maligayang pagbabalik!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816352"/>
            <a:ext cx="1143000" cy="59436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5292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93D"/>
                </a:solidFill>
                <a:latin typeface="Calibri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906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631B"/>
                </a:solidFill>
                <a:latin typeface="Calibri"/>
              </a:rPr>
              <a:t>120 ppm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816352"/>
            <a:ext cx="1143000" cy="59436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852928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93D"/>
                </a:solidFill>
                <a:latin typeface="Calibri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906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631B"/>
                </a:solidFill>
                <a:latin typeface="Calibri"/>
              </a:rPr>
              <a:t>45 ppm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529584"/>
            <a:ext cx="1143000" cy="59436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566160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93D"/>
                </a:solidFill>
                <a:latin typeface="Calibri"/>
              </a:rPr>
              <a:t>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039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631B"/>
                </a:solidFill>
                <a:latin typeface="Calibri"/>
              </a:rPr>
              <a:t>38 ppm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529584"/>
            <a:ext cx="1143000" cy="59436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3566160"/>
            <a:ext cx="1143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93D"/>
                </a:solidFill>
                <a:latin typeface="Calibri"/>
              </a:rPr>
              <a:t>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8039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631B"/>
                </a:solidFill>
                <a:latin typeface="Calibri"/>
              </a:rPr>
              <a:t>6.5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4279392"/>
            <a:ext cx="2560320" cy="41148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25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🌾 PALAY — 94%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27448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D17"/>
                </a:solidFill>
                <a:latin typeface="Calibri"/>
              </a:rPr>
              <a:t>Ang lupa ay may mataas na nitrogen at angkop na pH para sa pagtatanim ng palay.
The soil nitrogen and pH are ideal for rice cultivation.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1005840"/>
            <a:ext cx="626364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1097280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31B"/>
                </a:solidFill>
                <a:latin typeface="Calibri"/>
              </a:rPr>
              <a:t>Farmer View 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1609344"/>
            <a:ext cx="64008" cy="54864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157276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Simple Login — Farm Name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18745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No password required. Farmers log in using just their registered farm name — designed for low-tech rural users.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2414016"/>
            <a:ext cx="64008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1888" y="237744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Real-Time Soil Sensor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267919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Displays N, P, K, pH, temperature, humidity, and rainfall from all sensors on their farm plots.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3218688"/>
            <a:ext cx="64008" cy="54864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318211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D24"/>
                </a:solidFill>
                <a:latin typeface="Calibri"/>
              </a:rPr>
              <a:t>Bilingual AI 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48386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Crop name + confidence score shown in both Filipino (Tagalog) and English side by side — no translator needed.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4023360"/>
            <a:ext cx="64008" cy="54864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61888" y="398678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55B00"/>
                </a:solidFill>
                <a:latin typeface="Calibri"/>
              </a:rPr>
              <a:t>AI Explanation in Plain Language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4288536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Explains exactly why that crop was chosen using actual sensor values in simple, everyday language.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6440" y="4828032"/>
            <a:ext cx="64008" cy="54864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61888" y="479145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631B"/>
                </a:solidFill>
                <a:latin typeface="Calibri"/>
              </a:rPr>
              <a:t>Whole-Farm Aggregated 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509320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Multiple plots? The system averages all sensor readings and gives one unified farm-wide crop recommendation.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5632704"/>
            <a:ext cx="64008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61888" y="559612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Offline Local Network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58978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93D"/>
                </a:solidFill>
                <a:latin typeface="Calibri"/>
              </a:rPr>
              <a:t>Works over cooperative WiFi — no internet required. All data stays on the local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Offline AI Option for Low-Connectivity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Fully local stack  ·  No internet dependency  ·  Privacy-preserving  ·  Runs on 1 laptop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603504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31B"/>
                </a:solidFill>
                <a:latin typeface="Calibri"/>
              </a:rPr>
              <a:t>Offline AI Stack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72768"/>
            <a:ext cx="5760720" cy="621792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184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0493D"/>
                </a:solidFill>
                <a:latin typeface="Calibri"/>
              </a:rPr>
              <a:t>Farmer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92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0493D"/>
                </a:solidFill>
                <a:latin typeface="Calibri"/>
              </a:rPr>
              <a:t>Local WiFi only  —  no external network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76272"/>
            <a:ext cx="731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7A6C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58568"/>
            <a:ext cx="5760720" cy="62179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3042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FastAPI Backend (Python)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5786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Serves REST API on localhost:8000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862072"/>
            <a:ext cx="731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7A6C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44368"/>
            <a:ext cx="5760720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990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Random Forest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264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crop_model.pkl  —  scikit-learn  —  3.5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547872"/>
            <a:ext cx="731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7A6C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30168"/>
            <a:ext cx="5760720" cy="621792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675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Ollama LLM  (qwen2.5:3b)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502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Generates explanation text  —  local GPU/CPU  —  ~6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233672"/>
            <a:ext cx="731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7A6C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15968"/>
            <a:ext cx="5760720" cy="621792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3616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55B00"/>
                </a:solidFill>
                <a:latin typeface="Calibri"/>
              </a:rPr>
              <a:t>NLLB-200 Translator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6360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55B00"/>
                </a:solidFill>
                <a:latin typeface="Calibri"/>
              </a:rPr>
              <a:t>Hugging Face offline  —  English → Filipino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919472"/>
            <a:ext cx="7315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7A6C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01768"/>
            <a:ext cx="5760720" cy="62179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0474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631B"/>
                </a:solidFill>
                <a:latin typeface="Calibri"/>
              </a:rPr>
              <a:t>SQLite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321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631B"/>
                </a:solidFill>
                <a:latin typeface="Calibri"/>
              </a:rPr>
              <a:t>.db file on local disk  —  no database server required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005840"/>
            <a:ext cx="5349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0789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31B"/>
                </a:solidFill>
                <a:latin typeface="Calibri"/>
              </a:rPr>
              <a:t>Why Offline Matters in the Philippines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1572768"/>
            <a:ext cx="1572768" cy="109728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1627632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240280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of rural barangays have
unreliable internet
(DICT 2023)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30768" y="1572768"/>
            <a:ext cx="1572768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1627632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₱0/month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2240280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cloud cost vs. ₱3,000+
for cloud AI services
(savings per cooperative)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86416" y="1572768"/>
            <a:ext cx="1572768" cy="1097280"/>
          </a:xfrm>
          <a:prstGeom prst="rect">
            <a:avLst/>
          </a:prstGeom>
          <a:solidFill>
            <a:srgbClr val="1B6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86416" y="1627632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100%
Local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40280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Farmer data never leaves
cooperative server
(RA 10173 compliant)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283464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81D17"/>
                </a:solidFill>
                <a:latin typeface="Calibri"/>
              </a:rPr>
              <a:t>Without offline capability, farmers in low-connectivity barangays are completely excluded from AI-powered agricultural advice — despite being the most underserved and the ones with the most to gain from better crop guidance.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4617720"/>
            <a:ext cx="5349240" cy="201168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6908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Deployment Requirements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1023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Hardware: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51023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laptop or mini-PC  —  ≥ 8 GB RAM, ≥ 50 GB SSD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394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Network: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53949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Local WiFi only  —  no internet port required for operation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687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Setup: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568756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1-day installation via USB drive or local area download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9801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Languages: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598017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System UI and AI responses: English + Filipino (Tagalog)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62727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Cost: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62727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₱20,000 hardware  +  ₱0/month cloud fees  (recurring)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ROI Model: Time Saved × Cost ×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Local wage rates  ·  PSA &amp; PhilRice unit-cost data  ·  Conservative scenario  ·  30 farmers  ·  45 hectares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67160" cy="658368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ROI  =  (Total Annual Benefit − Total Annual Cost)  ÷  Total Annual Cost  × 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2231136" cy="86868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₱453,960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0428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Annual Benefit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783080"/>
            <a:ext cx="2231136" cy="8686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8288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₱34,400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30428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Year 1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28616" y="1783080"/>
            <a:ext cx="2231136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18288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₱419,560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30428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Year 1 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2904" y="1783080"/>
            <a:ext cx="2231136" cy="86868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904" y="18288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55B00"/>
                </a:solidFill>
                <a:latin typeface="Calibri"/>
              </a:rPr>
              <a:t>483%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30428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55B00"/>
                </a:solidFill>
                <a:latin typeface="Calibri"/>
              </a:rPr>
              <a:t>Year 1 ROI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7192" y="1783080"/>
            <a:ext cx="2231136" cy="86868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7192" y="18288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&lt;30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2304288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Payback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88920"/>
            <a:ext cx="7178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86207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31B"/>
                </a:solidFill>
                <a:latin typeface="Calibri"/>
              </a:rPr>
              <a:t>Annual Benefit Breakdown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64408"/>
            <a:ext cx="7086600" cy="347472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Benefit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291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Calculation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39" y="3291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Annual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30168"/>
            <a:ext cx="7086600" cy="530352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03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631B"/>
                </a:solidFill>
                <a:latin typeface="Calibri"/>
              </a:rPr>
              <a:t>Yield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703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18 ha × 3.8 MT × 10% yield gain × 2 seasons × ₱18,000/MT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7216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631B"/>
                </a:solidFill>
                <a:latin typeface="Calibri"/>
              </a:rPr>
              <a:t>₱246,240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97096"/>
            <a:ext cx="7086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702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631B"/>
                </a:solidFill>
                <a:latin typeface="Calibri"/>
              </a:rPr>
              <a:t>Labor Savings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2702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30 farms × 2 visits × 4 hrs × 60% reduction × ₱200/hr ×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288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631B"/>
                </a:solidFill>
                <a:latin typeface="Calibri"/>
              </a:rPr>
              <a:t>₱57,600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64024"/>
            <a:ext cx="7086600" cy="530352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37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631B"/>
                </a:solidFill>
                <a:latin typeface="Calibri"/>
              </a:rPr>
              <a:t>Avoided Crop Failure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8371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18 ha × 5% loss prevention × ₱136,800/ha/yr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8554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631B"/>
                </a:solidFill>
                <a:latin typeface="Calibri"/>
              </a:rPr>
              <a:t>₱123,120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30952"/>
            <a:ext cx="7086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0410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631B"/>
                </a:solidFill>
                <a:latin typeface="Calibri"/>
              </a:rPr>
              <a:t>Fertilizer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4041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18 ha × ₱15,000/ha × 10% reduction in inputs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422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631B"/>
                </a:solidFill>
                <a:latin typeface="Calibri"/>
              </a:rPr>
              <a:t>₱27,000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916168"/>
            <a:ext cx="7086600" cy="50292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961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 ANNUAL BENEFIT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5961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ED255"/>
                </a:solidFill>
                <a:latin typeface="Calibri"/>
              </a:rPr>
              <a:t>₱453,960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27889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28620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31B"/>
                </a:solidFill>
                <a:latin typeface="Calibri"/>
              </a:rPr>
              <a:t>3-Year Projections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3264408"/>
            <a:ext cx="4023360" cy="347472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Conservative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Moderate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2708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Optimistic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18120" y="3630168"/>
            <a:ext cx="4023360" cy="530352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37216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93D"/>
                </a:solidFill>
                <a:latin typeface="Calibri"/>
              </a:rPr>
              <a:t>Adoption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37216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40%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37216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65%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27080" y="37216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90%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4197096"/>
            <a:ext cx="4023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9560" y="42885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93D"/>
                </a:solidFill>
                <a:latin typeface="Calibri"/>
              </a:rPr>
              <a:t>Annual Benefit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42885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₱454K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42885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₱738K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27080" y="42885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₱1.02M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4764024"/>
            <a:ext cx="4023360" cy="530352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09560" y="48554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93D"/>
                </a:solidFill>
                <a:latin typeface="Calibri"/>
              </a:rPr>
              <a:t>3-Yr Cost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15400" y="48554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₱47.2K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21240" y="48554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₱47.2K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27080" y="48554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₱47.2K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18120" y="5330952"/>
            <a:ext cx="4023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09560" y="5422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93D"/>
                </a:solidFill>
                <a:latin typeface="Calibri"/>
              </a:rPr>
              <a:t>3-Yr Net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15400" y="5422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631B"/>
                </a:solidFill>
                <a:latin typeface="Calibri"/>
              </a:rPr>
              <a:t>₱1.31M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21240" y="5422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631B"/>
                </a:solidFill>
                <a:latin typeface="Calibri"/>
              </a:rPr>
              <a:t>₱2.17M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27080" y="5422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631B"/>
                </a:solidFill>
                <a:latin typeface="Calibri"/>
              </a:rPr>
              <a:t>₱3.02M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18120" y="5897880"/>
            <a:ext cx="4023360" cy="530352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09560" y="5989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93D"/>
                </a:solidFill>
                <a:latin typeface="Calibri"/>
              </a:rPr>
              <a:t>3-Yr ROI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15400" y="5989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631B"/>
                </a:solidFill>
                <a:latin typeface="Calibri"/>
              </a:rPr>
              <a:t>2,785%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21240" y="5989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631B"/>
                </a:solidFill>
                <a:latin typeface="Calibri"/>
              </a:rPr>
              <a:t>4,587%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27080" y="5989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631B"/>
                </a:solidFill>
                <a:latin typeface="Calibri"/>
              </a:rPr>
              <a:t>6,388%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5916168"/>
            <a:ext cx="4114800" cy="50292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82127" y="59618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93D"/>
                </a:solidFill>
                <a:latin typeface="Calibri"/>
              </a:rPr>
              <a:t>Basis: PhilRice 3.8 MT/ha yield · PSA ₱18,000/MT farm gate price
DA extension worker rate ₱200/hr · BAS fertilizer cost ₱15,000/ha/yr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Register &amp; Governance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Philippine Data Privacy Act 2012 (RA 10173)  ·  Risk matrix  ·  AI governance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79095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7635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31B"/>
                </a:solidFill>
                <a:latin typeface="Calibri"/>
              </a:rPr>
              <a:t>Risk 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7818120" cy="347472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490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Likelihood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904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4904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631B"/>
                </a:solidFill>
                <a:latin typeface="Calibri"/>
              </a:rPr>
              <a:t>Mitigation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781812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01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Model predicts wrong crop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1920240"/>
            <a:ext cx="73152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19385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920240"/>
            <a:ext cx="685800" cy="256032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93852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0195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30% confidence floor + human override always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04288"/>
            <a:ext cx="7818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Sensor hardware failure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395728"/>
            <a:ext cx="73152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24140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2395728"/>
            <a:ext cx="68580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241401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37744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Manual entry fallback; multi-sensor averaging reduces impact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79776"/>
            <a:ext cx="781812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529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Low farmer adoption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2871216"/>
            <a:ext cx="73152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28895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2871216"/>
            <a:ext cx="685800" cy="256032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288950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85292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Bilingual UI, simple farmer view, cooperative onboarding 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255264"/>
            <a:ext cx="7818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328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Data privacy breach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3346704"/>
            <a:ext cx="73152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40" y="336499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3346704"/>
            <a:ext cx="685800" cy="256032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336499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332841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SQLite on-premise, no cloud sync; RA 10173 consent at enrollment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730752"/>
            <a:ext cx="781812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8039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LLM generates incorrect advice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3822192"/>
            <a:ext cx="73152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38404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20440" y="3822192"/>
            <a:ext cx="685800" cy="256032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40" y="384048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3803904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LLM used only for explanation — Random Forest makes the crop choice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206240"/>
            <a:ext cx="7818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Power or hardware failure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4297680"/>
            <a:ext cx="73152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06040" y="43159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4297680"/>
            <a:ext cx="68580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20440" y="431596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400" y="427939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SQLite journaling; daily automated backup to USB or local NAS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681728"/>
            <a:ext cx="781812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754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D17"/>
                </a:solidFill>
                <a:latin typeface="Calibri"/>
              </a:rPr>
              <a:t>Model accuracy drift over time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40" y="4773168"/>
            <a:ext cx="73152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40" y="479145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0440" y="4773168"/>
            <a:ext cx="68580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0440" y="479145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43400" y="475488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93D"/>
                </a:solidFill>
                <a:latin typeface="Calibri"/>
              </a:rPr>
              <a:t>Annual retraining with updated DA-BSWM soil data; version control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100584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49640" y="1078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631B"/>
                </a:solidFill>
                <a:latin typeface="Calibri"/>
              </a:rPr>
              <a:t>Governance Framework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1536192"/>
            <a:ext cx="3383280" cy="100584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9640" y="16093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RA 10173 — Data Privacy 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18836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Written consent at farmer enrollment. Data stays on cooperative server. NPC-compliant retention policy.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58200" y="2615184"/>
            <a:ext cx="338328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9640" y="2688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Transparency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9640" y="296265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Every recommendation includes full sensor-based explanation. Confidence score always shown to farmers.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58200" y="3694176"/>
            <a:ext cx="3383280" cy="100584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4964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5B00"/>
                </a:solidFill>
                <a:latin typeface="Calibri"/>
              </a:rPr>
              <a:t>Human Override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49640" y="40416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5B00"/>
                </a:solidFill>
                <a:latin typeface="Calibri"/>
              </a:rPr>
              <a:t>Extension workers &amp; managers retain final authority. AI is advisory only — never mandatory.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58200" y="4773168"/>
            <a:ext cx="3383280" cy="1005840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964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1D17"/>
                </a:solidFill>
                <a:latin typeface="Calibri"/>
              </a:rPr>
              <a:t>Access Control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51206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81D17"/>
                </a:solidFill>
                <a:latin typeface="Calibri"/>
              </a:rPr>
              <a:t>Admin vs. farmer roles. Farmers see only their farm. No inter-farm data leakage.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779008"/>
            <a:ext cx="11567160" cy="85039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338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ED255"/>
                </a:solidFill>
                <a:latin typeface="Calibri"/>
              </a:rPr>
              <a:t>RA 10173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172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3F69C"/>
                </a:solidFill>
                <a:latin typeface="Calibri"/>
              </a:rPr>
              <a:t>DATA PRIVACY
ACT 2012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28800" y="583387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Aking Bukid processes personal data (farm owner name, GPS location) under the lawful basis of legitimate interest per RA 10173. All data is stored exclusively on-premises (no cloud sync). Farmers are informed at enrollment. The National Privacy Commission (NPC) guidelines are followed for data retention, access controls, and breach notification procedures.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Selection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26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F69C"/>
                </a:solidFill>
                <a:latin typeface="Calibri"/>
              </a:rPr>
              <a:t>Why Random Forest  ·  Evaluated alternatives  ·  Performance metrics  ·  Offline suitability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solidFill>
            <a:srgbClr val="FED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301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55B00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6035040" cy="56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31B"/>
                </a:solidFill>
                <a:latin typeface="Calibri"/>
              </a:rPr>
              <a:t>Why Random Forest?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9344"/>
            <a:ext cx="256032" cy="25603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93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5727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631B"/>
                </a:solidFill>
                <a:latin typeface="Calibri"/>
              </a:rPr>
              <a:t>High Accuracy (98.9%)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86537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93D"/>
                </a:solidFill>
                <a:latin typeface="Calibri"/>
              </a:rPr>
              <a:t>Achieves 98.9% accuracy on the 2,200-row crop dataset across 18 PH-relevant crop classes. Consistently outperforms Decision Tree, KNN, and SVM in cross-validation.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86584"/>
            <a:ext cx="256032" cy="25603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865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3500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631B"/>
                </a:solidFill>
                <a:latin typeface="Calibri"/>
              </a:rPr>
              <a:t>Offline-Ready — 3.5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64261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93D"/>
                </a:solidFill>
                <a:latin typeface="Calibri"/>
              </a:rPr>
              <a:t>Entire model is a single .pkl file. Runs in milliseconds on CPU. No GPU, no cloud, no API key. Deployable on a ₱20,000 laptop.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256032" cy="25603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638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272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631B"/>
                </a:solidFill>
                <a:latin typeface="Calibri"/>
              </a:rPr>
              <a:t>Built for Tabular Soil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41985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93D"/>
                </a:solidFill>
                <a:latin typeface="Calibri"/>
              </a:rPr>
              <a:t>Random Forest is the gold standard for structured/tabular sensor data: N, P, K, pH, temperature, humidity, rainfall — no normalization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41064"/>
            <a:ext cx="256032" cy="25603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410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9044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631B"/>
                </a:solidFill>
                <a:latin typeface="Calibri"/>
              </a:rPr>
              <a:t>Feature Importance for Explainability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19709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93D"/>
                </a:solidFill>
                <a:latin typeface="Calibri"/>
              </a:rPr>
              <a:t>Provides feature importance scores per prediction, feeding the Ollama LLM with factual context (e.g., "high N=120 ppm drives the rice recommendation").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18304"/>
            <a:ext cx="256032" cy="25603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183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6817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631B"/>
                </a:solidFill>
                <a:latin typeface="Calibri"/>
              </a:rPr>
              <a:t>Robust to Sensor Outliers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97433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93D"/>
                </a:solidFill>
                <a:latin typeface="Calibri"/>
              </a:rPr>
              <a:t>Sensor readings can spike due to hardware faults. RF's ensemble of 100 trees averages out outlier readings automatically.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95544"/>
            <a:ext cx="256032" cy="256032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955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4589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631B"/>
                </a:solidFill>
                <a:latin typeface="Calibri"/>
              </a:rPr>
              <a:t>No Retraining Infrastructure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575157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93D"/>
                </a:solidFill>
                <a:latin typeface="Calibri"/>
              </a:rPr>
              <a:t>Model ships as a pre-trained .pkl artifact. No cloud GPU cluster, no Docker, no ML pipeline required for cooperative staff to run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1005840"/>
            <a:ext cx="5349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0789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31B"/>
                </a:solidFill>
                <a:latin typeface="Calibri"/>
              </a:rPr>
              <a:t>Model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1463040"/>
            <a:ext cx="5257800" cy="347472"/>
          </a:xfrm>
          <a:prstGeom prst="rect">
            <a:avLst/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1490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14904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1490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Offline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1490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14904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Size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14904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631B"/>
                </a:solidFill>
                <a:latin typeface="Calibri"/>
              </a:rPr>
              <a:t>Selected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1828800"/>
            <a:ext cx="5257800" cy="45720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1920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1920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98.9%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1920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3.5 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19202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2304288"/>
            <a:ext cx="5257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Decision Tree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2395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90.1%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23957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631B"/>
                </a:solidFill>
                <a:latin typeface="Calibri"/>
              </a:rPr>
              <a:t>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23957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Fast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23957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&lt;1 MB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23957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2779776"/>
            <a:ext cx="525780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28712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K-Nearest Neigh.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28712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97.1%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2871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631B"/>
                </a:solidFill>
                <a:latin typeface="Calibri"/>
              </a:rP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2871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Slow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287121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2 MB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01400" y="287121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3255264"/>
            <a:ext cx="5257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SVM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33467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97.8%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346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631B"/>
                </a:solidFill>
                <a:latin typeface="Calibri"/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3346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24160" y="3346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8 MB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01400" y="33467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3730752"/>
            <a:ext cx="5257800" cy="457200"/>
          </a:xfrm>
          <a:prstGeom prst="rect">
            <a:avLst/>
          </a:prstGeom>
          <a:solidFill>
            <a:srgbClr val="F7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0" y="38221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Neural Network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3822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99.1%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38221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38221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Slow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382219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&gt;100 MB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01400" y="382219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0" y="4206240"/>
            <a:ext cx="5257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GPT-4 (cloud)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42976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N/A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4297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1A1A"/>
                </a:solidFill>
                <a:latin typeface="Calibri"/>
              </a:rPr>
              <a:t>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92640" y="4297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Slow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24160" y="42976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>Cloud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01400" y="42976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81D17"/>
                </a:solidFill>
                <a:latin typeface="Calibri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6537960" y="4663440"/>
            <a:ext cx="5349240" cy="1965960"/>
          </a:xfrm>
          <a:prstGeom prst="rect">
            <a:avLst/>
          </a:prstGeom>
          <a:solidFill>
            <a:srgbClr val="0D6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75120" y="473659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Random Forest Performance Metrics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75120" y="513892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Accuracy: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513892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98.9%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26880" y="513892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Precision (macro):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0" y="513892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98.7%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75120" y="548640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Recall (macro):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5486400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98.6%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6880" y="548640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F1-Score (macro):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72800" y="5486400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98.6%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0" y="58338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Training samples: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21040" y="583387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2,200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26880" y="58338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Features: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72800" y="583387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7 soil inputs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75120" y="61813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Crop classes: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6181344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18 PH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26880" y="61813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F69C"/>
                </a:solidFill>
                <a:latin typeface="Calibri"/>
              </a:rPr>
              <a:t>Model file size: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72800" y="6181344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ED255"/>
                </a:solidFill>
                <a:latin typeface="Calibri"/>
              </a:rPr>
              <a:t>3.5 MB .pkl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