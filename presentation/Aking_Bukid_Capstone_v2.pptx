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14"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631B"/>
        </a:solidFill>
        <a:effectLst/>
      </p:bgPr>
    </p:bg>
    <p:spTree>
      <p:nvGrpSpPr>
        <p:cNvPr id="1" name=""/>
        <p:cNvGrpSpPr/>
        <p:nvPr/>
      </p:nvGrpSpPr>
      <p:grpSpPr>
        <a:xfrm>
          <a:off x="0" y="0"/>
          <a:ext cx="0" cy="0"/>
          <a:chOff x="0" y="0"/>
          <a:chExt cx="0" cy="0"/>
        </a:xfrm>
      </p:grpSpPr>
      <p:sp>
        <p:nvSpPr>
          <p:cNvPr id="2" name="Rectangle 1"/>
          <p:cNvSpPr/>
          <p:nvPr/>
        </p:nvSpPr>
        <p:spPr>
          <a:xfrm>
            <a:off x="8503920" y="0"/>
            <a:ext cx="3687775" cy="6858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966960" y="0"/>
            <a:ext cx="2224735" cy="6858000"/>
          </a:xfrm>
          <a:prstGeom prst="rect">
            <a:avLst/>
          </a:prstGeom>
          <a:solidFill>
            <a:srgbClr val="1B6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6236208"/>
            <a:ext cx="12191695" cy="62179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417320"/>
            <a:ext cx="320040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75488" y="1463040"/>
            <a:ext cx="3017520" cy="274320"/>
          </a:xfrm>
          <a:prstGeom prst="rect">
            <a:avLst/>
          </a:prstGeom>
          <a:noFill/>
        </p:spPr>
        <p:txBody>
          <a:bodyPr wrap="square">
            <a:spAutoFit/>
          </a:bodyPr>
          <a:lstStyle/>
          <a:p>
            <a:pPr algn="l"/>
            <a:r>
              <a:rPr sz="1100" b="1" i="0">
                <a:solidFill>
                  <a:srgbClr val="755B00"/>
                </a:solidFill>
                <a:latin typeface="Calibri"/>
              </a:rPr>
              <a:t>DICT Capstone Project  ·  2026</a:t>
            </a:r>
          </a:p>
        </p:txBody>
      </p:sp>
      <p:sp>
        <p:nvSpPr>
          <p:cNvPr id="7" name="TextBox 6"/>
          <p:cNvSpPr txBox="1"/>
          <p:nvPr/>
        </p:nvSpPr>
        <p:spPr>
          <a:xfrm>
            <a:off x="365760" y="1874519"/>
            <a:ext cx="7772400" cy="1371600"/>
          </a:xfrm>
          <a:prstGeom prst="rect">
            <a:avLst/>
          </a:prstGeom>
          <a:noFill/>
        </p:spPr>
        <p:txBody>
          <a:bodyPr wrap="square">
            <a:spAutoFit/>
          </a:bodyPr>
          <a:lstStyle/>
          <a:p>
            <a:pPr algn="l"/>
            <a:r>
              <a:rPr sz="5400" b="1" i="0">
                <a:solidFill>
                  <a:srgbClr val="FFFFFF"/>
                </a:solidFill>
                <a:latin typeface="Calibri"/>
              </a:rPr>
              <a:t>Aking Bukid</a:t>
            </a:r>
          </a:p>
        </p:txBody>
      </p:sp>
      <p:sp>
        <p:nvSpPr>
          <p:cNvPr id="8" name="TextBox 7"/>
          <p:cNvSpPr txBox="1"/>
          <p:nvPr/>
        </p:nvSpPr>
        <p:spPr>
          <a:xfrm>
            <a:off x="365760" y="3291840"/>
            <a:ext cx="7955279" cy="502920"/>
          </a:xfrm>
          <a:prstGeom prst="rect">
            <a:avLst/>
          </a:prstGeom>
          <a:noFill/>
        </p:spPr>
        <p:txBody>
          <a:bodyPr wrap="square">
            <a:spAutoFit/>
          </a:bodyPr>
          <a:lstStyle/>
          <a:p>
            <a:pPr algn="l"/>
            <a:r>
              <a:rPr sz="2000" b="0" i="0">
                <a:solidFill>
                  <a:srgbClr val="A3F69C"/>
                </a:solidFill>
                <a:latin typeface="Calibri"/>
              </a:rPr>
              <a:t>AI Crop Recommendation System for Philippine Cooperatives</a:t>
            </a:r>
          </a:p>
        </p:txBody>
      </p:sp>
      <p:sp>
        <p:nvSpPr>
          <p:cNvPr id="9" name="TextBox 8"/>
          <p:cNvSpPr txBox="1"/>
          <p:nvPr/>
        </p:nvSpPr>
        <p:spPr>
          <a:xfrm>
            <a:off x="365760" y="3858768"/>
            <a:ext cx="7772400" cy="292388"/>
          </a:xfrm>
          <a:prstGeom prst="rect">
            <a:avLst/>
          </a:prstGeom>
          <a:noFill/>
        </p:spPr>
        <p:txBody>
          <a:bodyPr wrap="square">
            <a:spAutoFit/>
          </a:bodyPr>
          <a:lstStyle/>
          <a:p>
            <a:pPr algn="l"/>
            <a:r>
              <a:rPr sz="1300" b="0" i="1" dirty="0">
                <a:solidFill>
                  <a:srgbClr val="C8E6C9"/>
                </a:solidFill>
                <a:latin typeface="Calibri"/>
              </a:rPr>
              <a:t>"Mas </a:t>
            </a:r>
            <a:r>
              <a:rPr sz="1300" b="0" i="1" dirty="0" err="1">
                <a:solidFill>
                  <a:srgbClr val="C8E6C9"/>
                </a:solidFill>
                <a:latin typeface="Calibri"/>
              </a:rPr>
              <a:t>Matalinong</a:t>
            </a:r>
            <a:r>
              <a:rPr sz="1300" b="0" i="1" dirty="0">
                <a:solidFill>
                  <a:srgbClr val="C8E6C9"/>
                </a:solidFill>
                <a:latin typeface="Calibri"/>
              </a:rPr>
              <a:t> </a:t>
            </a:r>
            <a:r>
              <a:rPr sz="1300" b="0" i="1" dirty="0" err="1">
                <a:solidFill>
                  <a:srgbClr val="C8E6C9"/>
                </a:solidFill>
                <a:latin typeface="Calibri"/>
              </a:rPr>
              <a:t>Pagsasaka</a:t>
            </a:r>
            <a:r>
              <a:rPr sz="1300" b="0" i="1" dirty="0">
                <a:solidFill>
                  <a:srgbClr val="C8E6C9"/>
                </a:solidFill>
                <a:latin typeface="Calibri"/>
              </a:rPr>
              <a:t>,"</a:t>
            </a:r>
          </a:p>
        </p:txBody>
      </p:sp>
      <p:sp>
        <p:nvSpPr>
          <p:cNvPr id="10" name="Rectangle 9"/>
          <p:cNvSpPr/>
          <p:nvPr/>
        </p:nvSpPr>
        <p:spPr>
          <a:xfrm>
            <a:off x="365760" y="4617720"/>
            <a:ext cx="1305763" cy="329184"/>
          </a:xfrm>
          <a:prstGeom prst="rect">
            <a:avLst/>
          </a:prstGeom>
          <a:solidFill>
            <a:srgbClr val="186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4663440"/>
            <a:ext cx="1168603" cy="246888"/>
          </a:xfrm>
          <a:prstGeom prst="rect">
            <a:avLst/>
          </a:prstGeom>
          <a:noFill/>
        </p:spPr>
        <p:txBody>
          <a:bodyPr wrap="square">
            <a:spAutoFit/>
          </a:bodyPr>
          <a:lstStyle/>
          <a:p>
            <a:pPr algn="l"/>
            <a:r>
              <a:rPr sz="1000" b="1" i="0">
                <a:solidFill>
                  <a:srgbClr val="FFFFFF"/>
                </a:solidFill>
                <a:latin typeface="Calibri"/>
              </a:rPr>
              <a:t>Google Maps</a:t>
            </a:r>
          </a:p>
        </p:txBody>
      </p:sp>
      <p:sp>
        <p:nvSpPr>
          <p:cNvPr id="12" name="Rectangle 11"/>
          <p:cNvSpPr/>
          <p:nvPr/>
        </p:nvSpPr>
        <p:spPr>
          <a:xfrm>
            <a:off x="1781251" y="4617720"/>
            <a:ext cx="1305763" cy="329184"/>
          </a:xfrm>
          <a:prstGeom prst="rect">
            <a:avLst/>
          </a:prstGeom>
          <a:solidFill>
            <a:srgbClr val="1B6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72691" y="4663440"/>
            <a:ext cx="1168603" cy="246888"/>
          </a:xfrm>
          <a:prstGeom prst="rect">
            <a:avLst/>
          </a:prstGeom>
          <a:noFill/>
        </p:spPr>
        <p:txBody>
          <a:bodyPr wrap="square">
            <a:spAutoFit/>
          </a:bodyPr>
          <a:lstStyle/>
          <a:p>
            <a:pPr algn="l"/>
            <a:r>
              <a:rPr sz="1000" b="1" i="0">
                <a:solidFill>
                  <a:srgbClr val="FFFFFF"/>
                </a:solidFill>
                <a:latin typeface="Calibri"/>
              </a:rPr>
              <a:t>IoT Sensors</a:t>
            </a:r>
          </a:p>
        </p:txBody>
      </p:sp>
      <p:sp>
        <p:nvSpPr>
          <p:cNvPr id="14" name="Rectangle 13"/>
          <p:cNvSpPr/>
          <p:nvPr/>
        </p:nvSpPr>
        <p:spPr>
          <a:xfrm>
            <a:off x="3196742" y="4617720"/>
            <a:ext cx="1753819" cy="329184"/>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88182" y="4663440"/>
            <a:ext cx="1616659" cy="246888"/>
          </a:xfrm>
          <a:prstGeom prst="rect">
            <a:avLst/>
          </a:prstGeom>
          <a:noFill/>
        </p:spPr>
        <p:txBody>
          <a:bodyPr wrap="square">
            <a:spAutoFit/>
          </a:bodyPr>
          <a:lstStyle/>
          <a:p>
            <a:pPr algn="l"/>
            <a:r>
              <a:rPr sz="1000" b="1" i="0">
                <a:solidFill>
                  <a:srgbClr val="FFFFFF"/>
                </a:solidFill>
                <a:latin typeface="Calibri"/>
              </a:rPr>
              <a:t>Qwen AI (Ollama)</a:t>
            </a:r>
          </a:p>
        </p:txBody>
      </p:sp>
      <p:sp>
        <p:nvSpPr>
          <p:cNvPr id="16" name="Rectangle 15"/>
          <p:cNvSpPr/>
          <p:nvPr/>
        </p:nvSpPr>
        <p:spPr>
          <a:xfrm>
            <a:off x="5060289" y="4617720"/>
            <a:ext cx="2201875" cy="329184"/>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51729" y="4663440"/>
            <a:ext cx="2064715" cy="246888"/>
          </a:xfrm>
          <a:prstGeom prst="rect">
            <a:avLst/>
          </a:prstGeom>
          <a:noFill/>
        </p:spPr>
        <p:txBody>
          <a:bodyPr wrap="square">
            <a:spAutoFit/>
          </a:bodyPr>
          <a:lstStyle/>
          <a:p>
            <a:pPr algn="l"/>
            <a:r>
              <a:rPr sz="1000" b="1" i="0">
                <a:solidFill>
                  <a:srgbClr val="FFFFFF"/>
                </a:solidFill>
                <a:latin typeface="Calibri"/>
              </a:rPr>
              <a:t>Meta NLLB Translation</a:t>
            </a:r>
          </a:p>
        </p:txBody>
      </p:sp>
      <p:sp>
        <p:nvSpPr>
          <p:cNvPr id="18" name="Rectangle 17"/>
          <p:cNvSpPr/>
          <p:nvPr/>
        </p:nvSpPr>
        <p:spPr>
          <a:xfrm>
            <a:off x="7371892" y="4617720"/>
            <a:ext cx="1574596" cy="329184"/>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63332" y="4663440"/>
            <a:ext cx="1437436" cy="246888"/>
          </a:xfrm>
          <a:prstGeom prst="rect">
            <a:avLst/>
          </a:prstGeom>
          <a:noFill/>
        </p:spPr>
        <p:txBody>
          <a:bodyPr wrap="square">
            <a:spAutoFit/>
          </a:bodyPr>
          <a:lstStyle/>
          <a:p>
            <a:pPr algn="l"/>
            <a:r>
              <a:rPr sz="1000" b="1" i="0">
                <a:solidFill>
                  <a:srgbClr val="FFFFFF"/>
                </a:solidFill>
                <a:latin typeface="Calibri"/>
              </a:rPr>
              <a:t>Kaggle Dataset</a:t>
            </a:r>
          </a:p>
        </p:txBody>
      </p:sp>
      <p:sp>
        <p:nvSpPr>
          <p:cNvPr id="20" name="TextBox 19"/>
          <p:cNvSpPr txBox="1"/>
          <p:nvPr/>
        </p:nvSpPr>
        <p:spPr>
          <a:xfrm>
            <a:off x="365760" y="6291072"/>
            <a:ext cx="8229600" cy="320040"/>
          </a:xfrm>
          <a:prstGeom prst="rect">
            <a:avLst/>
          </a:prstGeom>
          <a:noFill/>
        </p:spPr>
        <p:txBody>
          <a:bodyPr wrap="square">
            <a:spAutoFit/>
          </a:bodyPr>
          <a:lstStyle/>
          <a:p>
            <a:pPr algn="l"/>
            <a:r>
              <a:rPr sz="1000" b="0" i="0">
                <a:solidFill>
                  <a:srgbClr val="FFFFFF"/>
                </a:solidFill>
                <a:latin typeface="Calibri"/>
              </a:rPr>
              <a:t>Sensor-to-Recommendation Pipeline  ·  Google Maps Farm Mapping  ·  Offline Qwen AI  ·  NLLB Filipino Translation</a:t>
            </a:r>
          </a:p>
        </p:txBody>
      </p:sp>
      <p:sp>
        <p:nvSpPr>
          <p:cNvPr id="27" name="Rectangle 26"/>
          <p:cNvSpPr/>
          <p:nvPr/>
        </p:nvSpPr>
        <p:spPr>
          <a:xfrm>
            <a:off x="8732520" y="1354394"/>
            <a:ext cx="1508760" cy="141732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32520" y="1610426"/>
            <a:ext cx="1508760" cy="685800"/>
          </a:xfrm>
          <a:prstGeom prst="rect">
            <a:avLst/>
          </a:prstGeom>
          <a:noFill/>
        </p:spPr>
        <p:txBody>
          <a:bodyPr wrap="square">
            <a:spAutoFit/>
          </a:bodyPr>
          <a:lstStyle/>
          <a:p>
            <a:pPr algn="ctr"/>
            <a:r>
              <a:rPr sz="2600" b="1" i="0">
                <a:solidFill>
                  <a:srgbClr val="FED255"/>
                </a:solidFill>
                <a:latin typeface="Calibri"/>
              </a:rPr>
              <a:t>18</a:t>
            </a:r>
          </a:p>
        </p:txBody>
      </p:sp>
      <p:sp>
        <p:nvSpPr>
          <p:cNvPr id="29" name="TextBox 28"/>
          <p:cNvSpPr txBox="1"/>
          <p:nvPr/>
        </p:nvSpPr>
        <p:spPr>
          <a:xfrm>
            <a:off x="8732520" y="2314514"/>
            <a:ext cx="1508760" cy="320040"/>
          </a:xfrm>
          <a:prstGeom prst="rect">
            <a:avLst/>
          </a:prstGeom>
          <a:noFill/>
        </p:spPr>
        <p:txBody>
          <a:bodyPr wrap="square">
            <a:spAutoFit/>
          </a:bodyPr>
          <a:lstStyle/>
          <a:p>
            <a:pPr algn="ctr"/>
            <a:r>
              <a:rPr sz="1100" b="0" i="0">
                <a:solidFill>
                  <a:srgbClr val="A3F69C"/>
                </a:solidFill>
                <a:latin typeface="Calibri"/>
              </a:rPr>
              <a:t>PH Crops</a:t>
            </a:r>
          </a:p>
        </p:txBody>
      </p:sp>
      <p:sp>
        <p:nvSpPr>
          <p:cNvPr id="30" name="Rectangle 29"/>
          <p:cNvSpPr/>
          <p:nvPr/>
        </p:nvSpPr>
        <p:spPr>
          <a:xfrm>
            <a:off x="10424160" y="2926080"/>
            <a:ext cx="1508760" cy="141732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24160" y="3182112"/>
            <a:ext cx="1508760" cy="685800"/>
          </a:xfrm>
          <a:prstGeom prst="rect">
            <a:avLst/>
          </a:prstGeom>
          <a:noFill/>
        </p:spPr>
        <p:txBody>
          <a:bodyPr wrap="square">
            <a:spAutoFit/>
          </a:bodyPr>
          <a:lstStyle/>
          <a:p>
            <a:pPr algn="ctr"/>
            <a:r>
              <a:rPr sz="2600" b="1" i="0">
                <a:solidFill>
                  <a:srgbClr val="FED255"/>
                </a:solidFill>
                <a:latin typeface="Calibri"/>
              </a:rPr>
              <a:t>₱0</a:t>
            </a:r>
          </a:p>
        </p:txBody>
      </p:sp>
      <p:sp>
        <p:nvSpPr>
          <p:cNvPr id="32" name="TextBox 31"/>
          <p:cNvSpPr txBox="1"/>
          <p:nvPr/>
        </p:nvSpPr>
        <p:spPr>
          <a:xfrm>
            <a:off x="10424160" y="3886200"/>
            <a:ext cx="1508760" cy="320040"/>
          </a:xfrm>
          <a:prstGeom prst="rect">
            <a:avLst/>
          </a:prstGeom>
          <a:noFill/>
        </p:spPr>
        <p:txBody>
          <a:bodyPr wrap="square">
            <a:spAutoFit/>
          </a:bodyPr>
          <a:lstStyle/>
          <a:p>
            <a:pPr algn="ctr"/>
            <a:r>
              <a:rPr sz="1100" b="0" i="0">
                <a:solidFill>
                  <a:srgbClr val="A3F69C"/>
                </a:solidFill>
                <a:latin typeface="Calibri"/>
              </a:rPr>
              <a:t>Cloud AI Cost</a:t>
            </a:r>
          </a:p>
        </p:txBody>
      </p:sp>
      <p:sp>
        <p:nvSpPr>
          <p:cNvPr id="33" name="Rectangle 32"/>
          <p:cNvSpPr/>
          <p:nvPr/>
        </p:nvSpPr>
        <p:spPr>
          <a:xfrm>
            <a:off x="8503920" y="4544568"/>
            <a:ext cx="3482036" cy="13716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56956" y="4617720"/>
            <a:ext cx="3291840" cy="320040"/>
          </a:xfrm>
          <a:prstGeom prst="rect">
            <a:avLst/>
          </a:prstGeom>
          <a:noFill/>
        </p:spPr>
        <p:txBody>
          <a:bodyPr wrap="square">
            <a:spAutoFit/>
          </a:bodyPr>
          <a:lstStyle/>
          <a:p>
            <a:pPr algn="ctr"/>
            <a:r>
              <a:rPr sz="1100" b="0" i="0">
                <a:solidFill>
                  <a:srgbClr val="A3F69C"/>
                </a:solidFill>
                <a:latin typeface="Calibri"/>
              </a:rPr>
              <a:t>Department of Information and</a:t>
            </a:r>
          </a:p>
        </p:txBody>
      </p:sp>
      <p:sp>
        <p:nvSpPr>
          <p:cNvPr id="35" name="TextBox 34"/>
          <p:cNvSpPr txBox="1"/>
          <p:nvPr/>
        </p:nvSpPr>
        <p:spPr>
          <a:xfrm>
            <a:off x="8556956" y="4928616"/>
            <a:ext cx="3291840" cy="320040"/>
          </a:xfrm>
          <a:prstGeom prst="rect">
            <a:avLst/>
          </a:prstGeom>
          <a:noFill/>
        </p:spPr>
        <p:txBody>
          <a:bodyPr wrap="square">
            <a:spAutoFit/>
          </a:bodyPr>
          <a:lstStyle/>
          <a:p>
            <a:pPr algn="ctr"/>
            <a:r>
              <a:rPr sz="1100" b="1" i="0">
                <a:solidFill>
                  <a:srgbClr val="FFFFFF"/>
                </a:solidFill>
                <a:latin typeface="Calibri"/>
              </a:rPr>
              <a:t>Communications Technology</a:t>
            </a:r>
          </a:p>
        </p:txBody>
      </p:sp>
      <p:sp>
        <p:nvSpPr>
          <p:cNvPr id="36" name="TextBox 35"/>
          <p:cNvSpPr txBox="1"/>
          <p:nvPr/>
        </p:nvSpPr>
        <p:spPr>
          <a:xfrm>
            <a:off x="8556956" y="5257800"/>
            <a:ext cx="3291840" cy="320040"/>
          </a:xfrm>
          <a:prstGeom prst="rect">
            <a:avLst/>
          </a:prstGeom>
          <a:noFill/>
        </p:spPr>
        <p:txBody>
          <a:bodyPr wrap="square">
            <a:spAutoFit/>
          </a:bodyPr>
          <a:lstStyle/>
          <a:p>
            <a:pPr algn="ctr"/>
            <a:r>
              <a:rPr sz="1000" b="0" i="0">
                <a:solidFill>
                  <a:srgbClr val="A3F69C"/>
                </a:solidFill>
                <a:latin typeface="Calibri"/>
              </a:rPr>
              <a:t>Philippines  ·  Capstone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Problem &amp; Who Feels It</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Philippine Agriculture Context  ·  Named Stakeholders  ·  Local Data Sources</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1</a:t>
            </a:r>
          </a:p>
        </p:txBody>
      </p:sp>
      <p:sp>
        <p:nvSpPr>
          <p:cNvPr id="7" name="Rectangle 6"/>
          <p:cNvSpPr/>
          <p:nvPr/>
        </p:nvSpPr>
        <p:spPr>
          <a:xfrm>
            <a:off x="320040" y="1024128"/>
            <a:ext cx="5623560" cy="55321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97280"/>
            <a:ext cx="5394960" cy="347472"/>
          </a:xfrm>
          <a:prstGeom prst="rect">
            <a:avLst/>
          </a:prstGeom>
          <a:noFill/>
        </p:spPr>
        <p:txBody>
          <a:bodyPr wrap="square">
            <a:spAutoFit/>
          </a:bodyPr>
          <a:lstStyle/>
          <a:p>
            <a:pPr algn="l"/>
            <a:r>
              <a:rPr sz="1500" b="1" i="0">
                <a:solidFill>
                  <a:srgbClr val="0D631B"/>
                </a:solidFill>
                <a:latin typeface="Calibri"/>
              </a:rPr>
              <a:t>The Problem</a:t>
            </a:r>
          </a:p>
        </p:txBody>
      </p:sp>
      <p:sp>
        <p:nvSpPr>
          <p:cNvPr id="9" name="Rectangle 8"/>
          <p:cNvSpPr/>
          <p:nvPr/>
        </p:nvSpPr>
        <p:spPr>
          <a:xfrm>
            <a:off x="457200" y="1645920"/>
            <a:ext cx="347472" cy="34747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645920"/>
            <a:ext cx="347472" cy="347472"/>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914400" y="1600200"/>
            <a:ext cx="4846320" cy="1005840"/>
          </a:xfrm>
          <a:prstGeom prst="rect">
            <a:avLst/>
          </a:prstGeom>
          <a:noFill/>
        </p:spPr>
        <p:txBody>
          <a:bodyPr wrap="square">
            <a:spAutoFit/>
          </a:bodyPr>
          <a:lstStyle/>
          <a:p>
            <a:pPr algn="l">
              <a:spcBef>
                <a:spcPts val="200"/>
              </a:spcBef>
            </a:pPr>
            <a:r>
              <a:rPr sz="1300" b="1" i="0">
                <a:solidFill>
                  <a:srgbClr val="0D631B"/>
                </a:solidFill>
                <a:latin typeface="Calibri"/>
              </a:rPr>
              <a:t>No Real-Time Soil Data Tools</a:t>
            </a:r>
          </a:p>
          <a:p>
            <a:pPr algn="l">
              <a:spcBef>
                <a:spcPts val="200"/>
              </a:spcBef>
            </a:pPr>
            <a:r>
              <a:rPr sz="1050" b="0" i="0">
                <a:solidFill>
                  <a:srgbClr val="40493D"/>
                </a:solidFill>
                <a:latin typeface="Calibri"/>
              </a:rPr>
              <a:t>9.6M smallholder farmers have no system that collects live sensor readings and instantly recommends the right crop based on actual soil conditions.</a:t>
            </a:r>
          </a:p>
        </p:txBody>
      </p:sp>
      <p:sp>
        <p:nvSpPr>
          <p:cNvPr id="12" name="Rectangle 11"/>
          <p:cNvSpPr/>
          <p:nvPr/>
        </p:nvSpPr>
        <p:spPr>
          <a:xfrm>
            <a:off x="457200" y="2743200"/>
            <a:ext cx="347472" cy="34747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743200"/>
            <a:ext cx="347472" cy="347472"/>
          </a:xfrm>
          <a:prstGeom prst="rect">
            <a:avLst/>
          </a:prstGeom>
          <a:noFill/>
        </p:spPr>
        <p:txBody>
          <a:bodyPr wrap="square">
            <a:spAutoFit/>
          </a:bodyPr>
          <a:lstStyle/>
          <a:p>
            <a:pPr algn="ctr"/>
            <a:r>
              <a:rPr sz="1200" b="1" i="0">
                <a:solidFill>
                  <a:srgbClr val="FFFFFF"/>
                </a:solidFill>
                <a:latin typeface="Calibri"/>
              </a:rPr>
              <a:t>2</a:t>
            </a:r>
          </a:p>
        </p:txBody>
      </p:sp>
      <p:sp>
        <p:nvSpPr>
          <p:cNvPr id="14" name="TextBox 13"/>
          <p:cNvSpPr txBox="1"/>
          <p:nvPr/>
        </p:nvSpPr>
        <p:spPr>
          <a:xfrm>
            <a:off x="914400" y="2697480"/>
            <a:ext cx="4846320" cy="1005840"/>
          </a:xfrm>
          <a:prstGeom prst="rect">
            <a:avLst/>
          </a:prstGeom>
          <a:noFill/>
        </p:spPr>
        <p:txBody>
          <a:bodyPr wrap="square">
            <a:spAutoFit/>
          </a:bodyPr>
          <a:lstStyle/>
          <a:p>
            <a:pPr algn="l">
              <a:spcBef>
                <a:spcPts val="200"/>
              </a:spcBef>
            </a:pPr>
            <a:r>
              <a:rPr sz="1300" b="1" i="0">
                <a:solidFill>
                  <a:srgbClr val="0D631B"/>
                </a:solidFill>
                <a:latin typeface="Calibri"/>
              </a:rPr>
              <a:t>Internet Dependency of Existing Solutions</a:t>
            </a:r>
          </a:p>
          <a:p>
            <a:pPr algn="l">
              <a:spcBef>
                <a:spcPts val="200"/>
              </a:spcBef>
            </a:pPr>
            <a:r>
              <a:rPr sz="1050" b="0" i="0">
                <a:solidFill>
                  <a:srgbClr val="40493D"/>
                </a:solidFill>
                <a:latin typeface="Calibri"/>
              </a:rPr>
              <a:t>Most AI crop tools require cloud connectivity. ~40% of rural barangays have unreliable internet (DICT 2023), making them useless in the field.</a:t>
            </a:r>
          </a:p>
        </p:txBody>
      </p:sp>
      <p:sp>
        <p:nvSpPr>
          <p:cNvPr id="15" name="Rectangle 14"/>
          <p:cNvSpPr/>
          <p:nvPr/>
        </p:nvSpPr>
        <p:spPr>
          <a:xfrm>
            <a:off x="457200" y="3840480"/>
            <a:ext cx="347472" cy="34747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840480"/>
            <a:ext cx="347472" cy="347472"/>
          </a:xfrm>
          <a:prstGeom prst="rect">
            <a:avLst/>
          </a:prstGeom>
          <a:noFill/>
        </p:spPr>
        <p:txBody>
          <a:bodyPr wrap="square">
            <a:spAutoFit/>
          </a:bodyPr>
          <a:lstStyle/>
          <a:p>
            <a:pPr algn="ctr"/>
            <a:r>
              <a:rPr sz="1200" b="1" i="0">
                <a:solidFill>
                  <a:srgbClr val="FFFFFF"/>
                </a:solidFill>
                <a:latin typeface="Calibri"/>
              </a:rPr>
              <a:t>3</a:t>
            </a:r>
          </a:p>
        </p:txBody>
      </p:sp>
      <p:sp>
        <p:nvSpPr>
          <p:cNvPr id="17" name="TextBox 16"/>
          <p:cNvSpPr txBox="1"/>
          <p:nvPr/>
        </p:nvSpPr>
        <p:spPr>
          <a:xfrm>
            <a:off x="914400" y="3794760"/>
            <a:ext cx="4846320" cy="1005840"/>
          </a:xfrm>
          <a:prstGeom prst="rect">
            <a:avLst/>
          </a:prstGeom>
          <a:noFill/>
        </p:spPr>
        <p:txBody>
          <a:bodyPr wrap="square">
            <a:spAutoFit/>
          </a:bodyPr>
          <a:lstStyle/>
          <a:p>
            <a:pPr algn="l">
              <a:spcBef>
                <a:spcPts val="200"/>
              </a:spcBef>
            </a:pPr>
            <a:r>
              <a:rPr sz="1300" b="1" i="0">
                <a:solidFill>
                  <a:srgbClr val="0D631B"/>
                </a:solidFill>
                <a:latin typeface="Calibri"/>
              </a:rPr>
              <a:t>Language Barrier</a:t>
            </a:r>
          </a:p>
          <a:p>
            <a:pPr algn="l">
              <a:spcBef>
                <a:spcPts val="200"/>
              </a:spcBef>
            </a:pPr>
            <a:r>
              <a:rPr sz="1050" b="0" i="0">
                <a:solidFill>
                  <a:srgbClr val="40493D"/>
                </a:solidFill>
                <a:latin typeface="Calibri"/>
              </a:rPr>
              <a:t>All major crop advisory platforms are English-only. Over 70% of Filipino farmers are most comfortable in Filipino/Tagalog.</a:t>
            </a:r>
          </a:p>
        </p:txBody>
      </p:sp>
      <p:sp>
        <p:nvSpPr>
          <p:cNvPr id="18" name="Rectangle 17"/>
          <p:cNvSpPr/>
          <p:nvPr/>
        </p:nvSpPr>
        <p:spPr>
          <a:xfrm>
            <a:off x="457200" y="4937760"/>
            <a:ext cx="347472" cy="34747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937760"/>
            <a:ext cx="347472" cy="347472"/>
          </a:xfrm>
          <a:prstGeom prst="rect">
            <a:avLst/>
          </a:prstGeom>
          <a:noFill/>
        </p:spPr>
        <p:txBody>
          <a:bodyPr wrap="square">
            <a:spAutoFit/>
          </a:bodyPr>
          <a:lstStyle/>
          <a:p>
            <a:pPr algn="ctr"/>
            <a:r>
              <a:rPr sz="1200" b="1" i="0">
                <a:solidFill>
                  <a:srgbClr val="FFFFFF"/>
                </a:solidFill>
                <a:latin typeface="Calibri"/>
              </a:rPr>
              <a:t>4</a:t>
            </a:r>
          </a:p>
        </p:txBody>
      </p:sp>
      <p:sp>
        <p:nvSpPr>
          <p:cNvPr id="20" name="TextBox 19"/>
          <p:cNvSpPr txBox="1"/>
          <p:nvPr/>
        </p:nvSpPr>
        <p:spPr>
          <a:xfrm>
            <a:off x="914400" y="4892040"/>
            <a:ext cx="4846320" cy="1005840"/>
          </a:xfrm>
          <a:prstGeom prst="rect">
            <a:avLst/>
          </a:prstGeom>
          <a:noFill/>
        </p:spPr>
        <p:txBody>
          <a:bodyPr wrap="square">
            <a:spAutoFit/>
          </a:bodyPr>
          <a:lstStyle/>
          <a:p>
            <a:pPr algn="l">
              <a:spcBef>
                <a:spcPts val="200"/>
              </a:spcBef>
            </a:pPr>
            <a:r>
              <a:rPr sz="1300" b="1" i="0">
                <a:solidFill>
                  <a:srgbClr val="0D631B"/>
                </a:solidFill>
                <a:latin typeface="Calibri"/>
              </a:rPr>
              <a:t>Yield Loss from Wrong Crop-Soil Matching</a:t>
            </a:r>
          </a:p>
          <a:p>
            <a:pPr algn="l">
              <a:spcBef>
                <a:spcPts val="200"/>
              </a:spcBef>
            </a:pPr>
            <a:r>
              <a:rPr sz="1050" b="0" i="0">
                <a:solidFill>
                  <a:srgbClr val="40493D"/>
                </a:solidFill>
                <a:latin typeface="Calibri"/>
              </a:rPr>
              <a:t>Poor crop selection causes 8–12% of small-farm seasons to yield below target, costing ₱10K–₱50K per farm per season (PSA 2024).</a:t>
            </a:r>
          </a:p>
        </p:txBody>
      </p:sp>
      <p:sp>
        <p:nvSpPr>
          <p:cNvPr id="21" name="Rectangle 20"/>
          <p:cNvSpPr/>
          <p:nvPr/>
        </p:nvSpPr>
        <p:spPr>
          <a:xfrm>
            <a:off x="320040" y="6035040"/>
            <a:ext cx="5623560" cy="502920"/>
          </a:xfrm>
          <a:prstGeom prst="rect">
            <a:avLst/>
          </a:prstGeom>
          <a:solidFill>
            <a:srgbClr val="E5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080760"/>
            <a:ext cx="5394960" cy="411480"/>
          </a:xfrm>
          <a:prstGeom prst="rect">
            <a:avLst/>
          </a:prstGeom>
          <a:noFill/>
        </p:spPr>
        <p:txBody>
          <a:bodyPr wrap="square">
            <a:spAutoFit/>
          </a:bodyPr>
          <a:lstStyle/>
          <a:p>
            <a:pPr algn="l"/>
            <a:r>
              <a:rPr sz="900" b="0" i="0">
                <a:solidFill>
                  <a:srgbClr val="40493D"/>
                </a:solidFill>
                <a:latin typeface="Calibri"/>
              </a:rPr>
              <a:t>Data Sources: PSA Crop Statistics 2024  ·  PhilRice Yield Benchmarks  ·  DA-BSWM Soil DB  ·  DICT Connectivity Report 2023  ·  CDA Registry</a:t>
            </a:r>
          </a:p>
        </p:txBody>
      </p:sp>
      <p:sp>
        <p:nvSpPr>
          <p:cNvPr id="23" name="Rectangle 22"/>
          <p:cNvSpPr/>
          <p:nvPr/>
        </p:nvSpPr>
        <p:spPr>
          <a:xfrm>
            <a:off x="6172200" y="1024128"/>
            <a:ext cx="5715000" cy="55321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1097280"/>
            <a:ext cx="5486400" cy="347472"/>
          </a:xfrm>
          <a:prstGeom prst="rect">
            <a:avLst/>
          </a:prstGeom>
          <a:noFill/>
        </p:spPr>
        <p:txBody>
          <a:bodyPr wrap="square">
            <a:spAutoFit/>
          </a:bodyPr>
          <a:lstStyle/>
          <a:p>
            <a:pPr algn="l"/>
            <a:r>
              <a:rPr sz="1500" b="1" i="0">
                <a:solidFill>
                  <a:srgbClr val="0D631B"/>
                </a:solidFill>
                <a:latin typeface="Calibri"/>
              </a:rPr>
              <a:t>Named Stakeholders</a:t>
            </a:r>
          </a:p>
        </p:txBody>
      </p:sp>
      <p:sp>
        <p:nvSpPr>
          <p:cNvPr id="25" name="Rectangle 24"/>
          <p:cNvSpPr/>
          <p:nvPr/>
        </p:nvSpPr>
        <p:spPr>
          <a:xfrm>
            <a:off x="6217920" y="1600200"/>
            <a:ext cx="5577840" cy="30175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27648" y="1645920"/>
            <a:ext cx="5394960" cy="228600"/>
          </a:xfrm>
          <a:prstGeom prst="rect">
            <a:avLst/>
          </a:prstGeom>
          <a:noFill/>
        </p:spPr>
        <p:txBody>
          <a:bodyPr wrap="square">
            <a:spAutoFit/>
          </a:bodyPr>
          <a:lstStyle/>
          <a:p>
            <a:pPr algn="l"/>
            <a:r>
              <a:rPr sz="1000" b="1" i="0">
                <a:solidFill>
                  <a:srgbClr val="FFFFFF"/>
                </a:solidFill>
                <a:latin typeface="Calibri"/>
              </a:rPr>
              <a:t>PRIMARY USERS</a:t>
            </a:r>
          </a:p>
        </p:txBody>
      </p:sp>
      <p:sp>
        <p:nvSpPr>
          <p:cNvPr id="27" name="TextBox 26"/>
          <p:cNvSpPr txBox="1"/>
          <p:nvPr/>
        </p:nvSpPr>
        <p:spPr>
          <a:xfrm>
            <a:off x="6327648" y="1920240"/>
            <a:ext cx="5394960" cy="292608"/>
          </a:xfrm>
          <a:prstGeom prst="rect">
            <a:avLst/>
          </a:prstGeom>
          <a:noFill/>
        </p:spPr>
        <p:txBody>
          <a:bodyPr wrap="square">
            <a:spAutoFit/>
          </a:bodyPr>
          <a:lstStyle/>
          <a:p>
            <a:pPr algn="l"/>
            <a:r>
              <a:rPr sz="1100" b="0" i="0">
                <a:solidFill>
                  <a:srgbClr val="181D17"/>
                </a:solidFill>
                <a:latin typeface="Calibri"/>
              </a:rPr>
              <a:t>• Smallholder rice/corn farmers  (9.6M nationwide, CDA 2024)</a:t>
            </a:r>
          </a:p>
        </p:txBody>
      </p:sp>
      <p:sp>
        <p:nvSpPr>
          <p:cNvPr id="28" name="TextBox 27"/>
          <p:cNvSpPr txBox="1"/>
          <p:nvPr/>
        </p:nvSpPr>
        <p:spPr>
          <a:xfrm>
            <a:off x="6327648" y="2203704"/>
            <a:ext cx="5394960" cy="292608"/>
          </a:xfrm>
          <a:prstGeom prst="rect">
            <a:avLst/>
          </a:prstGeom>
          <a:noFill/>
        </p:spPr>
        <p:txBody>
          <a:bodyPr wrap="square">
            <a:spAutoFit/>
          </a:bodyPr>
          <a:lstStyle/>
          <a:p>
            <a:pPr algn="l"/>
            <a:r>
              <a:rPr sz="1100" b="0" i="0">
                <a:solidFill>
                  <a:srgbClr val="181D17"/>
                </a:solidFill>
                <a:latin typeface="Calibri"/>
              </a:rPr>
              <a:t>• Agricultural cooperative member-farmers</a:t>
            </a:r>
          </a:p>
        </p:txBody>
      </p:sp>
      <p:sp>
        <p:nvSpPr>
          <p:cNvPr id="29" name="TextBox 28"/>
          <p:cNvSpPr txBox="1"/>
          <p:nvPr/>
        </p:nvSpPr>
        <p:spPr>
          <a:xfrm>
            <a:off x="6327648" y="2487168"/>
            <a:ext cx="5394960" cy="292608"/>
          </a:xfrm>
          <a:prstGeom prst="rect">
            <a:avLst/>
          </a:prstGeom>
          <a:noFill/>
        </p:spPr>
        <p:txBody>
          <a:bodyPr wrap="square">
            <a:spAutoFit/>
          </a:bodyPr>
          <a:lstStyle/>
          <a:p>
            <a:pPr algn="l"/>
            <a:r>
              <a:rPr sz="1100" b="0" i="0">
                <a:solidFill>
                  <a:srgbClr val="181D17"/>
                </a:solidFill>
                <a:latin typeface="Calibri"/>
              </a:rPr>
              <a:t>• Cooperative managers &amp; supervisors</a:t>
            </a:r>
          </a:p>
        </p:txBody>
      </p:sp>
      <p:sp>
        <p:nvSpPr>
          <p:cNvPr id="30" name="Rectangle 29"/>
          <p:cNvSpPr/>
          <p:nvPr/>
        </p:nvSpPr>
        <p:spPr>
          <a:xfrm>
            <a:off x="6217920" y="2907792"/>
            <a:ext cx="5577840" cy="3017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27648" y="2953512"/>
            <a:ext cx="5394960" cy="228600"/>
          </a:xfrm>
          <a:prstGeom prst="rect">
            <a:avLst/>
          </a:prstGeom>
          <a:noFill/>
        </p:spPr>
        <p:txBody>
          <a:bodyPr wrap="square">
            <a:spAutoFit/>
          </a:bodyPr>
          <a:lstStyle/>
          <a:p>
            <a:pPr algn="l"/>
            <a:r>
              <a:rPr sz="1000" b="1" i="0">
                <a:solidFill>
                  <a:srgbClr val="FFFFFF"/>
                </a:solidFill>
                <a:latin typeface="Calibri"/>
              </a:rPr>
              <a:t>TECHNICAL &amp; GOVERNMENT</a:t>
            </a:r>
          </a:p>
        </p:txBody>
      </p:sp>
      <p:sp>
        <p:nvSpPr>
          <p:cNvPr id="33" name="TextBox 32"/>
          <p:cNvSpPr txBox="1"/>
          <p:nvPr/>
        </p:nvSpPr>
        <p:spPr>
          <a:xfrm>
            <a:off x="6309360" y="3325024"/>
            <a:ext cx="5394960" cy="292608"/>
          </a:xfrm>
          <a:prstGeom prst="rect">
            <a:avLst/>
          </a:prstGeom>
          <a:noFill/>
        </p:spPr>
        <p:txBody>
          <a:bodyPr wrap="square">
            <a:spAutoFit/>
          </a:bodyPr>
          <a:lstStyle/>
          <a:p>
            <a:pPr algn="l"/>
            <a:r>
              <a:rPr sz="1100" b="0" i="0" dirty="0">
                <a:solidFill>
                  <a:srgbClr val="181D17"/>
                </a:solidFill>
                <a:latin typeface="Calibri"/>
              </a:rPr>
              <a:t>• DA Extension Workers  —  reduced field advisory load</a:t>
            </a:r>
          </a:p>
        </p:txBody>
      </p:sp>
      <p:sp>
        <p:nvSpPr>
          <p:cNvPr id="34" name="TextBox 33"/>
          <p:cNvSpPr txBox="1"/>
          <p:nvPr/>
        </p:nvSpPr>
        <p:spPr>
          <a:xfrm>
            <a:off x="6309360" y="3667629"/>
            <a:ext cx="5394960" cy="292608"/>
          </a:xfrm>
          <a:prstGeom prst="rect">
            <a:avLst/>
          </a:prstGeom>
          <a:noFill/>
        </p:spPr>
        <p:txBody>
          <a:bodyPr wrap="square">
            <a:spAutoFit/>
          </a:bodyPr>
          <a:lstStyle/>
          <a:p>
            <a:pPr algn="l"/>
            <a:r>
              <a:rPr sz="1100" b="0" i="0" dirty="0">
                <a:solidFill>
                  <a:srgbClr val="181D17"/>
                </a:solidFill>
                <a:latin typeface="Calibri"/>
              </a:rPr>
              <a:t>• DA-BSWM  —  Bureau of Soil &amp; Water Management (data standards)</a:t>
            </a:r>
          </a:p>
        </p:txBody>
      </p:sp>
      <p:sp>
        <p:nvSpPr>
          <p:cNvPr id="35" name="Rectangle 34"/>
          <p:cNvSpPr/>
          <p:nvPr/>
        </p:nvSpPr>
        <p:spPr>
          <a:xfrm>
            <a:off x="6217920" y="4215384"/>
            <a:ext cx="5577840" cy="301752"/>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27648" y="4261104"/>
            <a:ext cx="5394960" cy="228600"/>
          </a:xfrm>
          <a:prstGeom prst="rect">
            <a:avLst/>
          </a:prstGeom>
          <a:noFill/>
        </p:spPr>
        <p:txBody>
          <a:bodyPr wrap="square">
            <a:spAutoFit/>
          </a:bodyPr>
          <a:lstStyle/>
          <a:p>
            <a:pPr algn="l"/>
            <a:r>
              <a:rPr sz="1000" b="1" i="0">
                <a:solidFill>
                  <a:srgbClr val="755B00"/>
                </a:solidFill>
                <a:latin typeface="Calibri"/>
              </a:rPr>
              <a:t>REGULATORY</a:t>
            </a:r>
          </a:p>
        </p:txBody>
      </p:sp>
      <p:sp>
        <p:nvSpPr>
          <p:cNvPr id="37" name="TextBox 36"/>
          <p:cNvSpPr txBox="1"/>
          <p:nvPr/>
        </p:nvSpPr>
        <p:spPr>
          <a:xfrm>
            <a:off x="6327648" y="4535424"/>
            <a:ext cx="5394960" cy="292608"/>
          </a:xfrm>
          <a:prstGeom prst="rect">
            <a:avLst/>
          </a:prstGeom>
          <a:noFill/>
        </p:spPr>
        <p:txBody>
          <a:bodyPr wrap="square">
            <a:spAutoFit/>
          </a:bodyPr>
          <a:lstStyle/>
          <a:p>
            <a:pPr algn="l"/>
            <a:r>
              <a:rPr sz="1100" b="0" i="0" dirty="0">
                <a:solidFill>
                  <a:srgbClr val="181D17"/>
                </a:solidFill>
                <a:latin typeface="Calibri"/>
              </a:rPr>
              <a:t>• PhilRice  —  yield benchmarks &amp; PH crop validation</a:t>
            </a:r>
          </a:p>
        </p:txBody>
      </p:sp>
      <p:sp>
        <p:nvSpPr>
          <p:cNvPr id="38" name="TextBox 37"/>
          <p:cNvSpPr txBox="1"/>
          <p:nvPr/>
        </p:nvSpPr>
        <p:spPr>
          <a:xfrm>
            <a:off x="6327648" y="4818888"/>
            <a:ext cx="5394960" cy="292608"/>
          </a:xfrm>
          <a:prstGeom prst="rect">
            <a:avLst/>
          </a:prstGeom>
          <a:noFill/>
        </p:spPr>
        <p:txBody>
          <a:bodyPr wrap="square">
            <a:spAutoFit/>
          </a:bodyPr>
          <a:lstStyle/>
          <a:p>
            <a:pPr algn="l"/>
            <a:r>
              <a:rPr sz="1100" b="0" i="0">
                <a:solidFill>
                  <a:srgbClr val="181D17"/>
                </a:solidFill>
                <a:latin typeface="Calibri"/>
              </a:rPr>
              <a:t>• National Privacy Commission (NPC)  —  RA 10173 compliance</a:t>
            </a:r>
          </a:p>
        </p:txBody>
      </p:sp>
      <p:sp>
        <p:nvSpPr>
          <p:cNvPr id="39" name="TextBox 38"/>
          <p:cNvSpPr txBox="1"/>
          <p:nvPr/>
        </p:nvSpPr>
        <p:spPr>
          <a:xfrm>
            <a:off x="6327648" y="5102352"/>
            <a:ext cx="5394960" cy="292608"/>
          </a:xfrm>
          <a:prstGeom prst="rect">
            <a:avLst/>
          </a:prstGeom>
          <a:noFill/>
        </p:spPr>
        <p:txBody>
          <a:bodyPr wrap="square">
            <a:spAutoFit/>
          </a:bodyPr>
          <a:lstStyle/>
          <a:p>
            <a:pPr algn="l"/>
            <a:r>
              <a:rPr sz="1100" b="0" i="0">
                <a:solidFill>
                  <a:srgbClr val="181D17"/>
                </a:solidFill>
                <a:latin typeface="Calibri"/>
              </a:rPr>
              <a:t>• CDA  —  Cooperative Development Authority (scale-up pathway)</a:t>
            </a:r>
          </a:p>
        </p:txBody>
      </p:sp>
      <p:sp>
        <p:nvSpPr>
          <p:cNvPr id="40" name="Rectangle 39"/>
          <p:cNvSpPr/>
          <p:nvPr/>
        </p:nvSpPr>
        <p:spPr>
          <a:xfrm>
            <a:off x="6217920" y="5504688"/>
            <a:ext cx="1691640" cy="59436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17920" y="5550408"/>
            <a:ext cx="1691640" cy="320040"/>
          </a:xfrm>
          <a:prstGeom prst="rect">
            <a:avLst/>
          </a:prstGeom>
          <a:noFill/>
        </p:spPr>
        <p:txBody>
          <a:bodyPr wrap="square">
            <a:spAutoFit/>
          </a:bodyPr>
          <a:lstStyle/>
          <a:p>
            <a:pPr algn="ctr"/>
            <a:r>
              <a:rPr sz="1800" b="1" i="0">
                <a:solidFill>
                  <a:srgbClr val="FED255"/>
                </a:solidFill>
                <a:latin typeface="Calibri"/>
              </a:rPr>
              <a:t>9,600+</a:t>
            </a:r>
          </a:p>
        </p:txBody>
      </p:sp>
      <p:sp>
        <p:nvSpPr>
          <p:cNvPr id="42" name="TextBox 41"/>
          <p:cNvSpPr txBox="1"/>
          <p:nvPr/>
        </p:nvSpPr>
        <p:spPr>
          <a:xfrm>
            <a:off x="6217920" y="5870448"/>
            <a:ext cx="1691640" cy="201168"/>
          </a:xfrm>
          <a:prstGeom prst="rect">
            <a:avLst/>
          </a:prstGeom>
          <a:noFill/>
        </p:spPr>
        <p:txBody>
          <a:bodyPr wrap="square">
            <a:spAutoFit/>
          </a:bodyPr>
          <a:lstStyle/>
          <a:p>
            <a:pPr algn="ctr"/>
            <a:r>
              <a:rPr sz="800" b="0" i="0">
                <a:solidFill>
                  <a:srgbClr val="A3F69C"/>
                </a:solidFill>
                <a:latin typeface="Calibri"/>
              </a:rPr>
              <a:t>Cooperatives (CDA)</a:t>
            </a:r>
          </a:p>
        </p:txBody>
      </p:sp>
      <p:sp>
        <p:nvSpPr>
          <p:cNvPr id="43" name="Rectangle 42"/>
          <p:cNvSpPr/>
          <p:nvPr/>
        </p:nvSpPr>
        <p:spPr>
          <a:xfrm>
            <a:off x="8092440" y="5504688"/>
            <a:ext cx="1691640" cy="59436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92440" y="5550408"/>
            <a:ext cx="1691640" cy="320040"/>
          </a:xfrm>
          <a:prstGeom prst="rect">
            <a:avLst/>
          </a:prstGeom>
          <a:noFill/>
        </p:spPr>
        <p:txBody>
          <a:bodyPr wrap="square">
            <a:spAutoFit/>
          </a:bodyPr>
          <a:lstStyle/>
          <a:p>
            <a:pPr algn="ctr"/>
            <a:r>
              <a:rPr sz="1800" b="1" i="0">
                <a:solidFill>
                  <a:srgbClr val="FED255"/>
                </a:solidFill>
                <a:latin typeface="Calibri"/>
              </a:rPr>
              <a:t>9.6M</a:t>
            </a:r>
          </a:p>
        </p:txBody>
      </p:sp>
      <p:sp>
        <p:nvSpPr>
          <p:cNvPr id="45" name="TextBox 44"/>
          <p:cNvSpPr txBox="1"/>
          <p:nvPr/>
        </p:nvSpPr>
        <p:spPr>
          <a:xfrm>
            <a:off x="8092440" y="5870448"/>
            <a:ext cx="1691640" cy="201168"/>
          </a:xfrm>
          <a:prstGeom prst="rect">
            <a:avLst/>
          </a:prstGeom>
          <a:noFill/>
        </p:spPr>
        <p:txBody>
          <a:bodyPr wrap="square">
            <a:spAutoFit/>
          </a:bodyPr>
          <a:lstStyle/>
          <a:p>
            <a:pPr algn="ctr"/>
            <a:r>
              <a:rPr sz="800" b="0" i="0">
                <a:solidFill>
                  <a:srgbClr val="A3F69C"/>
                </a:solidFill>
                <a:latin typeface="Calibri"/>
              </a:rPr>
              <a:t>Smallholder Farmers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Current Process Map</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How crop decisions are made today — no sensors, no AI, no real-time data</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2</a:t>
            </a:r>
          </a:p>
        </p:txBody>
      </p:sp>
      <p:sp>
        <p:nvSpPr>
          <p:cNvPr id="7" name="Rectangle 6"/>
          <p:cNvSpPr/>
          <p:nvPr/>
        </p:nvSpPr>
        <p:spPr>
          <a:xfrm>
            <a:off x="320040" y="1143000"/>
            <a:ext cx="1664208" cy="12344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3192" y="1307592"/>
            <a:ext cx="1517904" cy="1234440"/>
          </a:xfrm>
          <a:prstGeom prst="rect">
            <a:avLst/>
          </a:prstGeom>
          <a:noFill/>
        </p:spPr>
        <p:txBody>
          <a:bodyPr wrap="square">
            <a:spAutoFit/>
          </a:bodyPr>
          <a:lstStyle/>
          <a:p>
            <a:pPr algn="ctr"/>
            <a:r>
              <a:rPr sz="1100" b="1" i="0">
                <a:solidFill>
                  <a:srgbClr val="FFFFFF"/>
                </a:solidFill>
                <a:latin typeface="Calibri"/>
              </a:rPr>
              <a:t>Farmer Observes
Soil &amp; Yield</a:t>
            </a:r>
          </a:p>
        </p:txBody>
      </p:sp>
      <p:sp>
        <p:nvSpPr>
          <p:cNvPr id="9" name="TextBox 8"/>
          <p:cNvSpPr txBox="1"/>
          <p:nvPr/>
        </p:nvSpPr>
        <p:spPr>
          <a:xfrm>
            <a:off x="1984248" y="1554480"/>
            <a:ext cx="292608" cy="365760"/>
          </a:xfrm>
          <a:prstGeom prst="rect">
            <a:avLst/>
          </a:prstGeom>
          <a:noFill/>
        </p:spPr>
        <p:txBody>
          <a:bodyPr wrap="square">
            <a:spAutoFit/>
          </a:bodyPr>
          <a:lstStyle/>
          <a:p>
            <a:pPr algn="ctr"/>
            <a:r>
              <a:rPr sz="1400" b="0" i="0">
                <a:solidFill>
                  <a:srgbClr val="0D631B"/>
                </a:solidFill>
                <a:latin typeface="Calibri"/>
              </a:rPr>
              <a:t>▶</a:t>
            </a:r>
          </a:p>
        </p:txBody>
      </p:sp>
      <p:sp>
        <p:nvSpPr>
          <p:cNvPr id="10" name="Rectangle 9"/>
          <p:cNvSpPr/>
          <p:nvPr/>
        </p:nvSpPr>
        <p:spPr>
          <a:xfrm>
            <a:off x="320040" y="2468880"/>
            <a:ext cx="1664208" cy="548640"/>
          </a:xfrm>
          <a:prstGeom prst="rect">
            <a:avLst/>
          </a:prstGeom>
          <a:solidFill>
            <a:srgbClr val="FF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4" y="2487168"/>
            <a:ext cx="1554480" cy="502920"/>
          </a:xfrm>
          <a:prstGeom prst="rect">
            <a:avLst/>
          </a:prstGeom>
          <a:noFill/>
        </p:spPr>
        <p:txBody>
          <a:bodyPr wrap="square">
            <a:spAutoFit/>
          </a:bodyPr>
          <a:lstStyle/>
          <a:p>
            <a:pPr algn="ctr"/>
            <a:r>
              <a:rPr sz="950" b="0" i="0">
                <a:solidFill>
                  <a:srgbClr val="BA1A1A"/>
                </a:solidFill>
                <a:latin typeface="Calibri"/>
              </a:rPr>
              <a:t>No sensor data
collected</a:t>
            </a:r>
          </a:p>
        </p:txBody>
      </p:sp>
      <p:sp>
        <p:nvSpPr>
          <p:cNvPr id="12" name="Rectangle 11"/>
          <p:cNvSpPr/>
          <p:nvPr/>
        </p:nvSpPr>
        <p:spPr>
          <a:xfrm>
            <a:off x="2276856" y="1143000"/>
            <a:ext cx="1664208" cy="12344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50008" y="1307592"/>
            <a:ext cx="1517904" cy="1234440"/>
          </a:xfrm>
          <a:prstGeom prst="rect">
            <a:avLst/>
          </a:prstGeom>
          <a:noFill/>
        </p:spPr>
        <p:txBody>
          <a:bodyPr wrap="square">
            <a:spAutoFit/>
          </a:bodyPr>
          <a:lstStyle/>
          <a:p>
            <a:pPr algn="ctr"/>
            <a:r>
              <a:rPr sz="1100" b="1" i="0">
                <a:solidFill>
                  <a:srgbClr val="FFFFFF"/>
                </a:solidFill>
                <a:latin typeface="Calibri"/>
              </a:rPr>
              <a:t>Contacts Extension
Worker (phone/walk)</a:t>
            </a:r>
          </a:p>
        </p:txBody>
      </p:sp>
      <p:sp>
        <p:nvSpPr>
          <p:cNvPr id="14" name="TextBox 13"/>
          <p:cNvSpPr txBox="1"/>
          <p:nvPr/>
        </p:nvSpPr>
        <p:spPr>
          <a:xfrm>
            <a:off x="3941064" y="1554480"/>
            <a:ext cx="292608" cy="365760"/>
          </a:xfrm>
          <a:prstGeom prst="rect">
            <a:avLst/>
          </a:prstGeom>
          <a:noFill/>
        </p:spPr>
        <p:txBody>
          <a:bodyPr wrap="square">
            <a:spAutoFit/>
          </a:bodyPr>
          <a:lstStyle/>
          <a:p>
            <a:pPr algn="ctr"/>
            <a:r>
              <a:rPr sz="1400" b="0" i="0">
                <a:solidFill>
                  <a:srgbClr val="0D631B"/>
                </a:solidFill>
                <a:latin typeface="Calibri"/>
              </a:rPr>
              <a:t>▶</a:t>
            </a:r>
          </a:p>
        </p:txBody>
      </p:sp>
      <p:sp>
        <p:nvSpPr>
          <p:cNvPr id="15" name="Rectangle 14"/>
          <p:cNvSpPr/>
          <p:nvPr/>
        </p:nvSpPr>
        <p:spPr>
          <a:xfrm>
            <a:off x="2276856" y="2468880"/>
            <a:ext cx="1664208" cy="548640"/>
          </a:xfrm>
          <a:prstGeom prst="rect">
            <a:avLst/>
          </a:prstGeom>
          <a:solidFill>
            <a:srgbClr val="FF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31720" y="2487168"/>
            <a:ext cx="1554480" cy="502920"/>
          </a:xfrm>
          <a:prstGeom prst="rect">
            <a:avLst/>
          </a:prstGeom>
          <a:noFill/>
        </p:spPr>
        <p:txBody>
          <a:bodyPr wrap="square">
            <a:spAutoFit/>
          </a:bodyPr>
          <a:lstStyle/>
          <a:p>
            <a:pPr algn="ctr"/>
            <a:r>
              <a:rPr sz="950" b="0" i="0">
                <a:solidFill>
                  <a:srgbClr val="BA1A1A"/>
                </a:solidFill>
                <a:latin typeface="Calibri"/>
              </a:rPr>
              <a:t>Only 1 worker
per 50+ farms</a:t>
            </a:r>
          </a:p>
        </p:txBody>
      </p:sp>
      <p:sp>
        <p:nvSpPr>
          <p:cNvPr id="17" name="Rectangle 16"/>
          <p:cNvSpPr/>
          <p:nvPr/>
        </p:nvSpPr>
        <p:spPr>
          <a:xfrm>
            <a:off x="4233672" y="1143000"/>
            <a:ext cx="1664208" cy="1234440"/>
          </a:xfrm>
          <a:prstGeom prst="rect">
            <a:avLst/>
          </a:prstGeom>
          <a:solidFill>
            <a:srgbClr val="B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06824" y="1307592"/>
            <a:ext cx="1517904" cy="1234440"/>
          </a:xfrm>
          <a:prstGeom prst="rect">
            <a:avLst/>
          </a:prstGeom>
          <a:noFill/>
        </p:spPr>
        <p:txBody>
          <a:bodyPr wrap="square">
            <a:spAutoFit/>
          </a:bodyPr>
          <a:lstStyle/>
          <a:p>
            <a:pPr algn="ctr"/>
            <a:r>
              <a:rPr sz="1100" b="1" i="0">
                <a:solidFill>
                  <a:srgbClr val="FFFFFF"/>
                </a:solidFill>
                <a:latin typeface="Calibri"/>
              </a:rPr>
              <a:t>WAIT:
Days to Weeks</a:t>
            </a:r>
          </a:p>
        </p:txBody>
      </p:sp>
      <p:sp>
        <p:nvSpPr>
          <p:cNvPr id="19" name="TextBox 18"/>
          <p:cNvSpPr txBox="1"/>
          <p:nvPr/>
        </p:nvSpPr>
        <p:spPr>
          <a:xfrm>
            <a:off x="5897880" y="1554480"/>
            <a:ext cx="292608" cy="365760"/>
          </a:xfrm>
          <a:prstGeom prst="rect">
            <a:avLst/>
          </a:prstGeom>
          <a:noFill/>
        </p:spPr>
        <p:txBody>
          <a:bodyPr wrap="square">
            <a:spAutoFit/>
          </a:bodyPr>
          <a:lstStyle/>
          <a:p>
            <a:pPr algn="ctr"/>
            <a:r>
              <a:rPr sz="1400" b="0" i="0">
                <a:solidFill>
                  <a:srgbClr val="0D631B"/>
                </a:solidFill>
                <a:latin typeface="Calibri"/>
              </a:rPr>
              <a:t>▶</a:t>
            </a:r>
          </a:p>
        </p:txBody>
      </p:sp>
      <p:sp>
        <p:nvSpPr>
          <p:cNvPr id="20" name="Rectangle 19"/>
          <p:cNvSpPr/>
          <p:nvPr/>
        </p:nvSpPr>
        <p:spPr>
          <a:xfrm>
            <a:off x="4233672" y="2468880"/>
            <a:ext cx="1664208" cy="548640"/>
          </a:xfrm>
          <a:prstGeom prst="rect">
            <a:avLst/>
          </a:prstGeom>
          <a:solidFill>
            <a:srgbClr val="FF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88536" y="2487168"/>
            <a:ext cx="1554480" cy="502920"/>
          </a:xfrm>
          <a:prstGeom prst="rect">
            <a:avLst/>
          </a:prstGeom>
          <a:noFill/>
        </p:spPr>
        <p:txBody>
          <a:bodyPr wrap="square">
            <a:spAutoFit/>
          </a:bodyPr>
          <a:lstStyle/>
          <a:p>
            <a:pPr algn="ctr"/>
            <a:r>
              <a:rPr sz="950" b="0" i="0">
                <a:solidFill>
                  <a:srgbClr val="BA1A1A"/>
                </a:solidFill>
                <a:latin typeface="Calibri"/>
              </a:rPr>
              <a:t>2–4 weeks avg.
window often missed</a:t>
            </a:r>
          </a:p>
        </p:txBody>
      </p:sp>
      <p:sp>
        <p:nvSpPr>
          <p:cNvPr id="22" name="Rectangle 21"/>
          <p:cNvSpPr/>
          <p:nvPr/>
        </p:nvSpPr>
        <p:spPr>
          <a:xfrm>
            <a:off x="6190488" y="1143000"/>
            <a:ext cx="1664208" cy="12344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1307592"/>
            <a:ext cx="1517904" cy="1234440"/>
          </a:xfrm>
          <a:prstGeom prst="rect">
            <a:avLst/>
          </a:prstGeom>
          <a:noFill/>
        </p:spPr>
        <p:txBody>
          <a:bodyPr wrap="square">
            <a:spAutoFit/>
          </a:bodyPr>
          <a:lstStyle/>
          <a:p>
            <a:pPr algn="ctr"/>
            <a:r>
              <a:rPr sz="1100" b="1" i="0">
                <a:solidFill>
                  <a:srgbClr val="FFFFFF"/>
                </a:solidFill>
                <a:latin typeface="Calibri"/>
              </a:rPr>
              <a:t>Manual Field
Assessment Visit</a:t>
            </a:r>
          </a:p>
        </p:txBody>
      </p:sp>
      <p:sp>
        <p:nvSpPr>
          <p:cNvPr id="24" name="TextBox 23"/>
          <p:cNvSpPr txBox="1"/>
          <p:nvPr/>
        </p:nvSpPr>
        <p:spPr>
          <a:xfrm>
            <a:off x="7854696" y="1554480"/>
            <a:ext cx="292608" cy="365760"/>
          </a:xfrm>
          <a:prstGeom prst="rect">
            <a:avLst/>
          </a:prstGeom>
          <a:noFill/>
        </p:spPr>
        <p:txBody>
          <a:bodyPr wrap="square">
            <a:spAutoFit/>
          </a:bodyPr>
          <a:lstStyle/>
          <a:p>
            <a:pPr algn="ctr"/>
            <a:r>
              <a:rPr sz="1400" b="0" i="0">
                <a:solidFill>
                  <a:srgbClr val="0D631B"/>
                </a:solidFill>
                <a:latin typeface="Calibri"/>
              </a:rPr>
              <a:t>▶</a:t>
            </a:r>
          </a:p>
        </p:txBody>
      </p:sp>
      <p:sp>
        <p:nvSpPr>
          <p:cNvPr id="25" name="Rectangle 24"/>
          <p:cNvSpPr/>
          <p:nvPr/>
        </p:nvSpPr>
        <p:spPr>
          <a:xfrm>
            <a:off x="6190488" y="2468880"/>
            <a:ext cx="1664208" cy="548640"/>
          </a:xfrm>
          <a:prstGeom prst="rect">
            <a:avLst/>
          </a:prstGeom>
          <a:solidFill>
            <a:srgbClr val="FF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45352" y="2487168"/>
            <a:ext cx="1554480" cy="502920"/>
          </a:xfrm>
          <a:prstGeom prst="rect">
            <a:avLst/>
          </a:prstGeom>
          <a:noFill/>
        </p:spPr>
        <p:txBody>
          <a:bodyPr wrap="square">
            <a:spAutoFit/>
          </a:bodyPr>
          <a:lstStyle/>
          <a:p>
            <a:pPr algn="ctr"/>
            <a:r>
              <a:rPr sz="950" b="0" i="0">
                <a:solidFill>
                  <a:srgbClr val="BA1A1A"/>
                </a:solidFill>
                <a:latin typeface="Calibri"/>
              </a:rPr>
              <a:t>4–6 hrs travel
per farm visit</a:t>
            </a:r>
          </a:p>
        </p:txBody>
      </p:sp>
      <p:sp>
        <p:nvSpPr>
          <p:cNvPr id="27" name="Rectangle 26"/>
          <p:cNvSpPr/>
          <p:nvPr/>
        </p:nvSpPr>
        <p:spPr>
          <a:xfrm>
            <a:off x="8147304" y="1143000"/>
            <a:ext cx="1664208" cy="12344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0456" y="1307592"/>
            <a:ext cx="1517904" cy="1234440"/>
          </a:xfrm>
          <a:prstGeom prst="rect">
            <a:avLst/>
          </a:prstGeom>
          <a:noFill/>
        </p:spPr>
        <p:txBody>
          <a:bodyPr wrap="square">
            <a:spAutoFit/>
          </a:bodyPr>
          <a:lstStyle/>
          <a:p>
            <a:pPr algn="ctr"/>
            <a:r>
              <a:rPr sz="1100" b="1" i="0">
                <a:solidFill>
                  <a:srgbClr val="FFFFFF"/>
                </a:solidFill>
                <a:latin typeface="Calibri"/>
              </a:rPr>
              <a:t>Verbal Crop
Recommendation</a:t>
            </a:r>
          </a:p>
        </p:txBody>
      </p:sp>
      <p:sp>
        <p:nvSpPr>
          <p:cNvPr id="29" name="TextBox 28"/>
          <p:cNvSpPr txBox="1"/>
          <p:nvPr/>
        </p:nvSpPr>
        <p:spPr>
          <a:xfrm>
            <a:off x="9811512" y="1554480"/>
            <a:ext cx="292608" cy="365760"/>
          </a:xfrm>
          <a:prstGeom prst="rect">
            <a:avLst/>
          </a:prstGeom>
          <a:noFill/>
        </p:spPr>
        <p:txBody>
          <a:bodyPr wrap="square">
            <a:spAutoFit/>
          </a:bodyPr>
          <a:lstStyle/>
          <a:p>
            <a:pPr algn="ctr"/>
            <a:r>
              <a:rPr sz="1400" b="0" i="0">
                <a:solidFill>
                  <a:srgbClr val="0D631B"/>
                </a:solidFill>
                <a:latin typeface="Calibri"/>
              </a:rPr>
              <a:t>▶</a:t>
            </a:r>
          </a:p>
        </p:txBody>
      </p:sp>
      <p:sp>
        <p:nvSpPr>
          <p:cNvPr id="30" name="Rectangle 29"/>
          <p:cNvSpPr/>
          <p:nvPr/>
        </p:nvSpPr>
        <p:spPr>
          <a:xfrm>
            <a:off x="8147304" y="2468880"/>
            <a:ext cx="1664208" cy="548640"/>
          </a:xfrm>
          <a:prstGeom prst="rect">
            <a:avLst/>
          </a:prstGeom>
          <a:solidFill>
            <a:srgbClr val="FF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02168" y="2487168"/>
            <a:ext cx="1554480" cy="502920"/>
          </a:xfrm>
          <a:prstGeom prst="rect">
            <a:avLst/>
          </a:prstGeom>
          <a:noFill/>
        </p:spPr>
        <p:txBody>
          <a:bodyPr wrap="square">
            <a:spAutoFit/>
          </a:bodyPr>
          <a:lstStyle/>
          <a:p>
            <a:pPr algn="ctr"/>
            <a:r>
              <a:rPr sz="950" b="0" i="0">
                <a:solidFill>
                  <a:srgbClr val="BA1A1A"/>
                </a:solidFill>
                <a:latin typeface="Calibri"/>
              </a:rPr>
              <a:t>No record kept;
no data baseline</a:t>
            </a:r>
          </a:p>
        </p:txBody>
      </p:sp>
      <p:sp>
        <p:nvSpPr>
          <p:cNvPr id="32" name="Rectangle 31"/>
          <p:cNvSpPr/>
          <p:nvPr/>
        </p:nvSpPr>
        <p:spPr>
          <a:xfrm>
            <a:off x="10104120" y="1143000"/>
            <a:ext cx="1664208" cy="1234440"/>
          </a:xfrm>
          <a:prstGeom prst="rect">
            <a:avLst/>
          </a:prstGeom>
          <a:solidFill>
            <a:srgbClr val="B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177272" y="1307592"/>
            <a:ext cx="1517904" cy="1234440"/>
          </a:xfrm>
          <a:prstGeom prst="rect">
            <a:avLst/>
          </a:prstGeom>
          <a:noFill/>
        </p:spPr>
        <p:txBody>
          <a:bodyPr wrap="square">
            <a:spAutoFit/>
          </a:bodyPr>
          <a:lstStyle/>
          <a:p>
            <a:pPr algn="ctr"/>
            <a:r>
              <a:rPr sz="1100" b="1" i="0">
                <a:solidFill>
                  <a:srgbClr val="FFFFFF"/>
                </a:solidFill>
                <a:latin typeface="Calibri"/>
              </a:rPr>
              <a:t>Planting Decision
(uncertain)</a:t>
            </a:r>
          </a:p>
        </p:txBody>
      </p:sp>
      <p:sp>
        <p:nvSpPr>
          <p:cNvPr id="34" name="Rectangle 33"/>
          <p:cNvSpPr/>
          <p:nvPr/>
        </p:nvSpPr>
        <p:spPr>
          <a:xfrm>
            <a:off x="10104120" y="2468880"/>
            <a:ext cx="1664208" cy="548640"/>
          </a:xfrm>
          <a:prstGeom prst="rect">
            <a:avLst/>
          </a:prstGeom>
          <a:solidFill>
            <a:srgbClr val="FF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58984" y="2487168"/>
            <a:ext cx="1554480" cy="502920"/>
          </a:xfrm>
          <a:prstGeom prst="rect">
            <a:avLst/>
          </a:prstGeom>
          <a:noFill/>
        </p:spPr>
        <p:txBody>
          <a:bodyPr wrap="square">
            <a:spAutoFit/>
          </a:bodyPr>
          <a:lstStyle/>
          <a:p>
            <a:pPr algn="ctr"/>
            <a:r>
              <a:rPr sz="950" b="0" i="0">
                <a:solidFill>
                  <a:srgbClr val="BA1A1A"/>
                </a:solidFill>
                <a:latin typeface="Calibri"/>
              </a:rPr>
              <a:t>8–12% below-yield
rate each season</a:t>
            </a:r>
          </a:p>
        </p:txBody>
      </p:sp>
      <p:sp>
        <p:nvSpPr>
          <p:cNvPr id="36" name="Rectangle 35"/>
          <p:cNvSpPr/>
          <p:nvPr/>
        </p:nvSpPr>
        <p:spPr>
          <a:xfrm>
            <a:off x="320040" y="3383280"/>
            <a:ext cx="2788920" cy="25603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20040" y="3383280"/>
            <a:ext cx="2788920" cy="36576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3429000"/>
            <a:ext cx="2606040" cy="292608"/>
          </a:xfrm>
          <a:prstGeom prst="rect">
            <a:avLst/>
          </a:prstGeom>
          <a:noFill/>
        </p:spPr>
        <p:txBody>
          <a:bodyPr wrap="square">
            <a:spAutoFit/>
          </a:bodyPr>
          <a:lstStyle/>
          <a:p>
            <a:pPr algn="l"/>
            <a:r>
              <a:rPr sz="1200" b="1" i="0">
                <a:solidFill>
                  <a:srgbClr val="FFFFFF"/>
                </a:solidFill>
                <a:latin typeface="Calibri"/>
              </a:rPr>
              <a:t>⏱  TIME</a:t>
            </a:r>
          </a:p>
        </p:txBody>
      </p:sp>
      <p:sp>
        <p:nvSpPr>
          <p:cNvPr id="39" name="TextBox 38"/>
          <p:cNvSpPr txBox="1"/>
          <p:nvPr/>
        </p:nvSpPr>
        <p:spPr>
          <a:xfrm>
            <a:off x="411480" y="3840480"/>
            <a:ext cx="2606040" cy="2011680"/>
          </a:xfrm>
          <a:prstGeom prst="rect">
            <a:avLst/>
          </a:prstGeom>
          <a:noFill/>
        </p:spPr>
        <p:txBody>
          <a:bodyPr wrap="square">
            <a:spAutoFit/>
          </a:bodyPr>
          <a:lstStyle/>
          <a:p>
            <a:pPr algn="l"/>
            <a:r>
              <a:rPr sz="1100" b="0" i="0">
                <a:solidFill>
                  <a:srgbClr val="181D17"/>
                </a:solidFill>
                <a:latin typeface="Calibri"/>
              </a:rPr>
              <a:t>Average 2–4 weeks from identifying a problem to receiving crop advice.
The optimal planting window is often missed by the time the farmer gets guidance.</a:t>
            </a:r>
          </a:p>
        </p:txBody>
      </p:sp>
      <p:sp>
        <p:nvSpPr>
          <p:cNvPr id="40" name="Rectangle 39"/>
          <p:cNvSpPr/>
          <p:nvPr/>
        </p:nvSpPr>
        <p:spPr>
          <a:xfrm>
            <a:off x="3200400" y="3383280"/>
            <a:ext cx="2788920" cy="25603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200400" y="3383280"/>
            <a:ext cx="2788920" cy="36576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91840" y="3429000"/>
            <a:ext cx="2606040" cy="292608"/>
          </a:xfrm>
          <a:prstGeom prst="rect">
            <a:avLst/>
          </a:prstGeom>
          <a:noFill/>
        </p:spPr>
        <p:txBody>
          <a:bodyPr wrap="square">
            <a:spAutoFit/>
          </a:bodyPr>
          <a:lstStyle/>
          <a:p>
            <a:pPr algn="l"/>
            <a:r>
              <a:rPr sz="1200" b="1" i="0">
                <a:solidFill>
                  <a:srgbClr val="FFFFFF"/>
                </a:solidFill>
                <a:latin typeface="Calibri"/>
              </a:rPr>
              <a:t>💰  COST</a:t>
            </a:r>
          </a:p>
        </p:txBody>
      </p:sp>
      <p:sp>
        <p:nvSpPr>
          <p:cNvPr id="43" name="TextBox 42"/>
          <p:cNvSpPr txBox="1"/>
          <p:nvPr/>
        </p:nvSpPr>
        <p:spPr>
          <a:xfrm>
            <a:off x="3291840" y="3840480"/>
            <a:ext cx="2606040" cy="2011680"/>
          </a:xfrm>
          <a:prstGeom prst="rect">
            <a:avLst/>
          </a:prstGeom>
          <a:noFill/>
        </p:spPr>
        <p:txBody>
          <a:bodyPr wrap="square">
            <a:spAutoFit/>
          </a:bodyPr>
          <a:lstStyle/>
          <a:p>
            <a:pPr algn="l"/>
            <a:r>
              <a:rPr sz="1100" b="0" i="0">
                <a:solidFill>
                  <a:srgbClr val="181D17"/>
                </a:solidFill>
                <a:latin typeface="Calibri"/>
              </a:rPr>
              <a:t>Extension worker transport: ₱500–₱2,000 per farm visit.
30 farms × 2 visits/season = ₱30,000–₱120,000/cooperative/year in travel alone.</a:t>
            </a:r>
          </a:p>
        </p:txBody>
      </p:sp>
      <p:sp>
        <p:nvSpPr>
          <p:cNvPr id="44" name="Rectangle 43"/>
          <p:cNvSpPr/>
          <p:nvPr/>
        </p:nvSpPr>
        <p:spPr>
          <a:xfrm>
            <a:off x="6080760" y="3383280"/>
            <a:ext cx="2788920" cy="25603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080760" y="3383280"/>
            <a:ext cx="2788920" cy="36576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72200" y="3429000"/>
            <a:ext cx="2606040" cy="292608"/>
          </a:xfrm>
          <a:prstGeom prst="rect">
            <a:avLst/>
          </a:prstGeom>
          <a:noFill/>
        </p:spPr>
        <p:txBody>
          <a:bodyPr wrap="square">
            <a:spAutoFit/>
          </a:bodyPr>
          <a:lstStyle/>
          <a:p>
            <a:pPr algn="l"/>
            <a:r>
              <a:rPr sz="1200" b="1" i="0">
                <a:solidFill>
                  <a:srgbClr val="FFFFFF"/>
                </a:solidFill>
                <a:latin typeface="Calibri"/>
              </a:rPr>
              <a:t>📊  DATA</a:t>
            </a:r>
          </a:p>
        </p:txBody>
      </p:sp>
      <p:sp>
        <p:nvSpPr>
          <p:cNvPr id="47" name="TextBox 46"/>
          <p:cNvSpPr txBox="1"/>
          <p:nvPr/>
        </p:nvSpPr>
        <p:spPr>
          <a:xfrm>
            <a:off x="6172200" y="3840480"/>
            <a:ext cx="2606040" cy="2011680"/>
          </a:xfrm>
          <a:prstGeom prst="rect">
            <a:avLst/>
          </a:prstGeom>
          <a:noFill/>
        </p:spPr>
        <p:txBody>
          <a:bodyPr wrap="square">
            <a:spAutoFit/>
          </a:bodyPr>
          <a:lstStyle/>
          <a:p>
            <a:pPr algn="l"/>
            <a:r>
              <a:rPr sz="1100" b="0" i="0">
                <a:solidFill>
                  <a:srgbClr val="181D17"/>
                </a:solidFill>
                <a:latin typeface="Calibri"/>
              </a:rPr>
              <a:t>Zero sensor data is used in current decisions.
Recommendations rely entirely on visual observation and farmer testimony — no N, P, K, or pH readings.</a:t>
            </a:r>
          </a:p>
        </p:txBody>
      </p:sp>
      <p:sp>
        <p:nvSpPr>
          <p:cNvPr id="48" name="Rectangle 47"/>
          <p:cNvSpPr/>
          <p:nvPr/>
        </p:nvSpPr>
        <p:spPr>
          <a:xfrm>
            <a:off x="8961120" y="3383280"/>
            <a:ext cx="2788920" cy="25603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961120" y="3383280"/>
            <a:ext cx="2788920" cy="36576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052560" y="3429000"/>
            <a:ext cx="2606040" cy="292608"/>
          </a:xfrm>
          <a:prstGeom prst="rect">
            <a:avLst/>
          </a:prstGeom>
          <a:noFill/>
        </p:spPr>
        <p:txBody>
          <a:bodyPr wrap="square">
            <a:spAutoFit/>
          </a:bodyPr>
          <a:lstStyle/>
          <a:p>
            <a:pPr algn="l"/>
            <a:r>
              <a:rPr sz="1200" b="1" i="0">
                <a:solidFill>
                  <a:srgbClr val="FFFFFF"/>
                </a:solidFill>
                <a:latin typeface="Calibri"/>
              </a:rPr>
              <a:t>📈  SCALE</a:t>
            </a:r>
          </a:p>
        </p:txBody>
      </p:sp>
      <p:sp>
        <p:nvSpPr>
          <p:cNvPr id="51" name="TextBox 50"/>
          <p:cNvSpPr txBox="1"/>
          <p:nvPr/>
        </p:nvSpPr>
        <p:spPr>
          <a:xfrm>
            <a:off x="9052560" y="3840480"/>
            <a:ext cx="2606040" cy="2011680"/>
          </a:xfrm>
          <a:prstGeom prst="rect">
            <a:avLst/>
          </a:prstGeom>
          <a:noFill/>
        </p:spPr>
        <p:txBody>
          <a:bodyPr wrap="square">
            <a:spAutoFit/>
          </a:bodyPr>
          <a:lstStyle/>
          <a:p>
            <a:pPr algn="l"/>
            <a:r>
              <a:rPr sz="1100" b="0" i="0">
                <a:solidFill>
                  <a:srgbClr val="181D17"/>
                </a:solidFill>
                <a:latin typeface="Calibri"/>
              </a:rPr>
              <a:t>DA national ratio: 1 extension worker per 50–100 farms.
Personalised, data-driven advice is impossible at this scale without technology.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Proposed AI Solution: Aking Bukid</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IoT Sensors  ·  Google Maps  ·  Kaggle-Trained RF Model  ·  Qwen AI (Ollama)  ·  Meta NLLB Translation</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3</a:t>
            </a:r>
          </a:p>
        </p:txBody>
      </p:sp>
      <p:sp>
        <p:nvSpPr>
          <p:cNvPr id="7" name="Rectangle 6"/>
          <p:cNvSpPr/>
          <p:nvPr/>
        </p:nvSpPr>
        <p:spPr>
          <a:xfrm>
            <a:off x="320040" y="1078992"/>
            <a:ext cx="1828800" cy="2148840"/>
          </a:xfrm>
          <a:prstGeom prst="rect">
            <a:avLst/>
          </a:prstGeom>
          <a:solidFill>
            <a:srgbClr val="186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078992"/>
            <a:ext cx="1828800" cy="292608"/>
          </a:xfrm>
          <a:prstGeom prst="rect">
            <a:avLst/>
          </a:prstGeom>
          <a:solidFill>
            <a:srgbClr val="045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15568"/>
            <a:ext cx="1737360" cy="228600"/>
          </a:xfrm>
          <a:prstGeom prst="rect">
            <a:avLst/>
          </a:prstGeom>
          <a:noFill/>
        </p:spPr>
        <p:txBody>
          <a:bodyPr wrap="square">
            <a:spAutoFit/>
          </a:bodyPr>
          <a:lstStyle/>
          <a:p>
            <a:pPr algn="ctr"/>
            <a:r>
              <a:rPr sz="850" b="1" i="0">
                <a:solidFill>
                  <a:srgbClr val="FFFFFF"/>
                </a:solidFill>
                <a:latin typeface="Calibri"/>
              </a:rPr>
              <a:t>ONLINE</a:t>
            </a:r>
          </a:p>
        </p:txBody>
      </p:sp>
      <p:sp>
        <p:nvSpPr>
          <p:cNvPr id="10" name="TextBox 9"/>
          <p:cNvSpPr txBox="1"/>
          <p:nvPr/>
        </p:nvSpPr>
        <p:spPr>
          <a:xfrm>
            <a:off x="365760" y="1444752"/>
            <a:ext cx="1737360" cy="475488"/>
          </a:xfrm>
          <a:prstGeom prst="rect">
            <a:avLst/>
          </a:prstGeom>
          <a:noFill/>
        </p:spPr>
        <p:txBody>
          <a:bodyPr wrap="square">
            <a:spAutoFit/>
          </a:bodyPr>
          <a:lstStyle/>
          <a:p>
            <a:pPr algn="ctr"/>
            <a:r>
              <a:rPr sz="1300" b="1" i="0">
                <a:solidFill>
                  <a:srgbClr val="FFFFFF"/>
                </a:solidFill>
                <a:latin typeface="Calibri"/>
              </a:rPr>
              <a:t>Google Maps</a:t>
            </a:r>
          </a:p>
        </p:txBody>
      </p:sp>
      <p:sp>
        <p:nvSpPr>
          <p:cNvPr id="11" name="TextBox 10"/>
          <p:cNvSpPr txBox="1"/>
          <p:nvPr/>
        </p:nvSpPr>
        <p:spPr>
          <a:xfrm>
            <a:off x="393192" y="1993392"/>
            <a:ext cx="1682496" cy="1143000"/>
          </a:xfrm>
          <a:prstGeom prst="rect">
            <a:avLst/>
          </a:prstGeom>
          <a:noFill/>
        </p:spPr>
        <p:txBody>
          <a:bodyPr wrap="square">
            <a:spAutoFit/>
          </a:bodyPr>
          <a:lstStyle/>
          <a:p>
            <a:pPr algn="ctr"/>
            <a:r>
              <a:rPr sz="1000" b="0" i="0">
                <a:solidFill>
                  <a:srgbClr val="FFFFFF"/>
                </a:solidFill>
                <a:latin typeface="Calibri"/>
              </a:rPr>
              <a:t>Farm boundary
drawing &amp; sensor
placement map</a:t>
            </a:r>
          </a:p>
        </p:txBody>
      </p:sp>
      <p:sp>
        <p:nvSpPr>
          <p:cNvPr id="12" name="TextBox 11"/>
          <p:cNvSpPr txBox="1"/>
          <p:nvPr/>
        </p:nvSpPr>
        <p:spPr>
          <a:xfrm>
            <a:off x="2148840" y="1883664"/>
            <a:ext cx="201168" cy="411480"/>
          </a:xfrm>
          <a:prstGeom prst="rect">
            <a:avLst/>
          </a:prstGeom>
          <a:noFill/>
        </p:spPr>
        <p:txBody>
          <a:bodyPr wrap="square">
            <a:spAutoFit/>
          </a:bodyPr>
          <a:lstStyle/>
          <a:p>
            <a:pPr algn="ctr"/>
            <a:r>
              <a:rPr sz="1300" b="0" i="0">
                <a:solidFill>
                  <a:srgbClr val="0D631B"/>
                </a:solidFill>
                <a:latin typeface="Calibri"/>
              </a:rPr>
              <a:t>▶</a:t>
            </a:r>
          </a:p>
        </p:txBody>
      </p:sp>
      <p:sp>
        <p:nvSpPr>
          <p:cNvPr id="13" name="Rectangle 12"/>
          <p:cNvSpPr/>
          <p:nvPr/>
        </p:nvSpPr>
        <p:spPr>
          <a:xfrm>
            <a:off x="2350008" y="1078992"/>
            <a:ext cx="1828800" cy="21488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50008" y="1078992"/>
            <a:ext cx="1828800" cy="292608"/>
          </a:xfrm>
          <a:prstGeom prst="rect">
            <a:avLst/>
          </a:prstGeom>
          <a:solidFill>
            <a:srgbClr val="D24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95728" y="1115568"/>
            <a:ext cx="1737360" cy="228600"/>
          </a:xfrm>
          <a:prstGeom prst="rect">
            <a:avLst/>
          </a:prstGeom>
          <a:noFill/>
        </p:spPr>
        <p:txBody>
          <a:bodyPr wrap="square">
            <a:spAutoFit/>
          </a:bodyPr>
          <a:lstStyle/>
          <a:p>
            <a:pPr algn="ctr"/>
            <a:r>
              <a:rPr sz="850" b="1" i="0">
                <a:solidFill>
                  <a:srgbClr val="FFFFFF"/>
                </a:solidFill>
                <a:latin typeface="Calibri"/>
              </a:rPr>
              <a:t>HARDWARE</a:t>
            </a:r>
          </a:p>
        </p:txBody>
      </p:sp>
      <p:sp>
        <p:nvSpPr>
          <p:cNvPr id="16" name="TextBox 15"/>
          <p:cNvSpPr txBox="1"/>
          <p:nvPr/>
        </p:nvSpPr>
        <p:spPr>
          <a:xfrm>
            <a:off x="2395728" y="1444752"/>
            <a:ext cx="1737360" cy="475488"/>
          </a:xfrm>
          <a:prstGeom prst="rect">
            <a:avLst/>
          </a:prstGeom>
          <a:noFill/>
        </p:spPr>
        <p:txBody>
          <a:bodyPr wrap="square">
            <a:spAutoFit/>
          </a:bodyPr>
          <a:lstStyle/>
          <a:p>
            <a:pPr algn="ctr"/>
            <a:r>
              <a:rPr sz="1300" b="1" i="0">
                <a:solidFill>
                  <a:srgbClr val="FFFFFF"/>
                </a:solidFill>
                <a:latin typeface="Calibri"/>
              </a:rPr>
              <a:t>IoT Sensors</a:t>
            </a:r>
          </a:p>
        </p:txBody>
      </p:sp>
      <p:sp>
        <p:nvSpPr>
          <p:cNvPr id="17" name="TextBox 16"/>
          <p:cNvSpPr txBox="1"/>
          <p:nvPr/>
        </p:nvSpPr>
        <p:spPr>
          <a:xfrm>
            <a:off x="2423160" y="1993392"/>
            <a:ext cx="1682496" cy="1143000"/>
          </a:xfrm>
          <a:prstGeom prst="rect">
            <a:avLst/>
          </a:prstGeom>
          <a:noFill/>
        </p:spPr>
        <p:txBody>
          <a:bodyPr wrap="square">
            <a:spAutoFit/>
          </a:bodyPr>
          <a:lstStyle/>
          <a:p>
            <a:pPr algn="ctr"/>
            <a:r>
              <a:rPr sz="1000" b="0" i="0">
                <a:solidFill>
                  <a:srgbClr val="FFFFFF"/>
                </a:solidFill>
                <a:latin typeface="Calibri"/>
              </a:rPr>
              <a:t>Sends N, P, K
pH · Temp
Humidity · Rain</a:t>
            </a:r>
          </a:p>
        </p:txBody>
      </p:sp>
      <p:sp>
        <p:nvSpPr>
          <p:cNvPr id="18" name="TextBox 17"/>
          <p:cNvSpPr txBox="1"/>
          <p:nvPr/>
        </p:nvSpPr>
        <p:spPr>
          <a:xfrm>
            <a:off x="4178808" y="1883664"/>
            <a:ext cx="201168" cy="411480"/>
          </a:xfrm>
          <a:prstGeom prst="rect">
            <a:avLst/>
          </a:prstGeom>
          <a:noFill/>
        </p:spPr>
        <p:txBody>
          <a:bodyPr wrap="square">
            <a:spAutoFit/>
          </a:bodyPr>
          <a:lstStyle/>
          <a:p>
            <a:pPr algn="ctr"/>
            <a:r>
              <a:rPr sz="1300" b="0" i="0">
                <a:solidFill>
                  <a:srgbClr val="0D631B"/>
                </a:solidFill>
                <a:latin typeface="Calibri"/>
              </a:rPr>
              <a:t>▶</a:t>
            </a:r>
          </a:p>
        </p:txBody>
      </p:sp>
      <p:sp>
        <p:nvSpPr>
          <p:cNvPr id="19" name="Rectangle 18"/>
          <p:cNvSpPr/>
          <p:nvPr/>
        </p:nvSpPr>
        <p:spPr>
          <a:xfrm>
            <a:off x="4379976" y="1078992"/>
            <a:ext cx="1828800" cy="214884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79976" y="1078992"/>
            <a:ext cx="1828800" cy="292608"/>
          </a:xfrm>
          <a:prstGeom prst="rect">
            <a:avLst/>
          </a:prstGeom>
          <a:solidFill>
            <a:srgbClr val="004F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25696" y="1115568"/>
            <a:ext cx="1737360" cy="228600"/>
          </a:xfrm>
          <a:prstGeom prst="rect">
            <a:avLst/>
          </a:prstGeom>
          <a:noFill/>
        </p:spPr>
        <p:txBody>
          <a:bodyPr wrap="square">
            <a:spAutoFit/>
          </a:bodyPr>
          <a:lstStyle/>
          <a:p>
            <a:pPr algn="ctr"/>
            <a:r>
              <a:rPr sz="850" b="1" i="0">
                <a:solidFill>
                  <a:srgbClr val="FFFFFF"/>
                </a:solidFill>
                <a:latin typeface="Calibri"/>
              </a:rPr>
              <a:t>KAGGLE MODEL</a:t>
            </a:r>
          </a:p>
        </p:txBody>
      </p:sp>
      <p:sp>
        <p:nvSpPr>
          <p:cNvPr id="22" name="TextBox 21"/>
          <p:cNvSpPr txBox="1"/>
          <p:nvPr/>
        </p:nvSpPr>
        <p:spPr>
          <a:xfrm>
            <a:off x="4425696" y="1444752"/>
            <a:ext cx="1737360" cy="475488"/>
          </a:xfrm>
          <a:prstGeom prst="rect">
            <a:avLst/>
          </a:prstGeom>
          <a:noFill/>
        </p:spPr>
        <p:txBody>
          <a:bodyPr wrap="square">
            <a:spAutoFit/>
          </a:bodyPr>
          <a:lstStyle/>
          <a:p>
            <a:pPr algn="ctr"/>
            <a:r>
              <a:rPr sz="1300" b="1" i="0">
                <a:solidFill>
                  <a:srgbClr val="FFFFFF"/>
                </a:solidFill>
                <a:latin typeface="Calibri"/>
              </a:rPr>
              <a:t>Random Forest</a:t>
            </a:r>
          </a:p>
        </p:txBody>
      </p:sp>
      <p:sp>
        <p:nvSpPr>
          <p:cNvPr id="23" name="TextBox 22"/>
          <p:cNvSpPr txBox="1"/>
          <p:nvPr/>
        </p:nvSpPr>
        <p:spPr>
          <a:xfrm>
            <a:off x="4453128" y="1993392"/>
            <a:ext cx="1682496" cy="1143000"/>
          </a:xfrm>
          <a:prstGeom prst="rect">
            <a:avLst/>
          </a:prstGeom>
          <a:noFill/>
        </p:spPr>
        <p:txBody>
          <a:bodyPr wrap="square">
            <a:spAutoFit/>
          </a:bodyPr>
          <a:lstStyle/>
          <a:p>
            <a:pPr algn="ctr"/>
            <a:r>
              <a:rPr sz="1000" b="0" i="0">
                <a:solidFill>
                  <a:srgbClr val="FFFFFF"/>
                </a:solidFill>
                <a:latin typeface="Calibri"/>
              </a:rPr>
              <a:t>Trained on
Kaggle dataset
2,200 samples</a:t>
            </a:r>
          </a:p>
        </p:txBody>
      </p:sp>
      <p:sp>
        <p:nvSpPr>
          <p:cNvPr id="24" name="TextBox 23"/>
          <p:cNvSpPr txBox="1"/>
          <p:nvPr/>
        </p:nvSpPr>
        <p:spPr>
          <a:xfrm>
            <a:off x="6208776" y="1883664"/>
            <a:ext cx="201168" cy="411480"/>
          </a:xfrm>
          <a:prstGeom prst="rect">
            <a:avLst/>
          </a:prstGeom>
          <a:noFill/>
        </p:spPr>
        <p:txBody>
          <a:bodyPr wrap="square">
            <a:spAutoFit/>
          </a:bodyPr>
          <a:lstStyle/>
          <a:p>
            <a:pPr algn="ctr"/>
            <a:r>
              <a:rPr sz="1300" b="0" i="0">
                <a:solidFill>
                  <a:srgbClr val="0D631B"/>
                </a:solidFill>
                <a:latin typeface="Calibri"/>
              </a:rPr>
              <a:t>▶</a:t>
            </a:r>
          </a:p>
        </p:txBody>
      </p:sp>
      <p:sp>
        <p:nvSpPr>
          <p:cNvPr id="25" name="Rectangle 24"/>
          <p:cNvSpPr/>
          <p:nvPr/>
        </p:nvSpPr>
        <p:spPr>
          <a:xfrm>
            <a:off x="6409944" y="1078992"/>
            <a:ext cx="1828800" cy="2148840"/>
          </a:xfrm>
          <a:prstGeom prst="rect">
            <a:avLst/>
          </a:prstGeom>
          <a:solidFill>
            <a:srgbClr val="1B6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9944" y="1078992"/>
            <a:ext cx="1828800" cy="292608"/>
          </a:xfrm>
          <a:prstGeom prst="rect">
            <a:avLst/>
          </a:prstGeom>
          <a:solidFill>
            <a:srgbClr val="075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55664" y="1115568"/>
            <a:ext cx="1737360" cy="228600"/>
          </a:xfrm>
          <a:prstGeom prst="rect">
            <a:avLst/>
          </a:prstGeom>
          <a:noFill/>
        </p:spPr>
        <p:txBody>
          <a:bodyPr wrap="square">
            <a:spAutoFit/>
          </a:bodyPr>
          <a:lstStyle/>
          <a:p>
            <a:pPr algn="ctr"/>
            <a:r>
              <a:rPr sz="850" b="1" i="0">
                <a:solidFill>
                  <a:srgbClr val="FFFFFF"/>
                </a:solidFill>
                <a:latin typeface="Calibri"/>
              </a:rPr>
              <a:t>OFFLINE AI</a:t>
            </a:r>
          </a:p>
        </p:txBody>
      </p:sp>
      <p:sp>
        <p:nvSpPr>
          <p:cNvPr id="28" name="TextBox 27"/>
          <p:cNvSpPr txBox="1"/>
          <p:nvPr/>
        </p:nvSpPr>
        <p:spPr>
          <a:xfrm>
            <a:off x="6455664" y="1444752"/>
            <a:ext cx="1737360" cy="475488"/>
          </a:xfrm>
          <a:prstGeom prst="rect">
            <a:avLst/>
          </a:prstGeom>
          <a:noFill/>
        </p:spPr>
        <p:txBody>
          <a:bodyPr wrap="square">
            <a:spAutoFit/>
          </a:bodyPr>
          <a:lstStyle/>
          <a:p>
            <a:pPr algn="ctr"/>
            <a:r>
              <a:rPr sz="1300" b="1" i="0">
                <a:solidFill>
                  <a:srgbClr val="FFFFFF"/>
                </a:solidFill>
                <a:latin typeface="Calibri"/>
              </a:rPr>
              <a:t>Qwen (Ollama)</a:t>
            </a:r>
          </a:p>
        </p:txBody>
      </p:sp>
      <p:sp>
        <p:nvSpPr>
          <p:cNvPr id="29" name="TextBox 28"/>
          <p:cNvSpPr txBox="1"/>
          <p:nvPr/>
        </p:nvSpPr>
        <p:spPr>
          <a:xfrm>
            <a:off x="6483096" y="1993392"/>
            <a:ext cx="1682496" cy="1143000"/>
          </a:xfrm>
          <a:prstGeom prst="rect">
            <a:avLst/>
          </a:prstGeom>
          <a:noFill/>
        </p:spPr>
        <p:txBody>
          <a:bodyPr wrap="square">
            <a:spAutoFit/>
          </a:bodyPr>
          <a:lstStyle/>
          <a:p>
            <a:pPr algn="ctr"/>
            <a:r>
              <a:rPr sz="1000" b="0" i="0">
                <a:solidFill>
                  <a:srgbClr val="FFFFFF"/>
                </a:solidFill>
                <a:latin typeface="Calibri"/>
              </a:rPr>
              <a:t>qwen2.5:3b
Crop recommendation
&amp; explanation</a:t>
            </a:r>
          </a:p>
        </p:txBody>
      </p:sp>
      <p:sp>
        <p:nvSpPr>
          <p:cNvPr id="30" name="TextBox 29"/>
          <p:cNvSpPr txBox="1"/>
          <p:nvPr/>
        </p:nvSpPr>
        <p:spPr>
          <a:xfrm>
            <a:off x="8238744" y="1883664"/>
            <a:ext cx="201168" cy="411480"/>
          </a:xfrm>
          <a:prstGeom prst="rect">
            <a:avLst/>
          </a:prstGeom>
          <a:noFill/>
        </p:spPr>
        <p:txBody>
          <a:bodyPr wrap="square">
            <a:spAutoFit/>
          </a:bodyPr>
          <a:lstStyle/>
          <a:p>
            <a:pPr algn="ctr"/>
            <a:r>
              <a:rPr sz="1300" b="0" i="0">
                <a:solidFill>
                  <a:srgbClr val="0D631B"/>
                </a:solidFill>
                <a:latin typeface="Calibri"/>
              </a:rPr>
              <a:t>▶</a:t>
            </a:r>
          </a:p>
        </p:txBody>
      </p:sp>
      <p:sp>
        <p:nvSpPr>
          <p:cNvPr id="31" name="Rectangle 30"/>
          <p:cNvSpPr/>
          <p:nvPr/>
        </p:nvSpPr>
        <p:spPr>
          <a:xfrm>
            <a:off x="8439912" y="1078992"/>
            <a:ext cx="1828800" cy="2148840"/>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439912" y="1078992"/>
            <a:ext cx="1828800" cy="292608"/>
          </a:xfrm>
          <a:prstGeom prst="rect">
            <a:avLst/>
          </a:prstGeom>
          <a:solidFill>
            <a:srgbClr val="066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85632" y="1115568"/>
            <a:ext cx="1737360" cy="228600"/>
          </a:xfrm>
          <a:prstGeom prst="rect">
            <a:avLst/>
          </a:prstGeom>
          <a:noFill/>
        </p:spPr>
        <p:txBody>
          <a:bodyPr wrap="square">
            <a:spAutoFit/>
          </a:bodyPr>
          <a:lstStyle/>
          <a:p>
            <a:pPr algn="ctr"/>
            <a:r>
              <a:rPr sz="850" b="1" i="0">
                <a:solidFill>
                  <a:srgbClr val="FFFFFF"/>
                </a:solidFill>
                <a:latin typeface="Calibri"/>
              </a:rPr>
              <a:t>META AI</a:t>
            </a:r>
          </a:p>
        </p:txBody>
      </p:sp>
      <p:sp>
        <p:nvSpPr>
          <p:cNvPr id="34" name="TextBox 33"/>
          <p:cNvSpPr txBox="1"/>
          <p:nvPr/>
        </p:nvSpPr>
        <p:spPr>
          <a:xfrm>
            <a:off x="8485632" y="1444752"/>
            <a:ext cx="1737360" cy="475488"/>
          </a:xfrm>
          <a:prstGeom prst="rect">
            <a:avLst/>
          </a:prstGeom>
          <a:noFill/>
        </p:spPr>
        <p:txBody>
          <a:bodyPr wrap="square">
            <a:spAutoFit/>
          </a:bodyPr>
          <a:lstStyle/>
          <a:p>
            <a:pPr algn="ctr"/>
            <a:r>
              <a:rPr sz="1300" b="1" i="0">
                <a:solidFill>
                  <a:srgbClr val="FFFFFF"/>
                </a:solidFill>
                <a:latin typeface="Calibri"/>
              </a:rPr>
              <a:t>NLLB-200</a:t>
            </a:r>
          </a:p>
        </p:txBody>
      </p:sp>
      <p:sp>
        <p:nvSpPr>
          <p:cNvPr id="35" name="TextBox 34"/>
          <p:cNvSpPr txBox="1"/>
          <p:nvPr/>
        </p:nvSpPr>
        <p:spPr>
          <a:xfrm>
            <a:off x="8513064" y="1993392"/>
            <a:ext cx="1682496" cy="1143000"/>
          </a:xfrm>
          <a:prstGeom prst="rect">
            <a:avLst/>
          </a:prstGeom>
          <a:noFill/>
        </p:spPr>
        <p:txBody>
          <a:bodyPr wrap="square">
            <a:spAutoFit/>
          </a:bodyPr>
          <a:lstStyle/>
          <a:p>
            <a:pPr algn="ctr"/>
            <a:r>
              <a:rPr sz="1000" b="0" i="0">
                <a:solidFill>
                  <a:srgbClr val="FFFFFF"/>
                </a:solidFill>
                <a:latin typeface="Calibri"/>
              </a:rPr>
              <a:t>No Language
Left Behind
EN → Filipino</a:t>
            </a:r>
          </a:p>
        </p:txBody>
      </p:sp>
      <p:sp>
        <p:nvSpPr>
          <p:cNvPr id="36" name="TextBox 35"/>
          <p:cNvSpPr txBox="1"/>
          <p:nvPr/>
        </p:nvSpPr>
        <p:spPr>
          <a:xfrm>
            <a:off x="10268712" y="1883664"/>
            <a:ext cx="201168" cy="411480"/>
          </a:xfrm>
          <a:prstGeom prst="rect">
            <a:avLst/>
          </a:prstGeom>
          <a:noFill/>
        </p:spPr>
        <p:txBody>
          <a:bodyPr wrap="square">
            <a:spAutoFit/>
          </a:bodyPr>
          <a:lstStyle/>
          <a:p>
            <a:pPr algn="ctr"/>
            <a:r>
              <a:rPr sz="1300" b="0" i="0">
                <a:solidFill>
                  <a:srgbClr val="0D631B"/>
                </a:solidFill>
                <a:latin typeface="Calibri"/>
              </a:rPr>
              <a:t>▶</a:t>
            </a:r>
          </a:p>
        </p:txBody>
      </p:sp>
      <p:sp>
        <p:nvSpPr>
          <p:cNvPr id="37" name="Rectangle 36"/>
          <p:cNvSpPr/>
          <p:nvPr/>
        </p:nvSpPr>
        <p:spPr>
          <a:xfrm>
            <a:off x="10469880" y="1078992"/>
            <a:ext cx="1828800" cy="214884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469880" y="1078992"/>
            <a:ext cx="1828800" cy="292608"/>
          </a:xfrm>
          <a:prstGeom prst="rect">
            <a:avLst/>
          </a:prstGeom>
          <a:solidFill>
            <a:srgbClr val="EAB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515600" y="1115568"/>
            <a:ext cx="1737360" cy="228600"/>
          </a:xfrm>
          <a:prstGeom prst="rect">
            <a:avLst/>
          </a:prstGeom>
          <a:noFill/>
        </p:spPr>
        <p:txBody>
          <a:bodyPr wrap="square">
            <a:spAutoFit/>
          </a:bodyPr>
          <a:lstStyle/>
          <a:p>
            <a:pPr algn="ctr"/>
            <a:r>
              <a:rPr sz="850" b="1" i="0">
                <a:solidFill>
                  <a:srgbClr val="FFFFFF"/>
                </a:solidFill>
                <a:latin typeface="Calibri"/>
              </a:rPr>
              <a:t>OUTPUT</a:t>
            </a:r>
          </a:p>
        </p:txBody>
      </p:sp>
      <p:sp>
        <p:nvSpPr>
          <p:cNvPr id="40" name="TextBox 39"/>
          <p:cNvSpPr txBox="1"/>
          <p:nvPr/>
        </p:nvSpPr>
        <p:spPr>
          <a:xfrm>
            <a:off x="10515600" y="1444752"/>
            <a:ext cx="1737360" cy="475488"/>
          </a:xfrm>
          <a:prstGeom prst="rect">
            <a:avLst/>
          </a:prstGeom>
          <a:noFill/>
        </p:spPr>
        <p:txBody>
          <a:bodyPr wrap="square">
            <a:spAutoFit/>
          </a:bodyPr>
          <a:lstStyle/>
          <a:p>
            <a:pPr algn="ctr"/>
            <a:r>
              <a:rPr sz="1300" b="1" i="0">
                <a:solidFill>
                  <a:srgbClr val="755B00"/>
                </a:solidFill>
                <a:latin typeface="Calibri"/>
              </a:rPr>
              <a:t>Dashboard</a:t>
            </a:r>
          </a:p>
        </p:txBody>
      </p:sp>
      <p:sp>
        <p:nvSpPr>
          <p:cNvPr id="41" name="TextBox 40"/>
          <p:cNvSpPr txBox="1"/>
          <p:nvPr/>
        </p:nvSpPr>
        <p:spPr>
          <a:xfrm>
            <a:off x="10543032" y="1993392"/>
            <a:ext cx="1682496" cy="1143000"/>
          </a:xfrm>
          <a:prstGeom prst="rect">
            <a:avLst/>
          </a:prstGeom>
          <a:noFill/>
        </p:spPr>
        <p:txBody>
          <a:bodyPr wrap="square">
            <a:spAutoFit/>
          </a:bodyPr>
          <a:lstStyle/>
          <a:p>
            <a:pPr algn="ctr"/>
            <a:r>
              <a:rPr sz="1000" b="0" i="0">
                <a:solidFill>
                  <a:srgbClr val="755B00"/>
                </a:solidFill>
                <a:latin typeface="Calibri"/>
              </a:rPr>
              <a:t>Bilingual result
Admin + Farmer
Google Maps view</a:t>
            </a:r>
          </a:p>
        </p:txBody>
      </p:sp>
      <p:sp>
        <p:nvSpPr>
          <p:cNvPr id="42" name="Rectangle 41"/>
          <p:cNvSpPr/>
          <p:nvPr/>
        </p:nvSpPr>
        <p:spPr>
          <a:xfrm>
            <a:off x="320040" y="3383280"/>
            <a:ext cx="1993392" cy="384048"/>
          </a:xfrm>
          <a:prstGeom prst="rect">
            <a:avLst/>
          </a:prstGeom>
          <a:solidFill>
            <a:srgbClr val="186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65760" y="3419856"/>
            <a:ext cx="1920240" cy="292608"/>
          </a:xfrm>
          <a:prstGeom prst="rect">
            <a:avLst/>
          </a:prstGeom>
          <a:noFill/>
        </p:spPr>
        <p:txBody>
          <a:bodyPr wrap="square">
            <a:spAutoFit/>
          </a:bodyPr>
          <a:lstStyle/>
          <a:p>
            <a:pPr algn="ctr"/>
            <a:r>
              <a:rPr sz="900" b="1" i="0">
                <a:solidFill>
                  <a:srgbClr val="FFFFFF"/>
                </a:solidFill>
                <a:latin typeface="Calibri"/>
              </a:rPr>
              <a:t>🌐  ONLINE COMPONENT</a:t>
            </a:r>
          </a:p>
        </p:txBody>
      </p:sp>
      <p:sp>
        <p:nvSpPr>
          <p:cNvPr id="44" name="TextBox 43"/>
          <p:cNvSpPr txBox="1"/>
          <p:nvPr/>
        </p:nvSpPr>
        <p:spPr>
          <a:xfrm>
            <a:off x="320040" y="3749039"/>
            <a:ext cx="1993392" cy="411480"/>
          </a:xfrm>
          <a:prstGeom prst="rect">
            <a:avLst/>
          </a:prstGeom>
          <a:noFill/>
        </p:spPr>
        <p:txBody>
          <a:bodyPr wrap="square">
            <a:spAutoFit/>
          </a:bodyPr>
          <a:lstStyle/>
          <a:p>
            <a:pPr algn="ctr"/>
            <a:r>
              <a:rPr sz="850" b="0" i="0">
                <a:solidFill>
                  <a:srgbClr val="40493D"/>
                </a:solidFill>
                <a:latin typeface="Calibri"/>
              </a:rPr>
              <a:t>Google Maps requires internet for farm mapping &amp; visualization.</a:t>
            </a:r>
          </a:p>
        </p:txBody>
      </p:sp>
      <p:sp>
        <p:nvSpPr>
          <p:cNvPr id="45" name="Rectangle 44"/>
          <p:cNvSpPr/>
          <p:nvPr/>
        </p:nvSpPr>
        <p:spPr>
          <a:xfrm>
            <a:off x="4407408" y="3383280"/>
            <a:ext cx="7479792" cy="384048"/>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453128" y="3419856"/>
            <a:ext cx="7406640" cy="292608"/>
          </a:xfrm>
          <a:prstGeom prst="rect">
            <a:avLst/>
          </a:prstGeom>
          <a:noFill/>
        </p:spPr>
        <p:txBody>
          <a:bodyPr wrap="square">
            <a:spAutoFit/>
          </a:bodyPr>
          <a:lstStyle/>
          <a:p>
            <a:pPr algn="ctr"/>
            <a:r>
              <a:rPr sz="900" b="1" i="0">
                <a:solidFill>
                  <a:srgbClr val="FFFFFF"/>
                </a:solidFill>
                <a:latin typeface="Calibri"/>
              </a:rPr>
              <a:t>🔌  OFFLINE AI CORE — works with no internet after setup</a:t>
            </a:r>
          </a:p>
        </p:txBody>
      </p:sp>
      <p:sp>
        <p:nvSpPr>
          <p:cNvPr id="47" name="TextBox 46"/>
          <p:cNvSpPr txBox="1"/>
          <p:nvPr/>
        </p:nvSpPr>
        <p:spPr>
          <a:xfrm>
            <a:off x="4407408" y="3749039"/>
            <a:ext cx="7479792" cy="411480"/>
          </a:xfrm>
          <a:prstGeom prst="rect">
            <a:avLst/>
          </a:prstGeom>
          <a:noFill/>
        </p:spPr>
        <p:txBody>
          <a:bodyPr wrap="square">
            <a:spAutoFit/>
          </a:bodyPr>
          <a:lstStyle/>
          <a:p>
            <a:pPr algn="ctr"/>
            <a:r>
              <a:rPr sz="850" b="0" i="0">
                <a:solidFill>
                  <a:srgbClr val="40493D"/>
                </a:solidFill>
                <a:latin typeface="Calibri"/>
              </a:rPr>
              <a:t>Random Forest (Kaggle-trained) + Qwen via Ollama + Meta NLLB all run locally on the cooperative server.</a:t>
            </a:r>
          </a:p>
        </p:txBody>
      </p:sp>
      <p:sp>
        <p:nvSpPr>
          <p:cNvPr id="48" name="Rectangle 47"/>
          <p:cNvSpPr/>
          <p:nvPr/>
        </p:nvSpPr>
        <p:spPr>
          <a:xfrm>
            <a:off x="320040" y="4297680"/>
            <a:ext cx="11567160" cy="260604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5488" y="4370832"/>
            <a:ext cx="10972800" cy="347472"/>
          </a:xfrm>
          <a:prstGeom prst="rect">
            <a:avLst/>
          </a:prstGeom>
          <a:noFill/>
        </p:spPr>
        <p:txBody>
          <a:bodyPr wrap="square">
            <a:spAutoFit/>
          </a:bodyPr>
          <a:lstStyle/>
          <a:p>
            <a:pPr algn="l"/>
            <a:r>
              <a:rPr sz="1300" b="1" i="0">
                <a:solidFill>
                  <a:srgbClr val="0D631B"/>
                </a:solidFill>
                <a:latin typeface="Calibri"/>
              </a:rPr>
              <a:t>How Each Component Works</a:t>
            </a:r>
          </a:p>
        </p:txBody>
      </p:sp>
      <p:sp>
        <p:nvSpPr>
          <p:cNvPr id="50" name="Rectangle 49"/>
          <p:cNvSpPr/>
          <p:nvPr/>
        </p:nvSpPr>
        <p:spPr>
          <a:xfrm>
            <a:off x="475488" y="4846320"/>
            <a:ext cx="54864" cy="548640"/>
          </a:xfrm>
          <a:prstGeom prst="rect">
            <a:avLst/>
          </a:prstGeom>
          <a:solidFill>
            <a:srgbClr val="186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12648" y="4846320"/>
            <a:ext cx="3474720" cy="274320"/>
          </a:xfrm>
          <a:prstGeom prst="rect">
            <a:avLst/>
          </a:prstGeom>
          <a:noFill/>
        </p:spPr>
        <p:txBody>
          <a:bodyPr wrap="square">
            <a:spAutoFit/>
          </a:bodyPr>
          <a:lstStyle/>
          <a:p>
            <a:pPr algn="l"/>
            <a:r>
              <a:rPr sz="1100" b="1" i="0">
                <a:solidFill>
                  <a:srgbClr val="1865D4"/>
                </a:solidFill>
                <a:latin typeface="Calibri"/>
              </a:rPr>
              <a:t>Google Maps</a:t>
            </a:r>
          </a:p>
        </p:txBody>
      </p:sp>
      <p:sp>
        <p:nvSpPr>
          <p:cNvPr id="52" name="TextBox 51"/>
          <p:cNvSpPr txBox="1"/>
          <p:nvPr/>
        </p:nvSpPr>
        <p:spPr>
          <a:xfrm>
            <a:off x="612648" y="5120640"/>
            <a:ext cx="3474720" cy="685800"/>
          </a:xfrm>
          <a:prstGeom prst="rect">
            <a:avLst/>
          </a:prstGeom>
          <a:noFill/>
        </p:spPr>
        <p:txBody>
          <a:bodyPr wrap="square">
            <a:spAutoFit/>
          </a:bodyPr>
          <a:lstStyle/>
          <a:p>
            <a:pPr algn="l"/>
            <a:r>
              <a:rPr sz="950" b="0" i="0">
                <a:solidFill>
                  <a:srgbClr val="40493D"/>
                </a:solidFill>
                <a:latin typeface="Calibri"/>
              </a:rPr>
              <a:t>Admin draws the farm polygon boundary directly on a live Google Map. The system calculates area in hectares and auto-places sensor markers at the correct GPS coordinates.</a:t>
            </a:r>
          </a:p>
        </p:txBody>
      </p:sp>
      <p:sp>
        <p:nvSpPr>
          <p:cNvPr id="53" name="Rectangle 52"/>
          <p:cNvSpPr/>
          <p:nvPr/>
        </p:nvSpPr>
        <p:spPr>
          <a:xfrm>
            <a:off x="4251960" y="4846320"/>
            <a:ext cx="54864" cy="54864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389120" y="4846320"/>
            <a:ext cx="3474720" cy="274320"/>
          </a:xfrm>
          <a:prstGeom prst="rect">
            <a:avLst/>
          </a:prstGeom>
          <a:noFill/>
        </p:spPr>
        <p:txBody>
          <a:bodyPr wrap="square">
            <a:spAutoFit/>
          </a:bodyPr>
          <a:lstStyle/>
          <a:p>
            <a:pPr algn="l"/>
            <a:r>
              <a:rPr sz="1100" b="1" i="0">
                <a:solidFill>
                  <a:srgbClr val="E65C00"/>
                </a:solidFill>
                <a:latin typeface="Calibri"/>
              </a:rPr>
              <a:t>IoT Sensors</a:t>
            </a:r>
          </a:p>
        </p:txBody>
      </p:sp>
      <p:sp>
        <p:nvSpPr>
          <p:cNvPr id="55" name="TextBox 54"/>
          <p:cNvSpPr txBox="1"/>
          <p:nvPr/>
        </p:nvSpPr>
        <p:spPr>
          <a:xfrm>
            <a:off x="4389120" y="5120640"/>
            <a:ext cx="3474720" cy="685800"/>
          </a:xfrm>
          <a:prstGeom prst="rect">
            <a:avLst/>
          </a:prstGeom>
          <a:noFill/>
        </p:spPr>
        <p:txBody>
          <a:bodyPr wrap="square">
            <a:spAutoFit/>
          </a:bodyPr>
          <a:lstStyle/>
          <a:p>
            <a:pPr algn="l"/>
            <a:r>
              <a:rPr sz="950" b="0" i="0">
                <a:solidFill>
                  <a:srgbClr val="40493D"/>
                </a:solidFill>
                <a:latin typeface="Calibri"/>
              </a:rPr>
              <a:t>Physical sensors installed in the field continuously read soil N, P, K, pH, temperature, humidity, and rainfall. Readings are sent wirelessly to the FastAPI backend in real time.</a:t>
            </a:r>
          </a:p>
        </p:txBody>
      </p:sp>
      <p:sp>
        <p:nvSpPr>
          <p:cNvPr id="56" name="Rectangle 55"/>
          <p:cNvSpPr/>
          <p:nvPr/>
        </p:nvSpPr>
        <p:spPr>
          <a:xfrm>
            <a:off x="8028431" y="4846320"/>
            <a:ext cx="54864" cy="54864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165591" y="4846320"/>
            <a:ext cx="3474720" cy="274320"/>
          </a:xfrm>
          <a:prstGeom prst="rect">
            <a:avLst/>
          </a:prstGeom>
          <a:noFill/>
        </p:spPr>
        <p:txBody>
          <a:bodyPr wrap="square">
            <a:spAutoFit/>
          </a:bodyPr>
          <a:lstStyle/>
          <a:p>
            <a:pPr algn="l"/>
            <a:r>
              <a:rPr sz="1100" b="1" i="0">
                <a:solidFill>
                  <a:srgbClr val="0D631B"/>
                </a:solidFill>
                <a:latin typeface="Calibri"/>
              </a:rPr>
              <a:t>Random Forest (Kaggle)</a:t>
            </a:r>
          </a:p>
        </p:txBody>
      </p:sp>
      <p:sp>
        <p:nvSpPr>
          <p:cNvPr id="58" name="TextBox 57"/>
          <p:cNvSpPr txBox="1"/>
          <p:nvPr/>
        </p:nvSpPr>
        <p:spPr>
          <a:xfrm>
            <a:off x="8165591" y="5120640"/>
            <a:ext cx="3474720" cy="685800"/>
          </a:xfrm>
          <a:prstGeom prst="rect">
            <a:avLst/>
          </a:prstGeom>
          <a:noFill/>
        </p:spPr>
        <p:txBody>
          <a:bodyPr wrap="square">
            <a:spAutoFit/>
          </a:bodyPr>
          <a:lstStyle/>
          <a:p>
            <a:pPr algn="l"/>
            <a:r>
              <a:rPr sz="950" b="0" i="0">
                <a:solidFill>
                  <a:srgbClr val="40493D"/>
                </a:solidFill>
                <a:latin typeface="Calibri"/>
              </a:rPr>
              <a:t>Trained on the Kaggle Crop Recommendation Dataset (2,200 labeled samples). Takes live sensor values and outputs the top matching crop with a confidence score.</a:t>
            </a:r>
          </a:p>
        </p:txBody>
      </p:sp>
      <p:sp>
        <p:nvSpPr>
          <p:cNvPr id="59" name="Rectangle 58"/>
          <p:cNvSpPr/>
          <p:nvPr/>
        </p:nvSpPr>
        <p:spPr>
          <a:xfrm>
            <a:off x="475488" y="5852160"/>
            <a:ext cx="54864" cy="548640"/>
          </a:xfrm>
          <a:prstGeom prst="rect">
            <a:avLst/>
          </a:prstGeom>
          <a:solidFill>
            <a:srgbClr val="1B6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5852160"/>
            <a:ext cx="3474720" cy="274320"/>
          </a:xfrm>
          <a:prstGeom prst="rect">
            <a:avLst/>
          </a:prstGeom>
          <a:noFill/>
        </p:spPr>
        <p:txBody>
          <a:bodyPr wrap="square">
            <a:spAutoFit/>
          </a:bodyPr>
          <a:lstStyle/>
          <a:p>
            <a:pPr algn="l"/>
            <a:r>
              <a:rPr sz="1100" b="1" i="0">
                <a:solidFill>
                  <a:srgbClr val="1B6D24"/>
                </a:solidFill>
                <a:latin typeface="Calibri"/>
              </a:rPr>
              <a:t>Qwen via Ollama</a:t>
            </a:r>
          </a:p>
        </p:txBody>
      </p:sp>
      <p:sp>
        <p:nvSpPr>
          <p:cNvPr id="61" name="TextBox 60"/>
          <p:cNvSpPr txBox="1"/>
          <p:nvPr/>
        </p:nvSpPr>
        <p:spPr>
          <a:xfrm>
            <a:off x="612648" y="6126480"/>
            <a:ext cx="3474720" cy="685800"/>
          </a:xfrm>
          <a:prstGeom prst="rect">
            <a:avLst/>
          </a:prstGeom>
          <a:noFill/>
        </p:spPr>
        <p:txBody>
          <a:bodyPr wrap="square">
            <a:spAutoFit/>
          </a:bodyPr>
          <a:lstStyle/>
          <a:p>
            <a:pPr algn="l"/>
            <a:r>
              <a:rPr sz="950" b="0" i="0">
                <a:solidFill>
                  <a:srgbClr val="40493D"/>
                </a:solidFill>
                <a:latin typeface="Calibri"/>
              </a:rPr>
              <a:t>The offline Qwen 2.5 (3B) model, served by Ollama on the local server, generates a plain-language explanation of why that crop was recommended, referencing the actual sensor readings.</a:t>
            </a:r>
          </a:p>
        </p:txBody>
      </p:sp>
      <p:sp>
        <p:nvSpPr>
          <p:cNvPr id="62" name="Rectangle 61"/>
          <p:cNvSpPr/>
          <p:nvPr/>
        </p:nvSpPr>
        <p:spPr>
          <a:xfrm>
            <a:off x="4251960" y="5852160"/>
            <a:ext cx="54864" cy="548640"/>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389120" y="5852160"/>
            <a:ext cx="3474720" cy="274320"/>
          </a:xfrm>
          <a:prstGeom prst="rect">
            <a:avLst/>
          </a:prstGeom>
          <a:noFill/>
        </p:spPr>
        <p:txBody>
          <a:bodyPr wrap="square">
            <a:spAutoFit/>
          </a:bodyPr>
          <a:lstStyle/>
          <a:p>
            <a:pPr algn="l"/>
            <a:r>
              <a:rPr sz="1100" b="1" i="0">
                <a:solidFill>
                  <a:srgbClr val="1A77F2"/>
                </a:solidFill>
                <a:latin typeface="Calibri"/>
              </a:rPr>
              <a:t>Meta NLLB-200</a:t>
            </a:r>
          </a:p>
        </p:txBody>
      </p:sp>
      <p:sp>
        <p:nvSpPr>
          <p:cNvPr id="64" name="TextBox 63"/>
          <p:cNvSpPr txBox="1"/>
          <p:nvPr/>
        </p:nvSpPr>
        <p:spPr>
          <a:xfrm>
            <a:off x="4389120" y="6126480"/>
            <a:ext cx="3474720" cy="685800"/>
          </a:xfrm>
          <a:prstGeom prst="rect">
            <a:avLst/>
          </a:prstGeom>
          <a:noFill/>
        </p:spPr>
        <p:txBody>
          <a:bodyPr wrap="square">
            <a:spAutoFit/>
          </a:bodyPr>
          <a:lstStyle/>
          <a:p>
            <a:pPr algn="l"/>
            <a:r>
              <a:rPr sz="950" b="0" i="0">
                <a:solidFill>
                  <a:srgbClr val="40493D"/>
                </a:solidFill>
                <a:latin typeface="Calibri"/>
              </a:rPr>
              <a:t>Meta's No Language Left Behind (NLLB-200-distilled-600M) translates the Qwen explanation from English to Filipino (Tagalog) entirely offline — no Google Translate API needed.</a:t>
            </a:r>
          </a:p>
        </p:txBody>
      </p:sp>
      <p:sp>
        <p:nvSpPr>
          <p:cNvPr id="65" name="Rectangle 64"/>
          <p:cNvSpPr/>
          <p:nvPr/>
        </p:nvSpPr>
        <p:spPr>
          <a:xfrm>
            <a:off x="8028431" y="5852160"/>
            <a:ext cx="54864" cy="54864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165591" y="5852160"/>
            <a:ext cx="3474720" cy="274320"/>
          </a:xfrm>
          <a:prstGeom prst="rect">
            <a:avLst/>
          </a:prstGeom>
          <a:noFill/>
        </p:spPr>
        <p:txBody>
          <a:bodyPr wrap="square">
            <a:spAutoFit/>
          </a:bodyPr>
          <a:lstStyle/>
          <a:p>
            <a:pPr algn="l"/>
            <a:r>
              <a:rPr sz="1100" b="1" i="0">
                <a:solidFill>
                  <a:srgbClr val="755B00"/>
                </a:solidFill>
                <a:latin typeface="Calibri"/>
              </a:rPr>
              <a:t>Dashboard Output</a:t>
            </a:r>
          </a:p>
        </p:txBody>
      </p:sp>
      <p:sp>
        <p:nvSpPr>
          <p:cNvPr id="67" name="TextBox 66"/>
          <p:cNvSpPr txBox="1"/>
          <p:nvPr/>
        </p:nvSpPr>
        <p:spPr>
          <a:xfrm>
            <a:off x="8165591" y="6126480"/>
            <a:ext cx="3474720" cy="685800"/>
          </a:xfrm>
          <a:prstGeom prst="rect">
            <a:avLst/>
          </a:prstGeom>
          <a:noFill/>
        </p:spPr>
        <p:txBody>
          <a:bodyPr wrap="square">
            <a:spAutoFit/>
          </a:bodyPr>
          <a:lstStyle/>
          <a:p>
            <a:pPr algn="l"/>
            <a:r>
              <a:rPr sz="950" b="0" i="0">
                <a:solidFill>
                  <a:srgbClr val="40493D"/>
                </a:solidFill>
                <a:latin typeface="Calibri"/>
              </a:rPr>
              <a:t>Both the admin dashboard and the farmer view display the crop name, confidence %, and the bilingual explanation (English + Filipino) alongside the Google Maps farm 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Google Stitch Prototype – Admin Dashboard</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Google Maps farm view  ·  Live IoT sensor readings  ·  AI crop recommendations  ·  Cooperative management</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4</a:t>
            </a:r>
          </a:p>
        </p:txBody>
      </p:sp>
      <p:sp>
        <p:nvSpPr>
          <p:cNvPr id="104" name="Rectangle 103">
            <a:extLst>
              <a:ext uri="{FF2B5EF4-FFF2-40B4-BE49-F238E27FC236}">
                <a16:creationId xmlns:a16="http://schemas.microsoft.com/office/drawing/2014/main" id="{573C4390-1AC3-37F6-F62C-046C0012926B}"/>
              </a:ext>
            </a:extLst>
          </p:cNvPr>
          <p:cNvSpPr/>
          <p:nvPr/>
        </p:nvSpPr>
        <p:spPr>
          <a:xfrm>
            <a:off x="2291899" y="1140542"/>
            <a:ext cx="7608201" cy="5279923"/>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461665"/>
          </a:xfrm>
          <a:prstGeom prst="rect">
            <a:avLst/>
          </a:prstGeom>
          <a:noFill/>
        </p:spPr>
        <p:txBody>
          <a:bodyPr wrap="square">
            <a:spAutoFit/>
          </a:bodyPr>
          <a:lstStyle/>
          <a:p>
            <a:pPr algn="l"/>
            <a:r>
              <a:rPr sz="2400" b="1" i="0" dirty="0">
                <a:solidFill>
                  <a:srgbClr val="FFFFFF"/>
                </a:solidFill>
                <a:latin typeface="Calibri"/>
              </a:rPr>
              <a:t>Google Stitch Prototype – </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Farm name login  ·  Live IoT sensor data  ·  Qwen AI recommendation  ·  NLLB Filipino translation</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5</a:t>
            </a:r>
          </a:p>
        </p:txBody>
      </p:sp>
      <p:sp>
        <p:nvSpPr>
          <p:cNvPr id="7" name="Rectangle 6"/>
          <p:cNvSpPr/>
          <p:nvPr/>
        </p:nvSpPr>
        <p:spPr>
          <a:xfrm>
            <a:off x="983226" y="1219201"/>
            <a:ext cx="9271819" cy="5299586"/>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Offline AI Option for Low-Connectivity Areas</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Hybrid system: Google Maps online  ·  Qwen AI fully offline  ·  NLLB offline  ·  IoT sensors local network</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5</a:t>
            </a:r>
          </a:p>
        </p:txBody>
      </p:sp>
      <p:sp>
        <p:nvSpPr>
          <p:cNvPr id="7" name="Rectangle 6"/>
          <p:cNvSpPr/>
          <p:nvPr/>
        </p:nvSpPr>
        <p:spPr>
          <a:xfrm>
            <a:off x="320040" y="1005840"/>
            <a:ext cx="6035040" cy="562356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78992"/>
            <a:ext cx="5760720" cy="347472"/>
          </a:xfrm>
          <a:prstGeom prst="rect">
            <a:avLst/>
          </a:prstGeom>
          <a:noFill/>
        </p:spPr>
        <p:txBody>
          <a:bodyPr wrap="square">
            <a:spAutoFit/>
          </a:bodyPr>
          <a:lstStyle/>
          <a:p>
            <a:pPr algn="l"/>
            <a:r>
              <a:rPr sz="1300" b="1" i="0">
                <a:solidFill>
                  <a:srgbClr val="0D631B"/>
                </a:solidFill>
                <a:latin typeface="Calibri"/>
              </a:rPr>
              <a:t>System Architecture — Online &amp; Offline Components</a:t>
            </a:r>
          </a:p>
        </p:txBody>
      </p:sp>
      <p:sp>
        <p:nvSpPr>
          <p:cNvPr id="9" name="Rectangle 8"/>
          <p:cNvSpPr/>
          <p:nvPr/>
        </p:nvSpPr>
        <p:spPr>
          <a:xfrm>
            <a:off x="457200" y="1508760"/>
            <a:ext cx="5760720" cy="256032"/>
          </a:xfrm>
          <a:prstGeom prst="rect">
            <a:avLst/>
          </a:prstGeom>
          <a:solidFill>
            <a:srgbClr val="186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536192"/>
            <a:ext cx="5669280" cy="201168"/>
          </a:xfrm>
          <a:prstGeom prst="rect">
            <a:avLst/>
          </a:prstGeom>
          <a:noFill/>
        </p:spPr>
        <p:txBody>
          <a:bodyPr wrap="square">
            <a:spAutoFit/>
          </a:bodyPr>
          <a:lstStyle/>
          <a:p>
            <a:pPr algn="ctr"/>
            <a:r>
              <a:rPr sz="900" b="1" i="0">
                <a:solidFill>
                  <a:srgbClr val="FFFFFF"/>
                </a:solidFill>
                <a:latin typeface="Calibri"/>
              </a:rPr>
              <a:t>🌐  ONLINE  —  requires internet</a:t>
            </a:r>
          </a:p>
        </p:txBody>
      </p:sp>
      <p:sp>
        <p:nvSpPr>
          <p:cNvPr id="11" name="Rectangle 10"/>
          <p:cNvSpPr/>
          <p:nvPr/>
        </p:nvSpPr>
        <p:spPr>
          <a:xfrm>
            <a:off x="457200" y="1783080"/>
            <a:ext cx="5760720" cy="594360"/>
          </a:xfrm>
          <a:prstGeom prst="rect">
            <a:avLst/>
          </a:prstGeom>
          <a:solidFill>
            <a:srgbClr val="D9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1828800"/>
            <a:ext cx="5303520" cy="246888"/>
          </a:xfrm>
          <a:prstGeom prst="rect">
            <a:avLst/>
          </a:prstGeom>
          <a:noFill/>
        </p:spPr>
        <p:txBody>
          <a:bodyPr wrap="square">
            <a:spAutoFit/>
          </a:bodyPr>
          <a:lstStyle/>
          <a:p>
            <a:pPr algn="ctr"/>
            <a:r>
              <a:rPr sz="1100" b="1" i="0">
                <a:solidFill>
                  <a:srgbClr val="1865D4"/>
                </a:solidFill>
                <a:latin typeface="Calibri"/>
              </a:rPr>
              <a:t>Google Maps API</a:t>
            </a:r>
          </a:p>
        </p:txBody>
      </p:sp>
      <p:sp>
        <p:nvSpPr>
          <p:cNvPr id="13" name="TextBox 12"/>
          <p:cNvSpPr txBox="1"/>
          <p:nvPr/>
        </p:nvSpPr>
        <p:spPr>
          <a:xfrm>
            <a:off x="566928" y="2075688"/>
            <a:ext cx="5303520" cy="246888"/>
          </a:xfrm>
          <a:prstGeom prst="rect">
            <a:avLst/>
          </a:prstGeom>
          <a:noFill/>
        </p:spPr>
        <p:txBody>
          <a:bodyPr wrap="square">
            <a:spAutoFit/>
          </a:bodyPr>
          <a:lstStyle/>
          <a:p>
            <a:pPr algn="ctr"/>
            <a:r>
              <a:rPr sz="950" b="0" i="0">
                <a:solidFill>
                  <a:srgbClr val="1865D4"/>
                </a:solidFill>
                <a:latin typeface="Calibri"/>
              </a:rPr>
              <a:t>Farm boundary drawing, sensor GPS placement &amp; live map dashboard view</a:t>
            </a:r>
          </a:p>
        </p:txBody>
      </p:sp>
      <p:sp>
        <p:nvSpPr>
          <p:cNvPr id="14" name="Rectangle 13"/>
          <p:cNvSpPr/>
          <p:nvPr/>
        </p:nvSpPr>
        <p:spPr>
          <a:xfrm>
            <a:off x="457200" y="2487168"/>
            <a:ext cx="5760720" cy="25603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514600"/>
            <a:ext cx="5669280" cy="201168"/>
          </a:xfrm>
          <a:prstGeom prst="rect">
            <a:avLst/>
          </a:prstGeom>
          <a:noFill/>
        </p:spPr>
        <p:txBody>
          <a:bodyPr wrap="square">
            <a:spAutoFit/>
          </a:bodyPr>
          <a:lstStyle/>
          <a:p>
            <a:pPr algn="ctr"/>
            <a:r>
              <a:rPr sz="900" b="1" i="0">
                <a:solidFill>
                  <a:srgbClr val="FFFFFF"/>
                </a:solidFill>
                <a:latin typeface="Calibri"/>
              </a:rPr>
              <a:t>🔌  OFFLINE  —  works with no internet after setup</a:t>
            </a:r>
          </a:p>
        </p:txBody>
      </p:sp>
      <p:sp>
        <p:nvSpPr>
          <p:cNvPr id="16" name="Rectangle 15"/>
          <p:cNvSpPr/>
          <p:nvPr/>
        </p:nvSpPr>
        <p:spPr>
          <a:xfrm>
            <a:off x="457200" y="2788920"/>
            <a:ext cx="5760720" cy="53035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834640"/>
            <a:ext cx="5303520" cy="228600"/>
          </a:xfrm>
          <a:prstGeom prst="rect">
            <a:avLst/>
          </a:prstGeom>
          <a:noFill/>
        </p:spPr>
        <p:txBody>
          <a:bodyPr wrap="square">
            <a:spAutoFit/>
          </a:bodyPr>
          <a:lstStyle/>
          <a:p>
            <a:pPr algn="ctr"/>
            <a:r>
              <a:rPr sz="1050" b="1" i="0">
                <a:solidFill>
                  <a:srgbClr val="FFFFFF"/>
                </a:solidFill>
                <a:latin typeface="Calibri"/>
              </a:rPr>
              <a:t>IoT Sensors</a:t>
            </a:r>
          </a:p>
        </p:txBody>
      </p:sp>
      <p:sp>
        <p:nvSpPr>
          <p:cNvPr id="18" name="TextBox 17"/>
          <p:cNvSpPr txBox="1"/>
          <p:nvPr/>
        </p:nvSpPr>
        <p:spPr>
          <a:xfrm>
            <a:off x="566928" y="3072384"/>
            <a:ext cx="5303520" cy="219456"/>
          </a:xfrm>
          <a:prstGeom prst="rect">
            <a:avLst/>
          </a:prstGeom>
          <a:noFill/>
        </p:spPr>
        <p:txBody>
          <a:bodyPr wrap="square">
            <a:spAutoFit/>
          </a:bodyPr>
          <a:lstStyle/>
          <a:p>
            <a:pPr algn="ctr"/>
            <a:r>
              <a:rPr sz="900" b="0" i="0">
                <a:solidFill>
                  <a:srgbClr val="FFFFFF"/>
                </a:solidFill>
                <a:latin typeface="Calibri"/>
              </a:rPr>
              <a:t>Physical sensors send data over local WiFi/LAN to the server</a:t>
            </a:r>
          </a:p>
        </p:txBody>
      </p:sp>
      <p:sp>
        <p:nvSpPr>
          <p:cNvPr id="19" name="TextBox 18"/>
          <p:cNvSpPr txBox="1"/>
          <p:nvPr/>
        </p:nvSpPr>
        <p:spPr>
          <a:xfrm>
            <a:off x="2743200" y="3310127"/>
            <a:ext cx="731520" cy="91440"/>
          </a:xfrm>
          <a:prstGeom prst="rect">
            <a:avLst/>
          </a:prstGeom>
          <a:noFill/>
        </p:spPr>
        <p:txBody>
          <a:bodyPr wrap="square">
            <a:spAutoFit/>
          </a:bodyPr>
          <a:lstStyle/>
          <a:p>
            <a:pPr algn="ctr"/>
            <a:r>
              <a:rPr sz="700" b="0" i="0">
                <a:solidFill>
                  <a:srgbClr val="707A6C"/>
                </a:solidFill>
                <a:latin typeface="Calibri"/>
              </a:rPr>
              <a:t>▼</a:t>
            </a:r>
          </a:p>
        </p:txBody>
      </p:sp>
      <p:sp>
        <p:nvSpPr>
          <p:cNvPr id="20" name="Rectangle 19"/>
          <p:cNvSpPr/>
          <p:nvPr/>
        </p:nvSpPr>
        <p:spPr>
          <a:xfrm>
            <a:off x="457200" y="3383280"/>
            <a:ext cx="5760720" cy="53035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3429000"/>
            <a:ext cx="5303520" cy="228600"/>
          </a:xfrm>
          <a:prstGeom prst="rect">
            <a:avLst/>
          </a:prstGeom>
          <a:noFill/>
        </p:spPr>
        <p:txBody>
          <a:bodyPr wrap="square">
            <a:spAutoFit/>
          </a:bodyPr>
          <a:lstStyle/>
          <a:p>
            <a:pPr algn="ctr"/>
            <a:r>
              <a:rPr sz="1050" b="1" i="0">
                <a:solidFill>
                  <a:srgbClr val="FFFFFF"/>
                </a:solidFill>
                <a:latin typeface="Calibri"/>
              </a:rPr>
              <a:t>FastAPI Backend</a:t>
            </a:r>
          </a:p>
        </p:txBody>
      </p:sp>
      <p:sp>
        <p:nvSpPr>
          <p:cNvPr id="22" name="TextBox 21"/>
          <p:cNvSpPr txBox="1"/>
          <p:nvPr/>
        </p:nvSpPr>
        <p:spPr>
          <a:xfrm>
            <a:off x="566928" y="3666744"/>
            <a:ext cx="5303520" cy="219456"/>
          </a:xfrm>
          <a:prstGeom prst="rect">
            <a:avLst/>
          </a:prstGeom>
          <a:noFill/>
        </p:spPr>
        <p:txBody>
          <a:bodyPr wrap="square">
            <a:spAutoFit/>
          </a:bodyPr>
          <a:lstStyle/>
          <a:p>
            <a:pPr algn="ctr"/>
            <a:r>
              <a:rPr sz="900" b="0" i="0">
                <a:solidFill>
                  <a:srgbClr val="FFFFFF"/>
                </a:solidFill>
                <a:latin typeface="Calibri"/>
              </a:rPr>
              <a:t>Serves REST API on localhost — no internet needed</a:t>
            </a:r>
          </a:p>
        </p:txBody>
      </p:sp>
      <p:sp>
        <p:nvSpPr>
          <p:cNvPr id="23" name="TextBox 22"/>
          <p:cNvSpPr txBox="1"/>
          <p:nvPr/>
        </p:nvSpPr>
        <p:spPr>
          <a:xfrm>
            <a:off x="2743200" y="3904487"/>
            <a:ext cx="731520" cy="91440"/>
          </a:xfrm>
          <a:prstGeom prst="rect">
            <a:avLst/>
          </a:prstGeom>
          <a:noFill/>
        </p:spPr>
        <p:txBody>
          <a:bodyPr wrap="square">
            <a:spAutoFit/>
          </a:bodyPr>
          <a:lstStyle/>
          <a:p>
            <a:pPr algn="ctr"/>
            <a:r>
              <a:rPr sz="700" b="0" i="0">
                <a:solidFill>
                  <a:srgbClr val="707A6C"/>
                </a:solidFill>
                <a:latin typeface="Calibri"/>
              </a:rPr>
              <a:t>▼</a:t>
            </a:r>
          </a:p>
        </p:txBody>
      </p:sp>
      <p:sp>
        <p:nvSpPr>
          <p:cNvPr id="24" name="Rectangle 23"/>
          <p:cNvSpPr/>
          <p:nvPr/>
        </p:nvSpPr>
        <p:spPr>
          <a:xfrm>
            <a:off x="457200" y="3977640"/>
            <a:ext cx="5760720"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4023360"/>
            <a:ext cx="5303520" cy="228600"/>
          </a:xfrm>
          <a:prstGeom prst="rect">
            <a:avLst/>
          </a:prstGeom>
          <a:noFill/>
        </p:spPr>
        <p:txBody>
          <a:bodyPr wrap="square">
            <a:spAutoFit/>
          </a:bodyPr>
          <a:lstStyle/>
          <a:p>
            <a:pPr algn="ctr"/>
            <a:r>
              <a:rPr sz="1050" b="1" i="0">
                <a:solidFill>
                  <a:srgbClr val="FFFFFF"/>
                </a:solidFill>
                <a:latin typeface="Calibri"/>
              </a:rPr>
              <a:t>Random Forest (Kaggle)</a:t>
            </a:r>
          </a:p>
        </p:txBody>
      </p:sp>
      <p:sp>
        <p:nvSpPr>
          <p:cNvPr id="26" name="TextBox 25"/>
          <p:cNvSpPr txBox="1"/>
          <p:nvPr/>
        </p:nvSpPr>
        <p:spPr>
          <a:xfrm>
            <a:off x="566928" y="4261104"/>
            <a:ext cx="5303520" cy="219456"/>
          </a:xfrm>
          <a:prstGeom prst="rect">
            <a:avLst/>
          </a:prstGeom>
          <a:noFill/>
        </p:spPr>
        <p:txBody>
          <a:bodyPr wrap="square">
            <a:spAutoFit/>
          </a:bodyPr>
          <a:lstStyle/>
          <a:p>
            <a:pPr algn="ctr"/>
            <a:r>
              <a:rPr sz="900" b="0" i="0">
                <a:solidFill>
                  <a:srgbClr val="FFFFFF"/>
                </a:solidFill>
                <a:latin typeface="Calibri"/>
              </a:rPr>
              <a:t>Pre-trained on Kaggle dataset — crop_model.pkl (3.5 MB, CPU only)</a:t>
            </a:r>
          </a:p>
        </p:txBody>
      </p:sp>
      <p:sp>
        <p:nvSpPr>
          <p:cNvPr id="27" name="TextBox 26"/>
          <p:cNvSpPr txBox="1"/>
          <p:nvPr/>
        </p:nvSpPr>
        <p:spPr>
          <a:xfrm>
            <a:off x="2743200" y="4498847"/>
            <a:ext cx="731520" cy="91440"/>
          </a:xfrm>
          <a:prstGeom prst="rect">
            <a:avLst/>
          </a:prstGeom>
          <a:noFill/>
        </p:spPr>
        <p:txBody>
          <a:bodyPr wrap="square">
            <a:spAutoFit/>
          </a:bodyPr>
          <a:lstStyle/>
          <a:p>
            <a:pPr algn="ctr"/>
            <a:r>
              <a:rPr sz="700" b="0" i="0">
                <a:solidFill>
                  <a:srgbClr val="707A6C"/>
                </a:solidFill>
                <a:latin typeface="Calibri"/>
              </a:rPr>
              <a:t>▼</a:t>
            </a:r>
          </a:p>
        </p:txBody>
      </p:sp>
      <p:sp>
        <p:nvSpPr>
          <p:cNvPr id="28" name="Rectangle 27"/>
          <p:cNvSpPr/>
          <p:nvPr/>
        </p:nvSpPr>
        <p:spPr>
          <a:xfrm>
            <a:off x="457200" y="4572000"/>
            <a:ext cx="5760720" cy="530352"/>
          </a:xfrm>
          <a:prstGeom prst="rect">
            <a:avLst/>
          </a:prstGeom>
          <a:solidFill>
            <a:srgbClr val="1B6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4617720"/>
            <a:ext cx="5303520" cy="228600"/>
          </a:xfrm>
          <a:prstGeom prst="rect">
            <a:avLst/>
          </a:prstGeom>
          <a:noFill/>
        </p:spPr>
        <p:txBody>
          <a:bodyPr wrap="square">
            <a:spAutoFit/>
          </a:bodyPr>
          <a:lstStyle/>
          <a:p>
            <a:pPr algn="ctr"/>
            <a:r>
              <a:rPr sz="1050" b="1" i="0">
                <a:solidFill>
                  <a:srgbClr val="FFFFFF"/>
                </a:solidFill>
                <a:latin typeface="Calibri"/>
              </a:rPr>
              <a:t>Qwen 2.5:3b via Ollama</a:t>
            </a:r>
          </a:p>
        </p:txBody>
      </p:sp>
      <p:sp>
        <p:nvSpPr>
          <p:cNvPr id="30" name="TextBox 29"/>
          <p:cNvSpPr txBox="1"/>
          <p:nvPr/>
        </p:nvSpPr>
        <p:spPr>
          <a:xfrm>
            <a:off x="566928" y="4855464"/>
            <a:ext cx="5303520" cy="219456"/>
          </a:xfrm>
          <a:prstGeom prst="rect">
            <a:avLst/>
          </a:prstGeom>
          <a:noFill/>
        </p:spPr>
        <p:txBody>
          <a:bodyPr wrap="square">
            <a:spAutoFit/>
          </a:bodyPr>
          <a:lstStyle/>
          <a:p>
            <a:pPr algn="ctr"/>
            <a:r>
              <a:rPr sz="900" b="0" i="0">
                <a:solidFill>
                  <a:srgbClr val="FFFFFF"/>
                </a:solidFill>
                <a:latin typeface="Calibri"/>
              </a:rPr>
              <a:t>Generates crop recommendation + explanation — runs on local GPU/CPU</a:t>
            </a:r>
          </a:p>
        </p:txBody>
      </p:sp>
      <p:sp>
        <p:nvSpPr>
          <p:cNvPr id="31" name="TextBox 30"/>
          <p:cNvSpPr txBox="1"/>
          <p:nvPr/>
        </p:nvSpPr>
        <p:spPr>
          <a:xfrm>
            <a:off x="2743200" y="5093207"/>
            <a:ext cx="731520" cy="91440"/>
          </a:xfrm>
          <a:prstGeom prst="rect">
            <a:avLst/>
          </a:prstGeom>
          <a:noFill/>
        </p:spPr>
        <p:txBody>
          <a:bodyPr wrap="square">
            <a:spAutoFit/>
          </a:bodyPr>
          <a:lstStyle/>
          <a:p>
            <a:pPr algn="ctr"/>
            <a:r>
              <a:rPr sz="700" b="0" i="0">
                <a:solidFill>
                  <a:srgbClr val="707A6C"/>
                </a:solidFill>
                <a:latin typeface="Calibri"/>
              </a:rPr>
              <a:t>▼</a:t>
            </a:r>
          </a:p>
        </p:txBody>
      </p:sp>
      <p:sp>
        <p:nvSpPr>
          <p:cNvPr id="32" name="Rectangle 31"/>
          <p:cNvSpPr/>
          <p:nvPr/>
        </p:nvSpPr>
        <p:spPr>
          <a:xfrm>
            <a:off x="457200" y="5166360"/>
            <a:ext cx="5760720" cy="530352"/>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 y="5212080"/>
            <a:ext cx="5303520" cy="228600"/>
          </a:xfrm>
          <a:prstGeom prst="rect">
            <a:avLst/>
          </a:prstGeom>
          <a:noFill/>
        </p:spPr>
        <p:txBody>
          <a:bodyPr wrap="square">
            <a:spAutoFit/>
          </a:bodyPr>
          <a:lstStyle/>
          <a:p>
            <a:pPr algn="ctr"/>
            <a:r>
              <a:rPr sz="1050" b="1" i="0">
                <a:solidFill>
                  <a:srgbClr val="FFFFFF"/>
                </a:solidFill>
                <a:latin typeface="Calibri"/>
              </a:rPr>
              <a:t>Meta NLLB-200 Translator</a:t>
            </a:r>
          </a:p>
        </p:txBody>
      </p:sp>
      <p:sp>
        <p:nvSpPr>
          <p:cNvPr id="34" name="TextBox 33"/>
          <p:cNvSpPr txBox="1"/>
          <p:nvPr/>
        </p:nvSpPr>
        <p:spPr>
          <a:xfrm>
            <a:off x="566928" y="5449824"/>
            <a:ext cx="5303520" cy="219456"/>
          </a:xfrm>
          <a:prstGeom prst="rect">
            <a:avLst/>
          </a:prstGeom>
          <a:noFill/>
        </p:spPr>
        <p:txBody>
          <a:bodyPr wrap="square">
            <a:spAutoFit/>
          </a:bodyPr>
          <a:lstStyle/>
          <a:p>
            <a:pPr algn="ctr"/>
            <a:r>
              <a:rPr sz="900" b="0" i="0">
                <a:solidFill>
                  <a:srgbClr val="FFFFFF"/>
                </a:solidFill>
                <a:latin typeface="Calibri"/>
              </a:rPr>
              <a:t>No Language Left Behind — EN → Filipino offline (Hugging Face)</a:t>
            </a:r>
          </a:p>
        </p:txBody>
      </p:sp>
      <p:sp>
        <p:nvSpPr>
          <p:cNvPr id="35" name="TextBox 34"/>
          <p:cNvSpPr txBox="1"/>
          <p:nvPr/>
        </p:nvSpPr>
        <p:spPr>
          <a:xfrm>
            <a:off x="2743200" y="5687567"/>
            <a:ext cx="731520" cy="91440"/>
          </a:xfrm>
          <a:prstGeom prst="rect">
            <a:avLst/>
          </a:prstGeom>
          <a:noFill/>
        </p:spPr>
        <p:txBody>
          <a:bodyPr wrap="square">
            <a:spAutoFit/>
          </a:bodyPr>
          <a:lstStyle/>
          <a:p>
            <a:pPr algn="ctr"/>
            <a:r>
              <a:rPr sz="700" b="0" i="0">
                <a:solidFill>
                  <a:srgbClr val="707A6C"/>
                </a:solidFill>
                <a:latin typeface="Calibri"/>
              </a:rPr>
              <a:t>▼</a:t>
            </a:r>
          </a:p>
        </p:txBody>
      </p:sp>
      <p:sp>
        <p:nvSpPr>
          <p:cNvPr id="36" name="Rectangle 35"/>
          <p:cNvSpPr/>
          <p:nvPr/>
        </p:nvSpPr>
        <p:spPr>
          <a:xfrm>
            <a:off x="457200" y="5760720"/>
            <a:ext cx="5760720" cy="530352"/>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5806440"/>
            <a:ext cx="5303520" cy="228600"/>
          </a:xfrm>
          <a:prstGeom prst="rect">
            <a:avLst/>
          </a:prstGeom>
          <a:noFill/>
        </p:spPr>
        <p:txBody>
          <a:bodyPr wrap="square">
            <a:spAutoFit/>
          </a:bodyPr>
          <a:lstStyle/>
          <a:p>
            <a:pPr algn="ctr"/>
            <a:r>
              <a:rPr sz="1050" b="1" i="0">
                <a:solidFill>
                  <a:srgbClr val="0D631B"/>
                </a:solidFill>
                <a:latin typeface="Calibri"/>
              </a:rPr>
              <a:t>SQLite Database</a:t>
            </a:r>
          </a:p>
        </p:txBody>
      </p:sp>
      <p:sp>
        <p:nvSpPr>
          <p:cNvPr id="38" name="TextBox 37"/>
          <p:cNvSpPr txBox="1"/>
          <p:nvPr/>
        </p:nvSpPr>
        <p:spPr>
          <a:xfrm>
            <a:off x="566928" y="6044184"/>
            <a:ext cx="5303520" cy="219456"/>
          </a:xfrm>
          <a:prstGeom prst="rect">
            <a:avLst/>
          </a:prstGeom>
          <a:noFill/>
        </p:spPr>
        <p:txBody>
          <a:bodyPr wrap="square">
            <a:spAutoFit/>
          </a:bodyPr>
          <a:lstStyle/>
          <a:p>
            <a:pPr algn="ctr"/>
            <a:r>
              <a:rPr sz="900" b="0" i="0">
                <a:solidFill>
                  <a:srgbClr val="0D631B"/>
                </a:solidFill>
                <a:latin typeface="Calibri"/>
              </a:rPr>
              <a:t>.db file on local disk — no database server needed</a:t>
            </a:r>
          </a:p>
        </p:txBody>
      </p:sp>
      <p:sp>
        <p:nvSpPr>
          <p:cNvPr id="39" name="Rectangle 38"/>
          <p:cNvSpPr/>
          <p:nvPr/>
        </p:nvSpPr>
        <p:spPr>
          <a:xfrm>
            <a:off x="6537960" y="1005840"/>
            <a:ext cx="5349240" cy="320040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75120" y="1078992"/>
            <a:ext cx="5074920" cy="347472"/>
          </a:xfrm>
          <a:prstGeom prst="rect">
            <a:avLst/>
          </a:prstGeom>
          <a:noFill/>
        </p:spPr>
        <p:txBody>
          <a:bodyPr wrap="square">
            <a:spAutoFit/>
          </a:bodyPr>
          <a:lstStyle/>
          <a:p>
            <a:pPr algn="l"/>
            <a:r>
              <a:rPr sz="1300" b="1" i="0">
                <a:solidFill>
                  <a:srgbClr val="0D631B"/>
                </a:solidFill>
                <a:latin typeface="Calibri"/>
              </a:rPr>
              <a:t>Why the AI Core Must Be Offline</a:t>
            </a:r>
          </a:p>
        </p:txBody>
      </p:sp>
      <p:sp>
        <p:nvSpPr>
          <p:cNvPr id="41" name="Rectangle 40"/>
          <p:cNvSpPr/>
          <p:nvPr/>
        </p:nvSpPr>
        <p:spPr>
          <a:xfrm>
            <a:off x="6675120" y="1572768"/>
            <a:ext cx="1572768" cy="109728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75120" y="1627632"/>
            <a:ext cx="1572768" cy="594360"/>
          </a:xfrm>
          <a:prstGeom prst="rect">
            <a:avLst/>
          </a:prstGeom>
          <a:noFill/>
        </p:spPr>
        <p:txBody>
          <a:bodyPr wrap="square">
            <a:spAutoFit/>
          </a:bodyPr>
          <a:lstStyle/>
          <a:p>
            <a:pPr algn="ctr"/>
            <a:r>
              <a:rPr sz="1400" b="1" i="0">
                <a:solidFill>
                  <a:srgbClr val="FFFFFF"/>
                </a:solidFill>
                <a:latin typeface="Calibri"/>
              </a:rPr>
              <a:t>40%</a:t>
            </a:r>
          </a:p>
        </p:txBody>
      </p:sp>
      <p:sp>
        <p:nvSpPr>
          <p:cNvPr id="43" name="TextBox 42"/>
          <p:cNvSpPr txBox="1"/>
          <p:nvPr/>
        </p:nvSpPr>
        <p:spPr>
          <a:xfrm>
            <a:off x="6675120" y="2240280"/>
            <a:ext cx="1572768" cy="384048"/>
          </a:xfrm>
          <a:prstGeom prst="rect">
            <a:avLst/>
          </a:prstGeom>
          <a:noFill/>
        </p:spPr>
        <p:txBody>
          <a:bodyPr wrap="square">
            <a:spAutoFit/>
          </a:bodyPr>
          <a:lstStyle/>
          <a:p>
            <a:pPr algn="ctr"/>
            <a:r>
              <a:rPr sz="850" b="0" i="0">
                <a:solidFill>
                  <a:srgbClr val="FFFFFF"/>
                </a:solidFill>
                <a:latin typeface="Calibri"/>
              </a:rPr>
              <a:t>of rural barangays
have unreliable internet
(DICT 2023)</a:t>
            </a:r>
          </a:p>
        </p:txBody>
      </p:sp>
      <p:sp>
        <p:nvSpPr>
          <p:cNvPr id="44" name="Rectangle 43"/>
          <p:cNvSpPr/>
          <p:nvPr/>
        </p:nvSpPr>
        <p:spPr>
          <a:xfrm>
            <a:off x="8430768" y="1572768"/>
            <a:ext cx="1572768" cy="10972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30768" y="1627632"/>
            <a:ext cx="1572768" cy="594360"/>
          </a:xfrm>
          <a:prstGeom prst="rect">
            <a:avLst/>
          </a:prstGeom>
          <a:noFill/>
        </p:spPr>
        <p:txBody>
          <a:bodyPr wrap="square">
            <a:spAutoFit/>
          </a:bodyPr>
          <a:lstStyle/>
          <a:p>
            <a:pPr algn="ctr"/>
            <a:r>
              <a:rPr sz="1400" b="1" i="0">
                <a:solidFill>
                  <a:srgbClr val="FFFFFF"/>
                </a:solidFill>
                <a:latin typeface="Calibri"/>
              </a:rPr>
              <a:t>₱0/month</a:t>
            </a:r>
          </a:p>
        </p:txBody>
      </p:sp>
      <p:sp>
        <p:nvSpPr>
          <p:cNvPr id="46" name="TextBox 45"/>
          <p:cNvSpPr txBox="1"/>
          <p:nvPr/>
        </p:nvSpPr>
        <p:spPr>
          <a:xfrm>
            <a:off x="8430768" y="2240280"/>
            <a:ext cx="1572768" cy="384048"/>
          </a:xfrm>
          <a:prstGeom prst="rect">
            <a:avLst/>
          </a:prstGeom>
          <a:noFill/>
        </p:spPr>
        <p:txBody>
          <a:bodyPr wrap="square">
            <a:spAutoFit/>
          </a:bodyPr>
          <a:lstStyle/>
          <a:p>
            <a:pPr algn="ctr"/>
            <a:r>
              <a:rPr sz="850" b="0" i="0">
                <a:solidFill>
                  <a:srgbClr val="FFFFFF"/>
                </a:solidFill>
                <a:latin typeface="Calibri"/>
              </a:rPr>
              <a:t>cloud AI cost
vs ₱3,000+/mo
for cloud LLMs</a:t>
            </a:r>
          </a:p>
        </p:txBody>
      </p:sp>
      <p:sp>
        <p:nvSpPr>
          <p:cNvPr id="47" name="Rectangle 46"/>
          <p:cNvSpPr/>
          <p:nvPr/>
        </p:nvSpPr>
        <p:spPr>
          <a:xfrm>
            <a:off x="10186416" y="1572768"/>
            <a:ext cx="1572768" cy="1097280"/>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186416" y="1627632"/>
            <a:ext cx="1572768" cy="594360"/>
          </a:xfrm>
          <a:prstGeom prst="rect">
            <a:avLst/>
          </a:prstGeom>
          <a:noFill/>
        </p:spPr>
        <p:txBody>
          <a:bodyPr wrap="square">
            <a:spAutoFit/>
          </a:bodyPr>
          <a:lstStyle/>
          <a:p>
            <a:pPr algn="ctr"/>
            <a:r>
              <a:rPr sz="1400" b="1" i="0">
                <a:solidFill>
                  <a:srgbClr val="FFFFFF"/>
                </a:solidFill>
                <a:latin typeface="Calibri"/>
              </a:rPr>
              <a:t>Qwen
Offline</a:t>
            </a:r>
          </a:p>
        </p:txBody>
      </p:sp>
      <p:sp>
        <p:nvSpPr>
          <p:cNvPr id="49" name="TextBox 48"/>
          <p:cNvSpPr txBox="1"/>
          <p:nvPr/>
        </p:nvSpPr>
        <p:spPr>
          <a:xfrm>
            <a:off x="10186416" y="2240280"/>
            <a:ext cx="1572768" cy="384048"/>
          </a:xfrm>
          <a:prstGeom prst="rect">
            <a:avLst/>
          </a:prstGeom>
          <a:noFill/>
        </p:spPr>
        <p:txBody>
          <a:bodyPr wrap="square">
            <a:spAutoFit/>
          </a:bodyPr>
          <a:lstStyle/>
          <a:p>
            <a:pPr algn="ctr"/>
            <a:r>
              <a:rPr sz="850" b="0" i="0">
                <a:solidFill>
                  <a:srgbClr val="FFFFFF"/>
                </a:solidFill>
                <a:latin typeface="Calibri"/>
              </a:rPr>
              <a:t>AI recommendation
continues even
when internet is down</a:t>
            </a:r>
          </a:p>
        </p:txBody>
      </p:sp>
      <p:sp>
        <p:nvSpPr>
          <p:cNvPr id="50" name="TextBox 49"/>
          <p:cNvSpPr txBox="1"/>
          <p:nvPr/>
        </p:nvSpPr>
        <p:spPr>
          <a:xfrm>
            <a:off x="6675120" y="2788920"/>
            <a:ext cx="5074920" cy="1298448"/>
          </a:xfrm>
          <a:prstGeom prst="rect">
            <a:avLst/>
          </a:prstGeom>
          <a:noFill/>
        </p:spPr>
        <p:txBody>
          <a:bodyPr wrap="square">
            <a:spAutoFit/>
          </a:bodyPr>
          <a:lstStyle/>
          <a:p>
            <a:pPr algn="l"/>
            <a:r>
              <a:rPr sz="1100" b="0" i="0">
                <a:solidFill>
                  <a:srgbClr val="181D17"/>
                </a:solidFill>
                <a:latin typeface="Calibri"/>
              </a:rPr>
              <a:t>The Google Maps integration (online) is used only for farm mapping and visualization. All AI decisions — Qwen crop recommendation, NLLB Filipino translation, and Random Forest model inference — run fully offline on the cooperative's own server. Farmers in areas with no internet still receive AI-powered guidance.</a:t>
            </a:r>
          </a:p>
        </p:txBody>
      </p:sp>
      <p:sp>
        <p:nvSpPr>
          <p:cNvPr id="66" name="TextBox 65"/>
          <p:cNvSpPr txBox="1"/>
          <p:nvPr/>
        </p:nvSpPr>
        <p:spPr>
          <a:xfrm>
            <a:off x="8229600" y="6638544"/>
            <a:ext cx="3566160" cy="256032"/>
          </a:xfrm>
          <a:prstGeom prst="rect">
            <a:avLst/>
          </a:prstGeom>
          <a:noFill/>
        </p:spPr>
        <p:txBody>
          <a:bodyPr wrap="square">
            <a:spAutoFit/>
          </a:bodyPr>
          <a:lstStyle/>
          <a:p>
            <a:pPr algn="l"/>
            <a:r>
              <a:rPr sz="950" b="1" i="0">
                <a:solidFill>
                  <a:srgbClr val="FFFFFF"/>
                </a:solidFill>
                <a:latin typeface="Calibri"/>
              </a:rPr>
              <a:t>₱464,800  (₱428,000 setup + ₱18,400 × 2 recurring)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ROI Model: Time Saved × Cost × Volume</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Local wage rates  ·  PSA &amp; PhilRice unit-cost data  ·  Conservative scenario  ·  30 farmers  ·  45 hectares</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6</a:t>
            </a:r>
          </a:p>
        </p:txBody>
      </p:sp>
      <p:sp>
        <p:nvSpPr>
          <p:cNvPr id="7" name="Rectangle 6"/>
          <p:cNvSpPr/>
          <p:nvPr/>
        </p:nvSpPr>
        <p:spPr>
          <a:xfrm>
            <a:off x="320040" y="1005840"/>
            <a:ext cx="11567160" cy="658368"/>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78992"/>
            <a:ext cx="11247120" cy="502920"/>
          </a:xfrm>
          <a:prstGeom prst="rect">
            <a:avLst/>
          </a:prstGeom>
          <a:noFill/>
        </p:spPr>
        <p:txBody>
          <a:bodyPr wrap="square">
            <a:spAutoFit/>
          </a:bodyPr>
          <a:lstStyle/>
          <a:p>
            <a:pPr algn="ctr"/>
            <a:r>
              <a:rPr sz="1600" b="1" i="0">
                <a:solidFill>
                  <a:srgbClr val="FFFFFF"/>
                </a:solidFill>
                <a:latin typeface="Calibri"/>
              </a:rPr>
              <a:t>ROI  =  (Total Annual Benefit − Total Annual Cost)  ÷  Total Annual Cost  ×  100</a:t>
            </a:r>
          </a:p>
        </p:txBody>
      </p:sp>
      <p:sp>
        <p:nvSpPr>
          <p:cNvPr id="9" name="Rectangle 8"/>
          <p:cNvSpPr/>
          <p:nvPr/>
        </p:nvSpPr>
        <p:spPr>
          <a:xfrm>
            <a:off x="320040" y="1783080"/>
            <a:ext cx="2231136" cy="86868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828800"/>
            <a:ext cx="2231136" cy="502920"/>
          </a:xfrm>
          <a:prstGeom prst="rect">
            <a:avLst/>
          </a:prstGeom>
          <a:noFill/>
        </p:spPr>
        <p:txBody>
          <a:bodyPr wrap="square">
            <a:spAutoFit/>
          </a:bodyPr>
          <a:lstStyle/>
          <a:p>
            <a:pPr algn="ctr"/>
            <a:r>
              <a:rPr sz="2000" b="1" i="0">
                <a:solidFill>
                  <a:srgbClr val="FFFFFF"/>
                </a:solidFill>
                <a:latin typeface="Calibri"/>
              </a:rPr>
              <a:t>₱453,960</a:t>
            </a:r>
          </a:p>
        </p:txBody>
      </p:sp>
      <p:sp>
        <p:nvSpPr>
          <p:cNvPr id="11" name="TextBox 10"/>
          <p:cNvSpPr txBox="1"/>
          <p:nvPr/>
        </p:nvSpPr>
        <p:spPr>
          <a:xfrm>
            <a:off x="320040" y="2304288"/>
            <a:ext cx="2231136" cy="274320"/>
          </a:xfrm>
          <a:prstGeom prst="rect">
            <a:avLst/>
          </a:prstGeom>
          <a:noFill/>
        </p:spPr>
        <p:txBody>
          <a:bodyPr wrap="square">
            <a:spAutoFit/>
          </a:bodyPr>
          <a:lstStyle/>
          <a:p>
            <a:pPr algn="ctr"/>
            <a:r>
              <a:rPr sz="950" b="0" i="0">
                <a:solidFill>
                  <a:srgbClr val="FFFFFF"/>
                </a:solidFill>
                <a:latin typeface="Calibri"/>
              </a:rPr>
              <a:t>Annual Benefit</a:t>
            </a:r>
          </a:p>
        </p:txBody>
      </p:sp>
      <p:sp>
        <p:nvSpPr>
          <p:cNvPr id="12" name="Rectangle 11"/>
          <p:cNvSpPr/>
          <p:nvPr/>
        </p:nvSpPr>
        <p:spPr>
          <a:xfrm>
            <a:off x="2624328" y="1783080"/>
            <a:ext cx="2231136" cy="86868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24328" y="1828800"/>
            <a:ext cx="2231136" cy="502920"/>
          </a:xfrm>
          <a:prstGeom prst="rect">
            <a:avLst/>
          </a:prstGeom>
          <a:noFill/>
        </p:spPr>
        <p:txBody>
          <a:bodyPr wrap="square">
            <a:spAutoFit/>
          </a:bodyPr>
          <a:lstStyle/>
          <a:p>
            <a:pPr algn="ctr"/>
            <a:r>
              <a:rPr sz="2000" b="1" i="0">
                <a:solidFill>
                  <a:srgbClr val="FFFFFF"/>
                </a:solidFill>
                <a:latin typeface="Calibri"/>
              </a:rPr>
              <a:t>₱428,000</a:t>
            </a:r>
          </a:p>
        </p:txBody>
      </p:sp>
      <p:sp>
        <p:nvSpPr>
          <p:cNvPr id="14" name="TextBox 13"/>
          <p:cNvSpPr txBox="1"/>
          <p:nvPr/>
        </p:nvSpPr>
        <p:spPr>
          <a:xfrm>
            <a:off x="2624328" y="2304288"/>
            <a:ext cx="2231136" cy="274320"/>
          </a:xfrm>
          <a:prstGeom prst="rect">
            <a:avLst/>
          </a:prstGeom>
          <a:noFill/>
        </p:spPr>
        <p:txBody>
          <a:bodyPr wrap="square">
            <a:spAutoFit/>
          </a:bodyPr>
          <a:lstStyle/>
          <a:p>
            <a:pPr algn="ctr"/>
            <a:r>
              <a:rPr sz="950" b="0" i="0">
                <a:solidFill>
                  <a:srgbClr val="FFFFFF"/>
                </a:solidFill>
                <a:latin typeface="Calibri"/>
              </a:rPr>
              <a:t>Year 1 Total Cost</a:t>
            </a:r>
          </a:p>
        </p:txBody>
      </p:sp>
      <p:sp>
        <p:nvSpPr>
          <p:cNvPr id="15" name="Rectangle 14"/>
          <p:cNvSpPr/>
          <p:nvPr/>
        </p:nvSpPr>
        <p:spPr>
          <a:xfrm>
            <a:off x="4928616" y="1783080"/>
            <a:ext cx="2231136" cy="8686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28616" y="1828800"/>
            <a:ext cx="2231136" cy="502920"/>
          </a:xfrm>
          <a:prstGeom prst="rect">
            <a:avLst/>
          </a:prstGeom>
          <a:noFill/>
        </p:spPr>
        <p:txBody>
          <a:bodyPr wrap="square">
            <a:spAutoFit/>
          </a:bodyPr>
          <a:lstStyle/>
          <a:p>
            <a:pPr algn="ctr"/>
            <a:r>
              <a:rPr sz="2000" b="1" i="0">
                <a:solidFill>
                  <a:srgbClr val="FFFFFF"/>
                </a:solidFill>
                <a:latin typeface="Calibri"/>
              </a:rPr>
              <a:t>₱25,960</a:t>
            </a:r>
          </a:p>
        </p:txBody>
      </p:sp>
      <p:sp>
        <p:nvSpPr>
          <p:cNvPr id="17" name="TextBox 16"/>
          <p:cNvSpPr txBox="1"/>
          <p:nvPr/>
        </p:nvSpPr>
        <p:spPr>
          <a:xfrm>
            <a:off x="4928616" y="2304288"/>
            <a:ext cx="2231136" cy="274320"/>
          </a:xfrm>
          <a:prstGeom prst="rect">
            <a:avLst/>
          </a:prstGeom>
          <a:noFill/>
        </p:spPr>
        <p:txBody>
          <a:bodyPr wrap="square">
            <a:spAutoFit/>
          </a:bodyPr>
          <a:lstStyle/>
          <a:p>
            <a:pPr algn="ctr"/>
            <a:r>
              <a:rPr sz="950" b="0" i="0">
                <a:solidFill>
                  <a:srgbClr val="FFFFFF"/>
                </a:solidFill>
                <a:latin typeface="Calibri"/>
              </a:rPr>
              <a:t>Year 1 Net</a:t>
            </a:r>
          </a:p>
        </p:txBody>
      </p:sp>
      <p:sp>
        <p:nvSpPr>
          <p:cNvPr id="18" name="Rectangle 17"/>
          <p:cNvSpPr/>
          <p:nvPr/>
        </p:nvSpPr>
        <p:spPr>
          <a:xfrm>
            <a:off x="7232904" y="1783080"/>
            <a:ext cx="2231136" cy="86868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32904" y="1828800"/>
            <a:ext cx="2231136" cy="502920"/>
          </a:xfrm>
          <a:prstGeom prst="rect">
            <a:avLst/>
          </a:prstGeom>
          <a:noFill/>
        </p:spPr>
        <p:txBody>
          <a:bodyPr wrap="square">
            <a:spAutoFit/>
          </a:bodyPr>
          <a:lstStyle/>
          <a:p>
            <a:pPr algn="ctr"/>
            <a:r>
              <a:rPr sz="2000" b="1" i="0">
                <a:solidFill>
                  <a:srgbClr val="755B00"/>
                </a:solidFill>
                <a:latin typeface="Calibri"/>
              </a:rPr>
              <a:t>193%</a:t>
            </a:r>
          </a:p>
        </p:txBody>
      </p:sp>
      <p:sp>
        <p:nvSpPr>
          <p:cNvPr id="20" name="TextBox 19"/>
          <p:cNvSpPr txBox="1"/>
          <p:nvPr/>
        </p:nvSpPr>
        <p:spPr>
          <a:xfrm>
            <a:off x="7232904" y="2304288"/>
            <a:ext cx="2231136" cy="274320"/>
          </a:xfrm>
          <a:prstGeom prst="rect">
            <a:avLst/>
          </a:prstGeom>
          <a:noFill/>
        </p:spPr>
        <p:txBody>
          <a:bodyPr wrap="square">
            <a:spAutoFit/>
          </a:bodyPr>
          <a:lstStyle/>
          <a:p>
            <a:pPr algn="ctr"/>
            <a:r>
              <a:rPr sz="950" b="0" i="0">
                <a:solidFill>
                  <a:srgbClr val="755B00"/>
                </a:solidFill>
                <a:latin typeface="Calibri"/>
              </a:rPr>
              <a:t>3-Year ROI</a:t>
            </a:r>
          </a:p>
        </p:txBody>
      </p:sp>
      <p:sp>
        <p:nvSpPr>
          <p:cNvPr id="21" name="Rectangle 20"/>
          <p:cNvSpPr/>
          <p:nvPr/>
        </p:nvSpPr>
        <p:spPr>
          <a:xfrm>
            <a:off x="9537192" y="1783080"/>
            <a:ext cx="2231136" cy="86868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37192" y="1828800"/>
            <a:ext cx="2231136" cy="502920"/>
          </a:xfrm>
          <a:prstGeom prst="rect">
            <a:avLst/>
          </a:prstGeom>
          <a:noFill/>
        </p:spPr>
        <p:txBody>
          <a:bodyPr wrap="square">
            <a:spAutoFit/>
          </a:bodyPr>
          <a:lstStyle/>
          <a:p>
            <a:pPr algn="ctr"/>
            <a:r>
              <a:rPr sz="2000" b="1" i="0">
                <a:solidFill>
                  <a:srgbClr val="FFFFFF"/>
                </a:solidFill>
                <a:latin typeface="Calibri"/>
              </a:rPr>
              <a:t>~11 mos</a:t>
            </a:r>
          </a:p>
        </p:txBody>
      </p:sp>
      <p:sp>
        <p:nvSpPr>
          <p:cNvPr id="23" name="TextBox 22"/>
          <p:cNvSpPr txBox="1"/>
          <p:nvPr/>
        </p:nvSpPr>
        <p:spPr>
          <a:xfrm>
            <a:off x="9537192" y="2304288"/>
            <a:ext cx="2231136" cy="274320"/>
          </a:xfrm>
          <a:prstGeom prst="rect">
            <a:avLst/>
          </a:prstGeom>
          <a:noFill/>
        </p:spPr>
        <p:txBody>
          <a:bodyPr wrap="square">
            <a:spAutoFit/>
          </a:bodyPr>
          <a:lstStyle/>
          <a:p>
            <a:pPr algn="ctr"/>
            <a:r>
              <a:rPr sz="950" b="0" i="0">
                <a:solidFill>
                  <a:srgbClr val="FFFFFF"/>
                </a:solidFill>
                <a:latin typeface="Calibri"/>
              </a:rPr>
              <a:t>Payback Period</a:t>
            </a:r>
          </a:p>
        </p:txBody>
      </p:sp>
      <p:sp>
        <p:nvSpPr>
          <p:cNvPr id="24" name="Rectangle 23"/>
          <p:cNvSpPr/>
          <p:nvPr/>
        </p:nvSpPr>
        <p:spPr>
          <a:xfrm>
            <a:off x="320040" y="2788920"/>
            <a:ext cx="7178040" cy="384048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2862072"/>
            <a:ext cx="6903720" cy="347472"/>
          </a:xfrm>
          <a:prstGeom prst="rect">
            <a:avLst/>
          </a:prstGeom>
          <a:noFill/>
        </p:spPr>
        <p:txBody>
          <a:bodyPr wrap="square">
            <a:spAutoFit/>
          </a:bodyPr>
          <a:lstStyle/>
          <a:p>
            <a:pPr algn="l"/>
            <a:r>
              <a:rPr sz="1300" b="1" i="0">
                <a:solidFill>
                  <a:srgbClr val="0D631B"/>
                </a:solidFill>
                <a:latin typeface="Calibri"/>
              </a:rPr>
              <a:t>Annual Benefit Breakdown</a:t>
            </a:r>
          </a:p>
        </p:txBody>
      </p:sp>
      <p:sp>
        <p:nvSpPr>
          <p:cNvPr id="26" name="Rectangle 25"/>
          <p:cNvSpPr/>
          <p:nvPr/>
        </p:nvSpPr>
        <p:spPr>
          <a:xfrm>
            <a:off x="365760" y="3264408"/>
            <a:ext cx="7086600" cy="347472"/>
          </a:xfrm>
          <a:prstGeom prst="rect">
            <a:avLst/>
          </a:prstGeom>
          <a:solidFill>
            <a:srgbClr val="E5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3291840"/>
            <a:ext cx="1828800" cy="274320"/>
          </a:xfrm>
          <a:prstGeom prst="rect">
            <a:avLst/>
          </a:prstGeom>
          <a:noFill/>
        </p:spPr>
        <p:txBody>
          <a:bodyPr wrap="square">
            <a:spAutoFit/>
          </a:bodyPr>
          <a:lstStyle/>
          <a:p>
            <a:pPr algn="l"/>
            <a:r>
              <a:rPr sz="950" b="1" i="0">
                <a:solidFill>
                  <a:srgbClr val="0D631B"/>
                </a:solidFill>
                <a:latin typeface="Calibri"/>
              </a:rPr>
              <a:t>Benefit Category</a:t>
            </a:r>
          </a:p>
        </p:txBody>
      </p:sp>
      <p:sp>
        <p:nvSpPr>
          <p:cNvPr id="28" name="TextBox 27"/>
          <p:cNvSpPr txBox="1"/>
          <p:nvPr/>
        </p:nvSpPr>
        <p:spPr>
          <a:xfrm>
            <a:off x="2286000" y="3291840"/>
            <a:ext cx="3749039" cy="274320"/>
          </a:xfrm>
          <a:prstGeom prst="rect">
            <a:avLst/>
          </a:prstGeom>
          <a:noFill/>
        </p:spPr>
        <p:txBody>
          <a:bodyPr wrap="square">
            <a:spAutoFit/>
          </a:bodyPr>
          <a:lstStyle/>
          <a:p>
            <a:pPr algn="l"/>
            <a:r>
              <a:rPr sz="950" b="1" i="0">
                <a:solidFill>
                  <a:srgbClr val="0D631B"/>
                </a:solidFill>
                <a:latin typeface="Calibri"/>
              </a:rPr>
              <a:t>Calculation</a:t>
            </a:r>
          </a:p>
        </p:txBody>
      </p:sp>
      <p:sp>
        <p:nvSpPr>
          <p:cNvPr id="29" name="TextBox 28"/>
          <p:cNvSpPr txBox="1"/>
          <p:nvPr/>
        </p:nvSpPr>
        <p:spPr>
          <a:xfrm>
            <a:off x="6035039" y="3291840"/>
            <a:ext cx="1463040" cy="274320"/>
          </a:xfrm>
          <a:prstGeom prst="rect">
            <a:avLst/>
          </a:prstGeom>
          <a:noFill/>
        </p:spPr>
        <p:txBody>
          <a:bodyPr wrap="square">
            <a:spAutoFit/>
          </a:bodyPr>
          <a:lstStyle/>
          <a:p>
            <a:pPr algn="l"/>
            <a:r>
              <a:rPr sz="950" b="1" i="0">
                <a:solidFill>
                  <a:srgbClr val="0D631B"/>
                </a:solidFill>
                <a:latin typeface="Calibri"/>
              </a:rPr>
              <a:t>Annual Value</a:t>
            </a:r>
          </a:p>
        </p:txBody>
      </p:sp>
      <p:sp>
        <p:nvSpPr>
          <p:cNvPr id="30" name="Rectangle 29"/>
          <p:cNvSpPr/>
          <p:nvPr/>
        </p:nvSpPr>
        <p:spPr>
          <a:xfrm>
            <a:off x="365760" y="3630168"/>
            <a:ext cx="7086600" cy="530352"/>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3703320"/>
            <a:ext cx="1737360" cy="384048"/>
          </a:xfrm>
          <a:prstGeom prst="rect">
            <a:avLst/>
          </a:prstGeom>
          <a:noFill/>
        </p:spPr>
        <p:txBody>
          <a:bodyPr wrap="square">
            <a:spAutoFit/>
          </a:bodyPr>
          <a:lstStyle/>
          <a:p>
            <a:pPr algn="l"/>
            <a:r>
              <a:rPr sz="1050" b="1" i="0">
                <a:solidFill>
                  <a:srgbClr val="0D631B"/>
                </a:solidFill>
                <a:latin typeface="Calibri"/>
              </a:rPr>
              <a:t>Yield Optimization</a:t>
            </a:r>
          </a:p>
        </p:txBody>
      </p:sp>
      <p:sp>
        <p:nvSpPr>
          <p:cNvPr id="32" name="TextBox 31"/>
          <p:cNvSpPr txBox="1"/>
          <p:nvPr/>
        </p:nvSpPr>
        <p:spPr>
          <a:xfrm>
            <a:off x="2331720" y="3703320"/>
            <a:ext cx="3657600" cy="384048"/>
          </a:xfrm>
          <a:prstGeom prst="rect">
            <a:avLst/>
          </a:prstGeom>
          <a:noFill/>
        </p:spPr>
        <p:txBody>
          <a:bodyPr wrap="square">
            <a:spAutoFit/>
          </a:bodyPr>
          <a:lstStyle/>
          <a:p>
            <a:pPr algn="l"/>
            <a:r>
              <a:rPr sz="900" b="0" i="0">
                <a:solidFill>
                  <a:srgbClr val="40493D"/>
                </a:solidFill>
                <a:latin typeface="Calibri"/>
              </a:rPr>
              <a:t>18 ha × 3.8 MT × 10% Qwen AI gain × 2 seasons × ₱18,000/MT</a:t>
            </a:r>
          </a:p>
        </p:txBody>
      </p:sp>
      <p:sp>
        <p:nvSpPr>
          <p:cNvPr id="33" name="TextBox 32"/>
          <p:cNvSpPr txBox="1"/>
          <p:nvPr/>
        </p:nvSpPr>
        <p:spPr>
          <a:xfrm>
            <a:off x="6035040" y="3721608"/>
            <a:ext cx="1371600" cy="347472"/>
          </a:xfrm>
          <a:prstGeom prst="rect">
            <a:avLst/>
          </a:prstGeom>
          <a:noFill/>
        </p:spPr>
        <p:txBody>
          <a:bodyPr wrap="square">
            <a:spAutoFit/>
          </a:bodyPr>
          <a:lstStyle/>
          <a:p>
            <a:pPr algn="r"/>
            <a:r>
              <a:rPr sz="1100" b="1" i="0">
                <a:solidFill>
                  <a:srgbClr val="0D631B"/>
                </a:solidFill>
                <a:latin typeface="Calibri"/>
              </a:rPr>
              <a:t>₱246,240</a:t>
            </a:r>
          </a:p>
        </p:txBody>
      </p:sp>
      <p:sp>
        <p:nvSpPr>
          <p:cNvPr id="34" name="Rectangle 33"/>
          <p:cNvSpPr/>
          <p:nvPr/>
        </p:nvSpPr>
        <p:spPr>
          <a:xfrm>
            <a:off x="365760" y="4197096"/>
            <a:ext cx="7086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4270248"/>
            <a:ext cx="1737360" cy="384048"/>
          </a:xfrm>
          <a:prstGeom prst="rect">
            <a:avLst/>
          </a:prstGeom>
          <a:noFill/>
        </p:spPr>
        <p:txBody>
          <a:bodyPr wrap="square">
            <a:spAutoFit/>
          </a:bodyPr>
          <a:lstStyle/>
          <a:p>
            <a:pPr algn="l"/>
            <a:r>
              <a:rPr sz="1050" b="1" i="0">
                <a:solidFill>
                  <a:srgbClr val="0D631B"/>
                </a:solidFill>
                <a:latin typeface="Calibri"/>
              </a:rPr>
              <a:t>Labor Savings</a:t>
            </a:r>
          </a:p>
        </p:txBody>
      </p:sp>
      <p:sp>
        <p:nvSpPr>
          <p:cNvPr id="36" name="TextBox 35"/>
          <p:cNvSpPr txBox="1"/>
          <p:nvPr/>
        </p:nvSpPr>
        <p:spPr>
          <a:xfrm>
            <a:off x="2331720" y="4270248"/>
            <a:ext cx="3657600" cy="384048"/>
          </a:xfrm>
          <a:prstGeom prst="rect">
            <a:avLst/>
          </a:prstGeom>
          <a:noFill/>
        </p:spPr>
        <p:txBody>
          <a:bodyPr wrap="square">
            <a:spAutoFit/>
          </a:bodyPr>
          <a:lstStyle/>
          <a:p>
            <a:pPr algn="l"/>
            <a:r>
              <a:rPr sz="900" b="0" i="0">
                <a:solidFill>
                  <a:srgbClr val="40493D"/>
                </a:solidFill>
                <a:latin typeface="Calibri"/>
              </a:rPr>
              <a:t>30 farms × 2 visits × 4 hrs × 60% reduction × ₱200/hr × 2</a:t>
            </a:r>
          </a:p>
        </p:txBody>
      </p:sp>
      <p:sp>
        <p:nvSpPr>
          <p:cNvPr id="37" name="TextBox 36"/>
          <p:cNvSpPr txBox="1"/>
          <p:nvPr/>
        </p:nvSpPr>
        <p:spPr>
          <a:xfrm>
            <a:off x="6035040" y="4288536"/>
            <a:ext cx="1371600" cy="347472"/>
          </a:xfrm>
          <a:prstGeom prst="rect">
            <a:avLst/>
          </a:prstGeom>
          <a:noFill/>
        </p:spPr>
        <p:txBody>
          <a:bodyPr wrap="square">
            <a:spAutoFit/>
          </a:bodyPr>
          <a:lstStyle/>
          <a:p>
            <a:pPr algn="r"/>
            <a:r>
              <a:rPr sz="1100" b="1" i="0">
                <a:solidFill>
                  <a:srgbClr val="0D631B"/>
                </a:solidFill>
                <a:latin typeface="Calibri"/>
              </a:rPr>
              <a:t>₱57,600</a:t>
            </a:r>
          </a:p>
        </p:txBody>
      </p:sp>
      <p:sp>
        <p:nvSpPr>
          <p:cNvPr id="38" name="Rectangle 37"/>
          <p:cNvSpPr/>
          <p:nvPr/>
        </p:nvSpPr>
        <p:spPr>
          <a:xfrm>
            <a:off x="365760" y="4764024"/>
            <a:ext cx="7086600" cy="530352"/>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4837176"/>
            <a:ext cx="1737360" cy="384048"/>
          </a:xfrm>
          <a:prstGeom prst="rect">
            <a:avLst/>
          </a:prstGeom>
          <a:noFill/>
        </p:spPr>
        <p:txBody>
          <a:bodyPr wrap="square">
            <a:spAutoFit/>
          </a:bodyPr>
          <a:lstStyle/>
          <a:p>
            <a:pPr algn="l"/>
            <a:r>
              <a:rPr sz="1050" b="1" i="0">
                <a:solidFill>
                  <a:srgbClr val="0D631B"/>
                </a:solidFill>
                <a:latin typeface="Calibri"/>
              </a:rPr>
              <a:t>Avoided Crop Failure</a:t>
            </a:r>
          </a:p>
        </p:txBody>
      </p:sp>
      <p:sp>
        <p:nvSpPr>
          <p:cNvPr id="40" name="TextBox 39"/>
          <p:cNvSpPr txBox="1"/>
          <p:nvPr/>
        </p:nvSpPr>
        <p:spPr>
          <a:xfrm>
            <a:off x="2331720" y="4837176"/>
            <a:ext cx="3657600" cy="384048"/>
          </a:xfrm>
          <a:prstGeom prst="rect">
            <a:avLst/>
          </a:prstGeom>
          <a:noFill/>
        </p:spPr>
        <p:txBody>
          <a:bodyPr wrap="square">
            <a:spAutoFit/>
          </a:bodyPr>
          <a:lstStyle/>
          <a:p>
            <a:pPr algn="l"/>
            <a:r>
              <a:rPr sz="900" b="0" i="0">
                <a:solidFill>
                  <a:srgbClr val="40493D"/>
                </a:solidFill>
                <a:latin typeface="Calibri"/>
              </a:rPr>
              <a:t>18 ha × 5% loss prevention × ₱136,800/ha/yr</a:t>
            </a:r>
          </a:p>
        </p:txBody>
      </p:sp>
      <p:sp>
        <p:nvSpPr>
          <p:cNvPr id="41" name="TextBox 40"/>
          <p:cNvSpPr txBox="1"/>
          <p:nvPr/>
        </p:nvSpPr>
        <p:spPr>
          <a:xfrm>
            <a:off x="6035040" y="4855464"/>
            <a:ext cx="1371600" cy="347472"/>
          </a:xfrm>
          <a:prstGeom prst="rect">
            <a:avLst/>
          </a:prstGeom>
          <a:noFill/>
        </p:spPr>
        <p:txBody>
          <a:bodyPr wrap="square">
            <a:spAutoFit/>
          </a:bodyPr>
          <a:lstStyle/>
          <a:p>
            <a:pPr algn="r"/>
            <a:r>
              <a:rPr sz="1100" b="1" i="0">
                <a:solidFill>
                  <a:srgbClr val="0D631B"/>
                </a:solidFill>
                <a:latin typeface="Calibri"/>
              </a:rPr>
              <a:t>₱123,120</a:t>
            </a:r>
          </a:p>
        </p:txBody>
      </p:sp>
      <p:sp>
        <p:nvSpPr>
          <p:cNvPr id="42" name="Rectangle 41"/>
          <p:cNvSpPr/>
          <p:nvPr/>
        </p:nvSpPr>
        <p:spPr>
          <a:xfrm>
            <a:off x="365760" y="5330952"/>
            <a:ext cx="7086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5404104"/>
            <a:ext cx="1737360" cy="384048"/>
          </a:xfrm>
          <a:prstGeom prst="rect">
            <a:avLst/>
          </a:prstGeom>
          <a:noFill/>
        </p:spPr>
        <p:txBody>
          <a:bodyPr wrap="square">
            <a:spAutoFit/>
          </a:bodyPr>
          <a:lstStyle/>
          <a:p>
            <a:pPr algn="l"/>
            <a:r>
              <a:rPr sz="1050" b="1" i="0">
                <a:solidFill>
                  <a:srgbClr val="0D631B"/>
                </a:solidFill>
                <a:latin typeface="Calibri"/>
              </a:rPr>
              <a:t>Fertilizer Optimization</a:t>
            </a:r>
          </a:p>
        </p:txBody>
      </p:sp>
      <p:sp>
        <p:nvSpPr>
          <p:cNvPr id="44" name="TextBox 43"/>
          <p:cNvSpPr txBox="1"/>
          <p:nvPr/>
        </p:nvSpPr>
        <p:spPr>
          <a:xfrm>
            <a:off x="2331720" y="5404104"/>
            <a:ext cx="3657600" cy="384048"/>
          </a:xfrm>
          <a:prstGeom prst="rect">
            <a:avLst/>
          </a:prstGeom>
          <a:noFill/>
        </p:spPr>
        <p:txBody>
          <a:bodyPr wrap="square">
            <a:spAutoFit/>
          </a:bodyPr>
          <a:lstStyle/>
          <a:p>
            <a:pPr algn="l"/>
            <a:r>
              <a:rPr sz="900" b="0" i="0">
                <a:solidFill>
                  <a:srgbClr val="40493D"/>
                </a:solidFill>
                <a:latin typeface="Calibri"/>
              </a:rPr>
              <a:t>18 ha × ₱15,000/ha × 10% reduction (sensor-guided)</a:t>
            </a:r>
          </a:p>
        </p:txBody>
      </p:sp>
      <p:sp>
        <p:nvSpPr>
          <p:cNvPr id="45" name="TextBox 44"/>
          <p:cNvSpPr txBox="1"/>
          <p:nvPr/>
        </p:nvSpPr>
        <p:spPr>
          <a:xfrm>
            <a:off x="6035040" y="5422392"/>
            <a:ext cx="1371600" cy="347472"/>
          </a:xfrm>
          <a:prstGeom prst="rect">
            <a:avLst/>
          </a:prstGeom>
          <a:noFill/>
        </p:spPr>
        <p:txBody>
          <a:bodyPr wrap="square">
            <a:spAutoFit/>
          </a:bodyPr>
          <a:lstStyle/>
          <a:p>
            <a:pPr algn="r"/>
            <a:r>
              <a:rPr sz="1100" b="1" i="0">
                <a:solidFill>
                  <a:srgbClr val="0D631B"/>
                </a:solidFill>
                <a:latin typeface="Calibri"/>
              </a:rPr>
              <a:t>₱27,000</a:t>
            </a:r>
          </a:p>
        </p:txBody>
      </p:sp>
      <p:sp>
        <p:nvSpPr>
          <p:cNvPr id="46" name="Rectangle 45"/>
          <p:cNvSpPr/>
          <p:nvPr/>
        </p:nvSpPr>
        <p:spPr>
          <a:xfrm>
            <a:off x="365760" y="5916168"/>
            <a:ext cx="7086600" cy="50292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7200" y="5961888"/>
            <a:ext cx="5029200" cy="365760"/>
          </a:xfrm>
          <a:prstGeom prst="rect">
            <a:avLst/>
          </a:prstGeom>
          <a:noFill/>
        </p:spPr>
        <p:txBody>
          <a:bodyPr wrap="square">
            <a:spAutoFit/>
          </a:bodyPr>
          <a:lstStyle/>
          <a:p>
            <a:pPr algn="l"/>
            <a:r>
              <a:rPr sz="1200" b="1" i="0">
                <a:solidFill>
                  <a:srgbClr val="FFFFFF"/>
                </a:solidFill>
                <a:latin typeface="Calibri"/>
              </a:rPr>
              <a:t>TOTAL ANNUAL BENEFIT</a:t>
            </a:r>
          </a:p>
        </p:txBody>
      </p:sp>
      <p:sp>
        <p:nvSpPr>
          <p:cNvPr id="48" name="TextBox 47"/>
          <p:cNvSpPr txBox="1"/>
          <p:nvPr/>
        </p:nvSpPr>
        <p:spPr>
          <a:xfrm>
            <a:off x="6035040" y="5961888"/>
            <a:ext cx="1371600" cy="365760"/>
          </a:xfrm>
          <a:prstGeom prst="rect">
            <a:avLst/>
          </a:prstGeom>
          <a:noFill/>
        </p:spPr>
        <p:txBody>
          <a:bodyPr wrap="square">
            <a:spAutoFit/>
          </a:bodyPr>
          <a:lstStyle/>
          <a:p>
            <a:pPr algn="r"/>
            <a:r>
              <a:rPr sz="1400" b="1" i="0">
                <a:solidFill>
                  <a:srgbClr val="FED255"/>
                </a:solidFill>
                <a:latin typeface="Calibri"/>
              </a:rPr>
              <a:t>₱453,960</a:t>
            </a:r>
          </a:p>
        </p:txBody>
      </p:sp>
      <p:sp>
        <p:nvSpPr>
          <p:cNvPr id="49" name="Rectangle 48"/>
          <p:cNvSpPr/>
          <p:nvPr/>
        </p:nvSpPr>
        <p:spPr>
          <a:xfrm>
            <a:off x="7772400" y="2788920"/>
            <a:ext cx="4114800" cy="4544568"/>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909560" y="2862072"/>
            <a:ext cx="3840480" cy="347472"/>
          </a:xfrm>
          <a:prstGeom prst="rect">
            <a:avLst/>
          </a:prstGeom>
          <a:noFill/>
        </p:spPr>
        <p:txBody>
          <a:bodyPr wrap="square">
            <a:spAutoFit/>
          </a:bodyPr>
          <a:lstStyle/>
          <a:p>
            <a:pPr algn="l"/>
            <a:r>
              <a:rPr sz="1300" b="1" i="0">
                <a:solidFill>
                  <a:srgbClr val="0D631B"/>
                </a:solidFill>
                <a:latin typeface="Calibri"/>
              </a:rPr>
              <a:t>IoT Sensor Node — Cost per Unit</a:t>
            </a:r>
          </a:p>
        </p:txBody>
      </p:sp>
      <p:sp>
        <p:nvSpPr>
          <p:cNvPr id="51" name="Rectangle 50"/>
          <p:cNvSpPr/>
          <p:nvPr/>
        </p:nvSpPr>
        <p:spPr>
          <a:xfrm>
            <a:off x="7818120" y="3246120"/>
            <a:ext cx="4023360" cy="301752"/>
          </a:xfrm>
          <a:prstGeom prst="rect">
            <a:avLst/>
          </a:prstGeom>
          <a:solidFill>
            <a:srgbClr val="E5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909560" y="3273552"/>
            <a:ext cx="2743200" cy="228600"/>
          </a:xfrm>
          <a:prstGeom prst="rect">
            <a:avLst/>
          </a:prstGeom>
          <a:noFill/>
        </p:spPr>
        <p:txBody>
          <a:bodyPr wrap="square">
            <a:spAutoFit/>
          </a:bodyPr>
          <a:lstStyle/>
          <a:p>
            <a:pPr algn="l"/>
            <a:r>
              <a:rPr sz="900" b="1" i="0">
                <a:solidFill>
                  <a:srgbClr val="0D631B"/>
                </a:solidFill>
                <a:latin typeface="Calibri"/>
              </a:rPr>
              <a:t>Component</a:t>
            </a:r>
          </a:p>
        </p:txBody>
      </p:sp>
      <p:sp>
        <p:nvSpPr>
          <p:cNvPr id="53" name="TextBox 52"/>
          <p:cNvSpPr txBox="1"/>
          <p:nvPr/>
        </p:nvSpPr>
        <p:spPr>
          <a:xfrm>
            <a:off x="10332720" y="3273552"/>
            <a:ext cx="1417320" cy="228600"/>
          </a:xfrm>
          <a:prstGeom prst="rect">
            <a:avLst/>
          </a:prstGeom>
          <a:noFill/>
        </p:spPr>
        <p:txBody>
          <a:bodyPr wrap="square">
            <a:spAutoFit/>
          </a:bodyPr>
          <a:lstStyle/>
          <a:p>
            <a:pPr algn="r"/>
            <a:r>
              <a:rPr sz="900" b="1" i="0">
                <a:solidFill>
                  <a:srgbClr val="0D631B"/>
                </a:solidFill>
                <a:latin typeface="Calibri"/>
              </a:rPr>
              <a:t>Unit Price</a:t>
            </a:r>
          </a:p>
        </p:txBody>
      </p:sp>
      <p:sp>
        <p:nvSpPr>
          <p:cNvPr id="54" name="Rectangle 53"/>
          <p:cNvSpPr/>
          <p:nvPr/>
        </p:nvSpPr>
        <p:spPr>
          <a:xfrm>
            <a:off x="7818120" y="3566160"/>
            <a:ext cx="4023360" cy="292608"/>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909560" y="3611880"/>
            <a:ext cx="2606040" cy="228600"/>
          </a:xfrm>
          <a:prstGeom prst="rect">
            <a:avLst/>
          </a:prstGeom>
          <a:noFill/>
        </p:spPr>
        <p:txBody>
          <a:bodyPr wrap="square">
            <a:spAutoFit/>
          </a:bodyPr>
          <a:lstStyle/>
          <a:p>
            <a:pPr algn="l"/>
            <a:r>
              <a:rPr sz="950" b="0" i="0">
                <a:solidFill>
                  <a:srgbClr val="181D17"/>
                </a:solidFill>
                <a:latin typeface="Calibri"/>
              </a:rPr>
              <a:t>Soil NPK Sensor (RS485)</a:t>
            </a:r>
          </a:p>
        </p:txBody>
      </p:sp>
      <p:sp>
        <p:nvSpPr>
          <p:cNvPr id="56" name="TextBox 55"/>
          <p:cNvSpPr txBox="1"/>
          <p:nvPr/>
        </p:nvSpPr>
        <p:spPr>
          <a:xfrm>
            <a:off x="10332720" y="3611880"/>
            <a:ext cx="1417320" cy="228600"/>
          </a:xfrm>
          <a:prstGeom prst="rect">
            <a:avLst/>
          </a:prstGeom>
          <a:noFill/>
        </p:spPr>
        <p:txBody>
          <a:bodyPr wrap="square">
            <a:spAutoFit/>
          </a:bodyPr>
          <a:lstStyle/>
          <a:p>
            <a:pPr algn="r"/>
            <a:r>
              <a:rPr sz="950" b="0" i="0">
                <a:solidFill>
                  <a:srgbClr val="181D17"/>
                </a:solidFill>
                <a:latin typeface="Calibri"/>
              </a:rPr>
              <a:t>₱2,500</a:t>
            </a:r>
          </a:p>
        </p:txBody>
      </p:sp>
      <p:sp>
        <p:nvSpPr>
          <p:cNvPr id="57" name="Rectangle 56"/>
          <p:cNvSpPr/>
          <p:nvPr/>
        </p:nvSpPr>
        <p:spPr>
          <a:xfrm>
            <a:off x="7818120" y="3867912"/>
            <a:ext cx="40233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909560" y="3913632"/>
            <a:ext cx="2606040" cy="228600"/>
          </a:xfrm>
          <a:prstGeom prst="rect">
            <a:avLst/>
          </a:prstGeom>
          <a:noFill/>
        </p:spPr>
        <p:txBody>
          <a:bodyPr wrap="square">
            <a:spAutoFit/>
          </a:bodyPr>
          <a:lstStyle/>
          <a:p>
            <a:pPr algn="l"/>
            <a:r>
              <a:rPr sz="950" b="0" i="0">
                <a:solidFill>
                  <a:srgbClr val="181D17"/>
                </a:solidFill>
                <a:latin typeface="Calibri"/>
              </a:rPr>
              <a:t>pH Probe</a:t>
            </a:r>
          </a:p>
        </p:txBody>
      </p:sp>
      <p:sp>
        <p:nvSpPr>
          <p:cNvPr id="59" name="TextBox 58"/>
          <p:cNvSpPr txBox="1"/>
          <p:nvPr/>
        </p:nvSpPr>
        <p:spPr>
          <a:xfrm>
            <a:off x="10332720" y="3913632"/>
            <a:ext cx="1417320" cy="228600"/>
          </a:xfrm>
          <a:prstGeom prst="rect">
            <a:avLst/>
          </a:prstGeom>
          <a:noFill/>
        </p:spPr>
        <p:txBody>
          <a:bodyPr wrap="square">
            <a:spAutoFit/>
          </a:bodyPr>
          <a:lstStyle/>
          <a:p>
            <a:pPr algn="r"/>
            <a:r>
              <a:rPr sz="950" b="0" i="0">
                <a:solidFill>
                  <a:srgbClr val="181D17"/>
                </a:solidFill>
                <a:latin typeface="Calibri"/>
              </a:rPr>
              <a:t>₱800</a:t>
            </a:r>
          </a:p>
        </p:txBody>
      </p:sp>
      <p:sp>
        <p:nvSpPr>
          <p:cNvPr id="60" name="Rectangle 59"/>
          <p:cNvSpPr/>
          <p:nvPr/>
        </p:nvSpPr>
        <p:spPr>
          <a:xfrm>
            <a:off x="7818120" y="4169664"/>
            <a:ext cx="4023360" cy="292608"/>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909560" y="4215384"/>
            <a:ext cx="2606040" cy="228600"/>
          </a:xfrm>
          <a:prstGeom prst="rect">
            <a:avLst/>
          </a:prstGeom>
          <a:noFill/>
        </p:spPr>
        <p:txBody>
          <a:bodyPr wrap="square">
            <a:spAutoFit/>
          </a:bodyPr>
          <a:lstStyle/>
          <a:p>
            <a:pPr algn="l"/>
            <a:r>
              <a:rPr sz="950" b="0" i="0">
                <a:solidFill>
                  <a:srgbClr val="181D17"/>
                </a:solidFill>
                <a:latin typeface="Calibri"/>
              </a:rPr>
              <a:t>Temp + Humidity (DHT22)</a:t>
            </a:r>
          </a:p>
        </p:txBody>
      </p:sp>
      <p:sp>
        <p:nvSpPr>
          <p:cNvPr id="62" name="TextBox 61"/>
          <p:cNvSpPr txBox="1"/>
          <p:nvPr/>
        </p:nvSpPr>
        <p:spPr>
          <a:xfrm>
            <a:off x="10332720" y="4215384"/>
            <a:ext cx="1417320" cy="228600"/>
          </a:xfrm>
          <a:prstGeom prst="rect">
            <a:avLst/>
          </a:prstGeom>
          <a:noFill/>
        </p:spPr>
        <p:txBody>
          <a:bodyPr wrap="square">
            <a:spAutoFit/>
          </a:bodyPr>
          <a:lstStyle/>
          <a:p>
            <a:pPr algn="r"/>
            <a:r>
              <a:rPr sz="950" b="0" i="0">
                <a:solidFill>
                  <a:srgbClr val="181D17"/>
                </a:solidFill>
                <a:latin typeface="Calibri"/>
              </a:rPr>
              <a:t>₱200</a:t>
            </a:r>
          </a:p>
        </p:txBody>
      </p:sp>
      <p:sp>
        <p:nvSpPr>
          <p:cNvPr id="63" name="Rectangle 62"/>
          <p:cNvSpPr/>
          <p:nvPr/>
        </p:nvSpPr>
        <p:spPr>
          <a:xfrm>
            <a:off x="7818120" y="4471416"/>
            <a:ext cx="40233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909560" y="4517136"/>
            <a:ext cx="2606040" cy="228600"/>
          </a:xfrm>
          <a:prstGeom prst="rect">
            <a:avLst/>
          </a:prstGeom>
          <a:noFill/>
        </p:spPr>
        <p:txBody>
          <a:bodyPr wrap="square">
            <a:spAutoFit/>
          </a:bodyPr>
          <a:lstStyle/>
          <a:p>
            <a:pPr algn="l"/>
            <a:r>
              <a:rPr sz="950" b="0" i="0">
                <a:solidFill>
                  <a:srgbClr val="181D17"/>
                </a:solidFill>
                <a:latin typeface="Calibri"/>
              </a:rPr>
              <a:t>Rain Gauge Sensor</a:t>
            </a:r>
          </a:p>
        </p:txBody>
      </p:sp>
      <p:sp>
        <p:nvSpPr>
          <p:cNvPr id="65" name="TextBox 64"/>
          <p:cNvSpPr txBox="1"/>
          <p:nvPr/>
        </p:nvSpPr>
        <p:spPr>
          <a:xfrm>
            <a:off x="10332720" y="4517136"/>
            <a:ext cx="1417320" cy="228600"/>
          </a:xfrm>
          <a:prstGeom prst="rect">
            <a:avLst/>
          </a:prstGeom>
          <a:noFill/>
        </p:spPr>
        <p:txBody>
          <a:bodyPr wrap="square">
            <a:spAutoFit/>
          </a:bodyPr>
          <a:lstStyle/>
          <a:p>
            <a:pPr algn="r"/>
            <a:r>
              <a:rPr sz="950" b="0" i="0">
                <a:solidFill>
                  <a:srgbClr val="181D17"/>
                </a:solidFill>
                <a:latin typeface="Calibri"/>
              </a:rPr>
              <a:t>₱700</a:t>
            </a:r>
          </a:p>
        </p:txBody>
      </p:sp>
      <p:sp>
        <p:nvSpPr>
          <p:cNvPr id="66" name="Rectangle 65"/>
          <p:cNvSpPr/>
          <p:nvPr/>
        </p:nvSpPr>
        <p:spPr>
          <a:xfrm>
            <a:off x="7818120" y="4773168"/>
            <a:ext cx="4023360" cy="292608"/>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909560" y="4818888"/>
            <a:ext cx="2606040" cy="228600"/>
          </a:xfrm>
          <a:prstGeom prst="rect">
            <a:avLst/>
          </a:prstGeom>
          <a:noFill/>
        </p:spPr>
        <p:txBody>
          <a:bodyPr wrap="square">
            <a:spAutoFit/>
          </a:bodyPr>
          <a:lstStyle/>
          <a:p>
            <a:pPr algn="l"/>
            <a:r>
              <a:rPr sz="950" b="0" i="0">
                <a:solidFill>
                  <a:srgbClr val="181D17"/>
                </a:solidFill>
                <a:latin typeface="Calibri"/>
              </a:rPr>
              <a:t>ESP32 WiFi Microcontroller</a:t>
            </a:r>
          </a:p>
        </p:txBody>
      </p:sp>
      <p:sp>
        <p:nvSpPr>
          <p:cNvPr id="68" name="TextBox 67"/>
          <p:cNvSpPr txBox="1"/>
          <p:nvPr/>
        </p:nvSpPr>
        <p:spPr>
          <a:xfrm>
            <a:off x="10332720" y="4818888"/>
            <a:ext cx="1417320" cy="228600"/>
          </a:xfrm>
          <a:prstGeom prst="rect">
            <a:avLst/>
          </a:prstGeom>
          <a:noFill/>
        </p:spPr>
        <p:txBody>
          <a:bodyPr wrap="square">
            <a:spAutoFit/>
          </a:bodyPr>
          <a:lstStyle/>
          <a:p>
            <a:pPr algn="r"/>
            <a:r>
              <a:rPr sz="950" b="0" i="0">
                <a:solidFill>
                  <a:srgbClr val="181D17"/>
                </a:solidFill>
                <a:latin typeface="Calibri"/>
              </a:rPr>
              <a:t>₱400</a:t>
            </a:r>
          </a:p>
        </p:txBody>
      </p:sp>
      <p:sp>
        <p:nvSpPr>
          <p:cNvPr id="69" name="Rectangle 68"/>
          <p:cNvSpPr/>
          <p:nvPr/>
        </p:nvSpPr>
        <p:spPr>
          <a:xfrm>
            <a:off x="7818120" y="5074920"/>
            <a:ext cx="40233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909560" y="5120640"/>
            <a:ext cx="2606040" cy="228600"/>
          </a:xfrm>
          <a:prstGeom prst="rect">
            <a:avLst/>
          </a:prstGeom>
          <a:noFill/>
        </p:spPr>
        <p:txBody>
          <a:bodyPr wrap="square">
            <a:spAutoFit/>
          </a:bodyPr>
          <a:lstStyle/>
          <a:p>
            <a:pPr algn="l"/>
            <a:r>
              <a:rPr sz="950" b="0" i="0">
                <a:solidFill>
                  <a:srgbClr val="181D17"/>
                </a:solidFill>
                <a:latin typeface="Calibri"/>
              </a:rPr>
              <a:t>Solar Panel + Battery Pack</a:t>
            </a:r>
          </a:p>
        </p:txBody>
      </p:sp>
      <p:sp>
        <p:nvSpPr>
          <p:cNvPr id="71" name="TextBox 70"/>
          <p:cNvSpPr txBox="1"/>
          <p:nvPr/>
        </p:nvSpPr>
        <p:spPr>
          <a:xfrm>
            <a:off x="10332720" y="5120640"/>
            <a:ext cx="1417320" cy="228600"/>
          </a:xfrm>
          <a:prstGeom prst="rect">
            <a:avLst/>
          </a:prstGeom>
          <a:noFill/>
        </p:spPr>
        <p:txBody>
          <a:bodyPr wrap="square">
            <a:spAutoFit/>
          </a:bodyPr>
          <a:lstStyle/>
          <a:p>
            <a:pPr algn="r"/>
            <a:r>
              <a:rPr sz="950" b="0" i="0">
                <a:solidFill>
                  <a:srgbClr val="181D17"/>
                </a:solidFill>
                <a:latin typeface="Calibri"/>
              </a:rPr>
              <a:t>₱1,200</a:t>
            </a:r>
          </a:p>
        </p:txBody>
      </p:sp>
      <p:sp>
        <p:nvSpPr>
          <p:cNvPr id="72" name="Rectangle 71"/>
          <p:cNvSpPr/>
          <p:nvPr/>
        </p:nvSpPr>
        <p:spPr>
          <a:xfrm>
            <a:off x="7818120" y="5376672"/>
            <a:ext cx="4023360" cy="292608"/>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909560" y="5422392"/>
            <a:ext cx="2606040" cy="228600"/>
          </a:xfrm>
          <a:prstGeom prst="rect">
            <a:avLst/>
          </a:prstGeom>
          <a:noFill/>
        </p:spPr>
        <p:txBody>
          <a:bodyPr wrap="square">
            <a:spAutoFit/>
          </a:bodyPr>
          <a:lstStyle/>
          <a:p>
            <a:pPr algn="l"/>
            <a:r>
              <a:rPr sz="950" b="0" i="0">
                <a:solidFill>
                  <a:srgbClr val="181D17"/>
                </a:solidFill>
                <a:latin typeface="Calibri"/>
              </a:rPr>
              <a:t>Weatherproof Enclosure</a:t>
            </a:r>
          </a:p>
        </p:txBody>
      </p:sp>
      <p:sp>
        <p:nvSpPr>
          <p:cNvPr id="74" name="TextBox 73"/>
          <p:cNvSpPr txBox="1"/>
          <p:nvPr/>
        </p:nvSpPr>
        <p:spPr>
          <a:xfrm>
            <a:off x="10332720" y="5422392"/>
            <a:ext cx="1417320" cy="228600"/>
          </a:xfrm>
          <a:prstGeom prst="rect">
            <a:avLst/>
          </a:prstGeom>
          <a:noFill/>
        </p:spPr>
        <p:txBody>
          <a:bodyPr wrap="square">
            <a:spAutoFit/>
          </a:bodyPr>
          <a:lstStyle/>
          <a:p>
            <a:pPr algn="r"/>
            <a:r>
              <a:rPr sz="950" b="0" i="0">
                <a:solidFill>
                  <a:srgbClr val="181D17"/>
                </a:solidFill>
                <a:latin typeface="Calibri"/>
              </a:rPr>
              <a:t>₱500</a:t>
            </a:r>
          </a:p>
        </p:txBody>
      </p:sp>
      <p:sp>
        <p:nvSpPr>
          <p:cNvPr id="75" name="Rectangle 74"/>
          <p:cNvSpPr/>
          <p:nvPr/>
        </p:nvSpPr>
        <p:spPr>
          <a:xfrm>
            <a:off x="7818120" y="5678424"/>
            <a:ext cx="40233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909560" y="5724144"/>
            <a:ext cx="2606040" cy="228600"/>
          </a:xfrm>
          <a:prstGeom prst="rect">
            <a:avLst/>
          </a:prstGeom>
          <a:noFill/>
        </p:spPr>
        <p:txBody>
          <a:bodyPr wrap="square">
            <a:spAutoFit/>
          </a:bodyPr>
          <a:lstStyle/>
          <a:p>
            <a:pPr algn="l"/>
            <a:r>
              <a:rPr sz="950" b="0" i="0">
                <a:solidFill>
                  <a:srgbClr val="181D17"/>
                </a:solidFill>
                <a:latin typeface="Calibri"/>
              </a:rPr>
              <a:t>Cables + Connectors</a:t>
            </a:r>
          </a:p>
        </p:txBody>
      </p:sp>
      <p:sp>
        <p:nvSpPr>
          <p:cNvPr id="77" name="TextBox 76"/>
          <p:cNvSpPr txBox="1"/>
          <p:nvPr/>
        </p:nvSpPr>
        <p:spPr>
          <a:xfrm>
            <a:off x="10332720" y="5724144"/>
            <a:ext cx="1417320" cy="228600"/>
          </a:xfrm>
          <a:prstGeom prst="rect">
            <a:avLst/>
          </a:prstGeom>
          <a:noFill/>
        </p:spPr>
        <p:txBody>
          <a:bodyPr wrap="square">
            <a:spAutoFit/>
          </a:bodyPr>
          <a:lstStyle/>
          <a:p>
            <a:pPr algn="r"/>
            <a:r>
              <a:rPr sz="950" b="0" i="0">
                <a:solidFill>
                  <a:srgbClr val="181D17"/>
                </a:solidFill>
                <a:latin typeface="Calibri"/>
              </a:rPr>
              <a:t>₱200</a:t>
            </a:r>
          </a:p>
        </p:txBody>
      </p:sp>
      <p:sp>
        <p:nvSpPr>
          <p:cNvPr id="78" name="Rectangle 77"/>
          <p:cNvSpPr/>
          <p:nvPr/>
        </p:nvSpPr>
        <p:spPr>
          <a:xfrm>
            <a:off x="7818120" y="5989320"/>
            <a:ext cx="4023360" cy="34747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909560" y="6035040"/>
            <a:ext cx="2286000" cy="256032"/>
          </a:xfrm>
          <a:prstGeom prst="rect">
            <a:avLst/>
          </a:prstGeom>
          <a:noFill/>
        </p:spPr>
        <p:txBody>
          <a:bodyPr wrap="square">
            <a:spAutoFit/>
          </a:bodyPr>
          <a:lstStyle/>
          <a:p>
            <a:pPr algn="l"/>
            <a:r>
              <a:rPr sz="1000" b="1" i="0">
                <a:solidFill>
                  <a:srgbClr val="FFFFFF"/>
                </a:solidFill>
                <a:latin typeface="Calibri"/>
              </a:rPr>
              <a:t>Total per Sensor Node</a:t>
            </a:r>
          </a:p>
        </p:txBody>
      </p:sp>
      <p:sp>
        <p:nvSpPr>
          <p:cNvPr id="80" name="TextBox 79"/>
          <p:cNvSpPr txBox="1"/>
          <p:nvPr/>
        </p:nvSpPr>
        <p:spPr>
          <a:xfrm>
            <a:off x="10332720" y="6035040"/>
            <a:ext cx="1417320" cy="256032"/>
          </a:xfrm>
          <a:prstGeom prst="rect">
            <a:avLst/>
          </a:prstGeom>
          <a:noFill/>
        </p:spPr>
        <p:txBody>
          <a:bodyPr wrap="square">
            <a:spAutoFit/>
          </a:bodyPr>
          <a:lstStyle/>
          <a:p>
            <a:pPr algn="r"/>
            <a:r>
              <a:rPr sz="1200" b="1" i="0">
                <a:solidFill>
                  <a:srgbClr val="FFFFFF"/>
                </a:solidFill>
                <a:latin typeface="Calibri"/>
              </a:rPr>
              <a:t>₱6,500</a:t>
            </a:r>
          </a:p>
        </p:txBody>
      </p:sp>
      <p:sp>
        <p:nvSpPr>
          <p:cNvPr id="81" name="Rectangle 80"/>
          <p:cNvSpPr/>
          <p:nvPr/>
        </p:nvSpPr>
        <p:spPr>
          <a:xfrm>
            <a:off x="320040" y="6473952"/>
            <a:ext cx="11567160" cy="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320040" y="6382512"/>
            <a:ext cx="11567160" cy="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20040" y="5989320"/>
            <a:ext cx="7132320" cy="50292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57200" y="6035040"/>
            <a:ext cx="2286000" cy="256032"/>
          </a:xfrm>
          <a:prstGeom prst="rect">
            <a:avLst/>
          </a:prstGeom>
          <a:noFill/>
        </p:spPr>
        <p:txBody>
          <a:bodyPr wrap="square">
            <a:spAutoFit/>
          </a:bodyPr>
          <a:lstStyle/>
          <a:p>
            <a:pPr algn="l"/>
            <a:r>
              <a:rPr sz="1000" b="1" i="0">
                <a:solidFill>
                  <a:srgbClr val="FFFFFF"/>
                </a:solidFill>
                <a:latin typeface="Calibri"/>
              </a:rPr>
              <a:t>Initial Setup (30 farms, 2 nodes/farm = 60 nodes)</a:t>
            </a:r>
          </a:p>
        </p:txBody>
      </p:sp>
      <p:sp>
        <p:nvSpPr>
          <p:cNvPr id="85" name="TextBox 84"/>
          <p:cNvSpPr txBox="1"/>
          <p:nvPr/>
        </p:nvSpPr>
        <p:spPr>
          <a:xfrm>
            <a:off x="2834640" y="6016752"/>
            <a:ext cx="822960" cy="182880"/>
          </a:xfrm>
          <a:prstGeom prst="rect">
            <a:avLst/>
          </a:prstGeom>
          <a:noFill/>
        </p:spPr>
        <p:txBody>
          <a:bodyPr wrap="square">
            <a:spAutoFit/>
          </a:bodyPr>
          <a:lstStyle/>
          <a:p>
            <a:pPr algn="ctr"/>
            <a:r>
              <a:rPr sz="750" b="0" i="0">
                <a:solidFill>
                  <a:srgbClr val="A3F69C"/>
                </a:solidFill>
                <a:latin typeface="Calibri"/>
              </a:rPr>
              <a:t>60 Sensor Nodes × ₱6,500</a:t>
            </a:r>
          </a:p>
        </p:txBody>
      </p:sp>
      <p:sp>
        <p:nvSpPr>
          <p:cNvPr id="86" name="TextBox 85"/>
          <p:cNvSpPr txBox="1"/>
          <p:nvPr/>
        </p:nvSpPr>
        <p:spPr>
          <a:xfrm>
            <a:off x="2834640" y="6199632"/>
            <a:ext cx="822960" cy="228600"/>
          </a:xfrm>
          <a:prstGeom prst="rect">
            <a:avLst/>
          </a:prstGeom>
          <a:noFill/>
        </p:spPr>
        <p:txBody>
          <a:bodyPr wrap="square">
            <a:spAutoFit/>
          </a:bodyPr>
          <a:lstStyle/>
          <a:p>
            <a:pPr algn="ctr"/>
            <a:r>
              <a:rPr sz="950" b="1" i="0">
                <a:solidFill>
                  <a:srgbClr val="FFFFFF"/>
                </a:solidFill>
                <a:latin typeface="Calibri"/>
              </a:rPr>
              <a:t>₱390,000</a:t>
            </a:r>
          </a:p>
        </p:txBody>
      </p:sp>
      <p:sp>
        <p:nvSpPr>
          <p:cNvPr id="87" name="TextBox 86"/>
          <p:cNvSpPr txBox="1"/>
          <p:nvPr/>
        </p:nvSpPr>
        <p:spPr>
          <a:xfrm>
            <a:off x="3566160" y="6031484"/>
            <a:ext cx="822960" cy="182880"/>
          </a:xfrm>
          <a:prstGeom prst="rect">
            <a:avLst/>
          </a:prstGeom>
          <a:noFill/>
        </p:spPr>
        <p:txBody>
          <a:bodyPr wrap="square">
            <a:spAutoFit/>
          </a:bodyPr>
          <a:lstStyle/>
          <a:p>
            <a:pPr algn="ctr"/>
            <a:r>
              <a:rPr sz="750" b="0" i="0">
                <a:solidFill>
                  <a:srgbClr val="A3F69C"/>
                </a:solidFill>
                <a:latin typeface="Calibri"/>
              </a:rPr>
              <a:t>Server Laptop</a:t>
            </a:r>
          </a:p>
        </p:txBody>
      </p:sp>
      <p:sp>
        <p:nvSpPr>
          <p:cNvPr id="88" name="TextBox 87"/>
          <p:cNvSpPr txBox="1"/>
          <p:nvPr/>
        </p:nvSpPr>
        <p:spPr>
          <a:xfrm>
            <a:off x="3566160" y="6214364"/>
            <a:ext cx="822960" cy="228600"/>
          </a:xfrm>
          <a:prstGeom prst="rect">
            <a:avLst/>
          </a:prstGeom>
          <a:noFill/>
        </p:spPr>
        <p:txBody>
          <a:bodyPr wrap="square">
            <a:spAutoFit/>
          </a:bodyPr>
          <a:lstStyle/>
          <a:p>
            <a:pPr algn="ctr"/>
            <a:r>
              <a:rPr sz="950" b="1" i="0">
                <a:solidFill>
                  <a:srgbClr val="FFFFFF"/>
                </a:solidFill>
                <a:latin typeface="Calibri"/>
              </a:rPr>
              <a:t>₱20,000</a:t>
            </a:r>
          </a:p>
        </p:txBody>
      </p:sp>
      <p:sp>
        <p:nvSpPr>
          <p:cNvPr id="89" name="TextBox 88"/>
          <p:cNvSpPr txBox="1"/>
          <p:nvPr/>
        </p:nvSpPr>
        <p:spPr>
          <a:xfrm>
            <a:off x="4434840" y="6031484"/>
            <a:ext cx="822960" cy="182880"/>
          </a:xfrm>
          <a:prstGeom prst="rect">
            <a:avLst/>
          </a:prstGeom>
          <a:noFill/>
        </p:spPr>
        <p:txBody>
          <a:bodyPr wrap="square">
            <a:spAutoFit/>
          </a:bodyPr>
          <a:lstStyle/>
          <a:p>
            <a:pPr algn="ctr"/>
            <a:r>
              <a:rPr sz="750" b="0" i="0">
                <a:solidFill>
                  <a:srgbClr val="A3F69C"/>
                </a:solidFill>
                <a:latin typeface="Calibri"/>
              </a:rPr>
              <a:t>Install + Calibrate</a:t>
            </a:r>
          </a:p>
        </p:txBody>
      </p:sp>
      <p:sp>
        <p:nvSpPr>
          <p:cNvPr id="90" name="TextBox 89"/>
          <p:cNvSpPr txBox="1"/>
          <p:nvPr/>
        </p:nvSpPr>
        <p:spPr>
          <a:xfrm>
            <a:off x="4434840" y="6214364"/>
            <a:ext cx="822960" cy="228600"/>
          </a:xfrm>
          <a:prstGeom prst="rect">
            <a:avLst/>
          </a:prstGeom>
          <a:noFill/>
        </p:spPr>
        <p:txBody>
          <a:bodyPr wrap="square">
            <a:spAutoFit/>
          </a:bodyPr>
          <a:lstStyle/>
          <a:p>
            <a:pPr algn="ctr"/>
            <a:r>
              <a:rPr sz="950" b="1" i="0">
                <a:solidFill>
                  <a:srgbClr val="FFFFFF"/>
                </a:solidFill>
                <a:latin typeface="Calibri"/>
              </a:rPr>
              <a:t>₱10,000</a:t>
            </a:r>
          </a:p>
        </p:txBody>
      </p:sp>
      <p:sp>
        <p:nvSpPr>
          <p:cNvPr id="91" name="TextBox 90"/>
          <p:cNvSpPr txBox="1"/>
          <p:nvPr/>
        </p:nvSpPr>
        <p:spPr>
          <a:xfrm>
            <a:off x="5120640" y="6031484"/>
            <a:ext cx="822960" cy="182880"/>
          </a:xfrm>
          <a:prstGeom prst="rect">
            <a:avLst/>
          </a:prstGeom>
          <a:noFill/>
        </p:spPr>
        <p:txBody>
          <a:bodyPr wrap="square">
            <a:spAutoFit/>
          </a:bodyPr>
          <a:lstStyle/>
          <a:p>
            <a:pPr algn="ctr"/>
            <a:r>
              <a:rPr sz="750" b="0" i="0">
                <a:solidFill>
                  <a:srgbClr val="A3F69C"/>
                </a:solidFill>
                <a:latin typeface="Calibri"/>
              </a:rPr>
              <a:t>Training (2 days)</a:t>
            </a:r>
          </a:p>
        </p:txBody>
      </p:sp>
      <p:sp>
        <p:nvSpPr>
          <p:cNvPr id="92" name="TextBox 91"/>
          <p:cNvSpPr txBox="1"/>
          <p:nvPr/>
        </p:nvSpPr>
        <p:spPr>
          <a:xfrm>
            <a:off x="5120640" y="6214364"/>
            <a:ext cx="822960" cy="228600"/>
          </a:xfrm>
          <a:prstGeom prst="rect">
            <a:avLst/>
          </a:prstGeom>
          <a:noFill/>
        </p:spPr>
        <p:txBody>
          <a:bodyPr wrap="square">
            <a:spAutoFit/>
          </a:bodyPr>
          <a:lstStyle/>
          <a:p>
            <a:pPr algn="ctr"/>
            <a:r>
              <a:rPr sz="950" b="1" i="0">
                <a:solidFill>
                  <a:srgbClr val="FFFFFF"/>
                </a:solidFill>
                <a:latin typeface="Calibri"/>
              </a:rPr>
              <a:t>₱5,000</a:t>
            </a:r>
          </a:p>
        </p:txBody>
      </p:sp>
      <p:sp>
        <p:nvSpPr>
          <p:cNvPr id="93" name="TextBox 92"/>
          <p:cNvSpPr txBox="1"/>
          <p:nvPr/>
        </p:nvSpPr>
        <p:spPr>
          <a:xfrm>
            <a:off x="5760720" y="6031484"/>
            <a:ext cx="822960" cy="182880"/>
          </a:xfrm>
          <a:prstGeom prst="rect">
            <a:avLst/>
          </a:prstGeom>
          <a:noFill/>
        </p:spPr>
        <p:txBody>
          <a:bodyPr wrap="square">
            <a:spAutoFit/>
          </a:bodyPr>
          <a:lstStyle/>
          <a:p>
            <a:pPr algn="ctr"/>
            <a:r>
              <a:rPr sz="750" b="0" i="0">
                <a:solidFill>
                  <a:srgbClr val="A3F69C"/>
                </a:solidFill>
                <a:latin typeface="Calibri"/>
              </a:rPr>
              <a:t>Software Config</a:t>
            </a:r>
          </a:p>
        </p:txBody>
      </p:sp>
      <p:sp>
        <p:nvSpPr>
          <p:cNvPr id="94" name="TextBox 93"/>
          <p:cNvSpPr txBox="1"/>
          <p:nvPr/>
        </p:nvSpPr>
        <p:spPr>
          <a:xfrm>
            <a:off x="5760720" y="6214364"/>
            <a:ext cx="822960" cy="228600"/>
          </a:xfrm>
          <a:prstGeom prst="rect">
            <a:avLst/>
          </a:prstGeom>
          <a:noFill/>
        </p:spPr>
        <p:txBody>
          <a:bodyPr wrap="square">
            <a:spAutoFit/>
          </a:bodyPr>
          <a:lstStyle/>
          <a:p>
            <a:pPr algn="ctr"/>
            <a:r>
              <a:rPr sz="950" b="1" i="0">
                <a:solidFill>
                  <a:srgbClr val="FFFFFF"/>
                </a:solidFill>
                <a:latin typeface="Calibri"/>
              </a:rPr>
              <a:t>₱3,000</a:t>
            </a:r>
          </a:p>
        </p:txBody>
      </p:sp>
      <p:sp>
        <p:nvSpPr>
          <p:cNvPr id="95" name="TextBox 94"/>
          <p:cNvSpPr txBox="1"/>
          <p:nvPr/>
        </p:nvSpPr>
        <p:spPr>
          <a:xfrm>
            <a:off x="6675120" y="6016752"/>
            <a:ext cx="822960" cy="182880"/>
          </a:xfrm>
          <a:prstGeom prst="rect">
            <a:avLst/>
          </a:prstGeom>
          <a:noFill/>
        </p:spPr>
        <p:txBody>
          <a:bodyPr wrap="square">
            <a:spAutoFit/>
          </a:bodyPr>
          <a:lstStyle/>
          <a:p>
            <a:pPr algn="ctr"/>
            <a:r>
              <a:rPr sz="750" b="1" i="0">
                <a:solidFill>
                  <a:srgbClr val="FED255"/>
                </a:solidFill>
                <a:latin typeface="Calibri"/>
              </a:rPr>
              <a:t>TOTAL YEAR 1</a:t>
            </a:r>
          </a:p>
        </p:txBody>
      </p:sp>
      <p:sp>
        <p:nvSpPr>
          <p:cNvPr id="96" name="TextBox 95"/>
          <p:cNvSpPr txBox="1"/>
          <p:nvPr/>
        </p:nvSpPr>
        <p:spPr>
          <a:xfrm>
            <a:off x="6675120" y="6199632"/>
            <a:ext cx="822960" cy="228600"/>
          </a:xfrm>
          <a:prstGeom prst="rect">
            <a:avLst/>
          </a:prstGeom>
          <a:noFill/>
        </p:spPr>
        <p:txBody>
          <a:bodyPr wrap="square">
            <a:spAutoFit/>
          </a:bodyPr>
          <a:lstStyle/>
          <a:p>
            <a:pPr algn="ctr"/>
            <a:r>
              <a:rPr sz="950" b="1" i="0">
                <a:solidFill>
                  <a:srgbClr val="FED255"/>
                </a:solidFill>
                <a:latin typeface="Calibri"/>
              </a:rPr>
              <a:t>₱428,000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Risk Register &amp; Governance Controls</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Philippine Data Privacy Act 2012 (RA 10173)  ·  Risk matrix  ·  AI governance framework</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7</a:t>
            </a:r>
          </a:p>
        </p:txBody>
      </p:sp>
      <p:sp>
        <p:nvSpPr>
          <p:cNvPr id="7" name="Rectangle 6"/>
          <p:cNvSpPr/>
          <p:nvPr/>
        </p:nvSpPr>
        <p:spPr>
          <a:xfrm>
            <a:off x="320040" y="1005840"/>
            <a:ext cx="7909560" cy="466344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78992"/>
            <a:ext cx="7635240" cy="347472"/>
          </a:xfrm>
          <a:prstGeom prst="rect">
            <a:avLst/>
          </a:prstGeom>
          <a:noFill/>
        </p:spPr>
        <p:txBody>
          <a:bodyPr wrap="square">
            <a:spAutoFit/>
          </a:bodyPr>
          <a:lstStyle/>
          <a:p>
            <a:pPr algn="l"/>
            <a:r>
              <a:rPr sz="1400" b="1" i="0">
                <a:solidFill>
                  <a:srgbClr val="0D631B"/>
                </a:solidFill>
                <a:latin typeface="Calibri"/>
              </a:rPr>
              <a:t>Risk Register</a:t>
            </a:r>
          </a:p>
        </p:txBody>
      </p:sp>
      <p:sp>
        <p:nvSpPr>
          <p:cNvPr id="9" name="Rectangle 8"/>
          <p:cNvSpPr/>
          <p:nvPr/>
        </p:nvSpPr>
        <p:spPr>
          <a:xfrm>
            <a:off x="365760" y="1463040"/>
            <a:ext cx="7818120" cy="347472"/>
          </a:xfrm>
          <a:prstGeom prst="rect">
            <a:avLst/>
          </a:prstGeom>
          <a:solidFill>
            <a:srgbClr val="E5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90472"/>
            <a:ext cx="2103120" cy="274320"/>
          </a:xfrm>
          <a:prstGeom prst="rect">
            <a:avLst/>
          </a:prstGeom>
          <a:noFill/>
        </p:spPr>
        <p:txBody>
          <a:bodyPr wrap="square">
            <a:spAutoFit/>
          </a:bodyPr>
          <a:lstStyle/>
          <a:p>
            <a:pPr algn="l"/>
            <a:r>
              <a:rPr sz="950" b="1" i="0">
                <a:solidFill>
                  <a:srgbClr val="0D631B"/>
                </a:solidFill>
                <a:latin typeface="Calibri"/>
              </a:rPr>
              <a:t>Risk</a:t>
            </a:r>
          </a:p>
        </p:txBody>
      </p:sp>
      <p:sp>
        <p:nvSpPr>
          <p:cNvPr id="11" name="TextBox 10"/>
          <p:cNvSpPr txBox="1"/>
          <p:nvPr/>
        </p:nvSpPr>
        <p:spPr>
          <a:xfrm>
            <a:off x="2560320" y="1490472"/>
            <a:ext cx="914400" cy="274320"/>
          </a:xfrm>
          <a:prstGeom prst="rect">
            <a:avLst/>
          </a:prstGeom>
          <a:noFill/>
        </p:spPr>
        <p:txBody>
          <a:bodyPr wrap="square">
            <a:spAutoFit/>
          </a:bodyPr>
          <a:lstStyle/>
          <a:p>
            <a:pPr algn="l"/>
            <a:r>
              <a:rPr sz="950" b="1" i="0">
                <a:solidFill>
                  <a:srgbClr val="0D631B"/>
                </a:solidFill>
                <a:latin typeface="Calibri"/>
              </a:rPr>
              <a:t>Likelihood</a:t>
            </a:r>
          </a:p>
        </p:txBody>
      </p:sp>
      <p:sp>
        <p:nvSpPr>
          <p:cNvPr id="12" name="TextBox 11"/>
          <p:cNvSpPr txBox="1"/>
          <p:nvPr/>
        </p:nvSpPr>
        <p:spPr>
          <a:xfrm>
            <a:off x="3474720" y="1490472"/>
            <a:ext cx="822960" cy="274320"/>
          </a:xfrm>
          <a:prstGeom prst="rect">
            <a:avLst/>
          </a:prstGeom>
          <a:noFill/>
        </p:spPr>
        <p:txBody>
          <a:bodyPr wrap="square">
            <a:spAutoFit/>
          </a:bodyPr>
          <a:lstStyle/>
          <a:p>
            <a:pPr algn="l"/>
            <a:r>
              <a:rPr sz="950" b="1" i="0">
                <a:solidFill>
                  <a:srgbClr val="0D631B"/>
                </a:solidFill>
                <a:latin typeface="Calibri"/>
              </a:rPr>
              <a:t>Impact</a:t>
            </a:r>
          </a:p>
        </p:txBody>
      </p:sp>
      <p:sp>
        <p:nvSpPr>
          <p:cNvPr id="13" name="TextBox 12"/>
          <p:cNvSpPr txBox="1"/>
          <p:nvPr/>
        </p:nvSpPr>
        <p:spPr>
          <a:xfrm>
            <a:off x="4297680" y="1490472"/>
            <a:ext cx="3931920" cy="274320"/>
          </a:xfrm>
          <a:prstGeom prst="rect">
            <a:avLst/>
          </a:prstGeom>
          <a:noFill/>
        </p:spPr>
        <p:txBody>
          <a:bodyPr wrap="square">
            <a:spAutoFit/>
          </a:bodyPr>
          <a:lstStyle/>
          <a:p>
            <a:pPr algn="l"/>
            <a:r>
              <a:rPr sz="950" b="1" i="0">
                <a:solidFill>
                  <a:srgbClr val="0D631B"/>
                </a:solidFill>
                <a:latin typeface="Calibri"/>
              </a:rPr>
              <a:t>Mitigation Control</a:t>
            </a:r>
          </a:p>
        </p:txBody>
      </p:sp>
      <p:sp>
        <p:nvSpPr>
          <p:cNvPr id="14" name="Rectangle 13"/>
          <p:cNvSpPr/>
          <p:nvPr/>
        </p:nvSpPr>
        <p:spPr>
          <a:xfrm>
            <a:off x="365760" y="1828800"/>
            <a:ext cx="7818120" cy="457200"/>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901952"/>
            <a:ext cx="2011680" cy="347472"/>
          </a:xfrm>
          <a:prstGeom prst="rect">
            <a:avLst/>
          </a:prstGeom>
          <a:noFill/>
        </p:spPr>
        <p:txBody>
          <a:bodyPr wrap="square">
            <a:spAutoFit/>
          </a:bodyPr>
          <a:lstStyle/>
          <a:p>
            <a:pPr algn="l"/>
            <a:r>
              <a:rPr sz="950" b="0" i="0">
                <a:solidFill>
                  <a:srgbClr val="181D17"/>
                </a:solidFill>
                <a:latin typeface="Calibri"/>
              </a:rPr>
              <a:t>Qwen AI gives wrong crop advice</a:t>
            </a:r>
          </a:p>
        </p:txBody>
      </p:sp>
      <p:sp>
        <p:nvSpPr>
          <p:cNvPr id="16" name="Rectangle 15"/>
          <p:cNvSpPr/>
          <p:nvPr/>
        </p:nvSpPr>
        <p:spPr>
          <a:xfrm>
            <a:off x="2606040" y="1920240"/>
            <a:ext cx="73152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6040" y="1938528"/>
            <a:ext cx="731520" cy="219456"/>
          </a:xfrm>
          <a:prstGeom prst="rect">
            <a:avLst/>
          </a:prstGeom>
          <a:noFill/>
        </p:spPr>
        <p:txBody>
          <a:bodyPr wrap="square">
            <a:spAutoFit/>
          </a:bodyPr>
          <a:lstStyle/>
          <a:p>
            <a:pPr algn="ctr"/>
            <a:r>
              <a:rPr sz="850" b="1" i="0">
                <a:solidFill>
                  <a:srgbClr val="FFFFFF"/>
                </a:solidFill>
                <a:latin typeface="Calibri"/>
              </a:rPr>
              <a:t>Medium</a:t>
            </a:r>
          </a:p>
        </p:txBody>
      </p:sp>
      <p:sp>
        <p:nvSpPr>
          <p:cNvPr id="18" name="Rectangle 17"/>
          <p:cNvSpPr/>
          <p:nvPr/>
        </p:nvSpPr>
        <p:spPr>
          <a:xfrm>
            <a:off x="3520440" y="1920240"/>
            <a:ext cx="685800" cy="256032"/>
          </a:xfrm>
          <a:prstGeom prst="rect">
            <a:avLst/>
          </a:prstGeom>
          <a:solidFill>
            <a:srgbClr val="B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20440" y="1938528"/>
            <a:ext cx="685800" cy="219456"/>
          </a:xfrm>
          <a:prstGeom prst="rect">
            <a:avLst/>
          </a:prstGeom>
          <a:noFill/>
        </p:spPr>
        <p:txBody>
          <a:bodyPr wrap="square">
            <a:spAutoFit/>
          </a:bodyPr>
          <a:lstStyle/>
          <a:p>
            <a:pPr algn="ctr"/>
            <a:r>
              <a:rPr sz="850" b="1" i="0">
                <a:solidFill>
                  <a:srgbClr val="FFFFFF"/>
                </a:solidFill>
                <a:latin typeface="Calibri"/>
              </a:rPr>
              <a:t>High</a:t>
            </a:r>
          </a:p>
        </p:txBody>
      </p:sp>
      <p:sp>
        <p:nvSpPr>
          <p:cNvPr id="20" name="TextBox 19"/>
          <p:cNvSpPr txBox="1"/>
          <p:nvPr/>
        </p:nvSpPr>
        <p:spPr>
          <a:xfrm>
            <a:off x="4343400" y="1901952"/>
            <a:ext cx="3794760" cy="347472"/>
          </a:xfrm>
          <a:prstGeom prst="rect">
            <a:avLst/>
          </a:prstGeom>
          <a:noFill/>
        </p:spPr>
        <p:txBody>
          <a:bodyPr wrap="square">
            <a:spAutoFit/>
          </a:bodyPr>
          <a:lstStyle/>
          <a:p>
            <a:pPr algn="l"/>
            <a:r>
              <a:rPr sz="900" b="0" i="0">
                <a:solidFill>
                  <a:srgbClr val="40493D"/>
                </a:solidFill>
                <a:latin typeface="Calibri"/>
              </a:rPr>
              <a:t>RF model makes the decision; Qwen only explains. 30% min. confidence enforced.</a:t>
            </a:r>
          </a:p>
        </p:txBody>
      </p:sp>
      <p:sp>
        <p:nvSpPr>
          <p:cNvPr id="21" name="Rectangle 20"/>
          <p:cNvSpPr/>
          <p:nvPr/>
        </p:nvSpPr>
        <p:spPr>
          <a:xfrm>
            <a:off x="365760" y="2304288"/>
            <a:ext cx="7818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377440"/>
            <a:ext cx="2011680" cy="347472"/>
          </a:xfrm>
          <a:prstGeom prst="rect">
            <a:avLst/>
          </a:prstGeom>
          <a:noFill/>
        </p:spPr>
        <p:txBody>
          <a:bodyPr wrap="square">
            <a:spAutoFit/>
          </a:bodyPr>
          <a:lstStyle/>
          <a:p>
            <a:pPr algn="l"/>
            <a:r>
              <a:rPr sz="950" b="0" i="0">
                <a:solidFill>
                  <a:srgbClr val="181D17"/>
                </a:solidFill>
                <a:latin typeface="Calibri"/>
              </a:rPr>
              <a:t>IoT sensor hardware failure</a:t>
            </a:r>
          </a:p>
        </p:txBody>
      </p:sp>
      <p:sp>
        <p:nvSpPr>
          <p:cNvPr id="23" name="Rectangle 22"/>
          <p:cNvSpPr/>
          <p:nvPr/>
        </p:nvSpPr>
        <p:spPr>
          <a:xfrm>
            <a:off x="2606040" y="2395728"/>
            <a:ext cx="73152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06040" y="2414016"/>
            <a:ext cx="731520" cy="219456"/>
          </a:xfrm>
          <a:prstGeom prst="rect">
            <a:avLst/>
          </a:prstGeom>
          <a:noFill/>
        </p:spPr>
        <p:txBody>
          <a:bodyPr wrap="square">
            <a:spAutoFit/>
          </a:bodyPr>
          <a:lstStyle/>
          <a:p>
            <a:pPr algn="ctr"/>
            <a:r>
              <a:rPr sz="850" b="1" i="0">
                <a:solidFill>
                  <a:srgbClr val="FFFFFF"/>
                </a:solidFill>
                <a:latin typeface="Calibri"/>
              </a:rPr>
              <a:t>Medium</a:t>
            </a:r>
          </a:p>
        </p:txBody>
      </p:sp>
      <p:sp>
        <p:nvSpPr>
          <p:cNvPr id="25" name="Rectangle 24"/>
          <p:cNvSpPr/>
          <p:nvPr/>
        </p:nvSpPr>
        <p:spPr>
          <a:xfrm>
            <a:off x="3520440" y="2395728"/>
            <a:ext cx="68580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20440" y="2414016"/>
            <a:ext cx="685800" cy="219456"/>
          </a:xfrm>
          <a:prstGeom prst="rect">
            <a:avLst/>
          </a:prstGeom>
          <a:noFill/>
        </p:spPr>
        <p:txBody>
          <a:bodyPr wrap="square">
            <a:spAutoFit/>
          </a:bodyPr>
          <a:lstStyle/>
          <a:p>
            <a:pPr algn="ctr"/>
            <a:r>
              <a:rPr sz="850" b="1" i="0">
                <a:solidFill>
                  <a:srgbClr val="FFFFFF"/>
                </a:solidFill>
                <a:latin typeface="Calibri"/>
              </a:rPr>
              <a:t>Medium</a:t>
            </a:r>
          </a:p>
        </p:txBody>
      </p:sp>
      <p:sp>
        <p:nvSpPr>
          <p:cNvPr id="27" name="TextBox 26"/>
          <p:cNvSpPr txBox="1"/>
          <p:nvPr/>
        </p:nvSpPr>
        <p:spPr>
          <a:xfrm>
            <a:off x="4343400" y="2377440"/>
            <a:ext cx="3794760" cy="347472"/>
          </a:xfrm>
          <a:prstGeom prst="rect">
            <a:avLst/>
          </a:prstGeom>
          <a:noFill/>
        </p:spPr>
        <p:txBody>
          <a:bodyPr wrap="square">
            <a:spAutoFit/>
          </a:bodyPr>
          <a:lstStyle/>
          <a:p>
            <a:pPr algn="l"/>
            <a:r>
              <a:rPr sz="900" b="0" i="0">
                <a:solidFill>
                  <a:srgbClr val="40493D"/>
                </a:solidFill>
                <a:latin typeface="Calibri"/>
              </a:rPr>
              <a:t>Manual data entry fallback; multi-sensor averaging reduces single-point failures.</a:t>
            </a:r>
          </a:p>
        </p:txBody>
      </p:sp>
      <p:sp>
        <p:nvSpPr>
          <p:cNvPr id="28" name="Rectangle 27"/>
          <p:cNvSpPr/>
          <p:nvPr/>
        </p:nvSpPr>
        <p:spPr>
          <a:xfrm>
            <a:off x="365760" y="2779776"/>
            <a:ext cx="7818120" cy="457200"/>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2852928"/>
            <a:ext cx="2011680" cy="347472"/>
          </a:xfrm>
          <a:prstGeom prst="rect">
            <a:avLst/>
          </a:prstGeom>
          <a:noFill/>
        </p:spPr>
        <p:txBody>
          <a:bodyPr wrap="square">
            <a:spAutoFit/>
          </a:bodyPr>
          <a:lstStyle/>
          <a:p>
            <a:pPr algn="l"/>
            <a:r>
              <a:rPr sz="950" b="0" i="0">
                <a:solidFill>
                  <a:srgbClr val="181D17"/>
                </a:solidFill>
                <a:latin typeface="Calibri"/>
              </a:rPr>
              <a:t>Low farmer adoption</a:t>
            </a:r>
          </a:p>
        </p:txBody>
      </p:sp>
      <p:sp>
        <p:nvSpPr>
          <p:cNvPr id="30" name="Rectangle 29"/>
          <p:cNvSpPr/>
          <p:nvPr/>
        </p:nvSpPr>
        <p:spPr>
          <a:xfrm>
            <a:off x="2606040" y="2871216"/>
            <a:ext cx="73152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606040" y="2889504"/>
            <a:ext cx="731520" cy="219456"/>
          </a:xfrm>
          <a:prstGeom prst="rect">
            <a:avLst/>
          </a:prstGeom>
          <a:noFill/>
        </p:spPr>
        <p:txBody>
          <a:bodyPr wrap="square">
            <a:spAutoFit/>
          </a:bodyPr>
          <a:lstStyle/>
          <a:p>
            <a:pPr algn="ctr"/>
            <a:r>
              <a:rPr sz="850" b="1" i="0">
                <a:solidFill>
                  <a:srgbClr val="FFFFFF"/>
                </a:solidFill>
                <a:latin typeface="Calibri"/>
              </a:rPr>
              <a:t>Medium</a:t>
            </a:r>
          </a:p>
        </p:txBody>
      </p:sp>
      <p:sp>
        <p:nvSpPr>
          <p:cNvPr id="32" name="Rectangle 31"/>
          <p:cNvSpPr/>
          <p:nvPr/>
        </p:nvSpPr>
        <p:spPr>
          <a:xfrm>
            <a:off x="3520440" y="2871216"/>
            <a:ext cx="685800" cy="256032"/>
          </a:xfrm>
          <a:prstGeom prst="rect">
            <a:avLst/>
          </a:prstGeom>
          <a:solidFill>
            <a:srgbClr val="B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520440" y="2889504"/>
            <a:ext cx="685800" cy="219456"/>
          </a:xfrm>
          <a:prstGeom prst="rect">
            <a:avLst/>
          </a:prstGeom>
          <a:noFill/>
        </p:spPr>
        <p:txBody>
          <a:bodyPr wrap="square">
            <a:spAutoFit/>
          </a:bodyPr>
          <a:lstStyle/>
          <a:p>
            <a:pPr algn="ctr"/>
            <a:r>
              <a:rPr sz="850" b="1" i="0">
                <a:solidFill>
                  <a:srgbClr val="FFFFFF"/>
                </a:solidFill>
                <a:latin typeface="Calibri"/>
              </a:rPr>
              <a:t>High</a:t>
            </a:r>
          </a:p>
        </p:txBody>
      </p:sp>
      <p:sp>
        <p:nvSpPr>
          <p:cNvPr id="34" name="TextBox 33"/>
          <p:cNvSpPr txBox="1"/>
          <p:nvPr/>
        </p:nvSpPr>
        <p:spPr>
          <a:xfrm>
            <a:off x="4343400" y="2852928"/>
            <a:ext cx="3794760" cy="347472"/>
          </a:xfrm>
          <a:prstGeom prst="rect">
            <a:avLst/>
          </a:prstGeom>
          <a:noFill/>
        </p:spPr>
        <p:txBody>
          <a:bodyPr wrap="square">
            <a:spAutoFit/>
          </a:bodyPr>
          <a:lstStyle/>
          <a:p>
            <a:pPr algn="l"/>
            <a:r>
              <a:rPr sz="900" b="0" i="0">
                <a:solidFill>
                  <a:srgbClr val="40493D"/>
                </a:solidFill>
                <a:latin typeface="Calibri"/>
              </a:rPr>
              <a:t>Bilingual UI (NLLB Filipino), simple login, cooperative onboarding sessions.</a:t>
            </a:r>
          </a:p>
        </p:txBody>
      </p:sp>
      <p:sp>
        <p:nvSpPr>
          <p:cNvPr id="35" name="Rectangle 34"/>
          <p:cNvSpPr/>
          <p:nvPr/>
        </p:nvSpPr>
        <p:spPr>
          <a:xfrm>
            <a:off x="365760" y="3255264"/>
            <a:ext cx="7818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3328416"/>
            <a:ext cx="2011680" cy="347472"/>
          </a:xfrm>
          <a:prstGeom prst="rect">
            <a:avLst/>
          </a:prstGeom>
          <a:noFill/>
        </p:spPr>
        <p:txBody>
          <a:bodyPr wrap="square">
            <a:spAutoFit/>
          </a:bodyPr>
          <a:lstStyle/>
          <a:p>
            <a:pPr algn="l"/>
            <a:r>
              <a:rPr sz="950" b="0" i="0">
                <a:solidFill>
                  <a:srgbClr val="181D17"/>
                </a:solidFill>
                <a:latin typeface="Calibri"/>
              </a:rPr>
              <a:t>Google Maps API outage / cost spike</a:t>
            </a:r>
          </a:p>
        </p:txBody>
      </p:sp>
      <p:sp>
        <p:nvSpPr>
          <p:cNvPr id="37" name="Rectangle 36"/>
          <p:cNvSpPr/>
          <p:nvPr/>
        </p:nvSpPr>
        <p:spPr>
          <a:xfrm>
            <a:off x="2606040" y="3346704"/>
            <a:ext cx="731520" cy="25603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606040" y="3364992"/>
            <a:ext cx="731520" cy="219456"/>
          </a:xfrm>
          <a:prstGeom prst="rect">
            <a:avLst/>
          </a:prstGeom>
          <a:noFill/>
        </p:spPr>
        <p:txBody>
          <a:bodyPr wrap="square">
            <a:spAutoFit/>
          </a:bodyPr>
          <a:lstStyle/>
          <a:p>
            <a:pPr algn="ctr"/>
            <a:r>
              <a:rPr sz="850" b="1" i="0">
                <a:solidFill>
                  <a:srgbClr val="FFFFFF"/>
                </a:solidFill>
                <a:latin typeface="Calibri"/>
              </a:rPr>
              <a:t>Low</a:t>
            </a:r>
          </a:p>
        </p:txBody>
      </p:sp>
      <p:sp>
        <p:nvSpPr>
          <p:cNvPr id="39" name="Rectangle 38"/>
          <p:cNvSpPr/>
          <p:nvPr/>
        </p:nvSpPr>
        <p:spPr>
          <a:xfrm>
            <a:off x="3520440" y="3346704"/>
            <a:ext cx="68580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520440" y="3364992"/>
            <a:ext cx="685800" cy="219456"/>
          </a:xfrm>
          <a:prstGeom prst="rect">
            <a:avLst/>
          </a:prstGeom>
          <a:noFill/>
        </p:spPr>
        <p:txBody>
          <a:bodyPr wrap="square">
            <a:spAutoFit/>
          </a:bodyPr>
          <a:lstStyle/>
          <a:p>
            <a:pPr algn="ctr"/>
            <a:r>
              <a:rPr sz="850" b="1" i="0">
                <a:solidFill>
                  <a:srgbClr val="FFFFFF"/>
                </a:solidFill>
                <a:latin typeface="Calibri"/>
              </a:rPr>
              <a:t>Medium</a:t>
            </a:r>
          </a:p>
        </p:txBody>
      </p:sp>
      <p:sp>
        <p:nvSpPr>
          <p:cNvPr id="41" name="TextBox 40"/>
          <p:cNvSpPr txBox="1"/>
          <p:nvPr/>
        </p:nvSpPr>
        <p:spPr>
          <a:xfrm>
            <a:off x="4343400" y="3328416"/>
            <a:ext cx="3794760" cy="347472"/>
          </a:xfrm>
          <a:prstGeom prst="rect">
            <a:avLst/>
          </a:prstGeom>
          <a:noFill/>
        </p:spPr>
        <p:txBody>
          <a:bodyPr wrap="square">
            <a:spAutoFit/>
          </a:bodyPr>
          <a:lstStyle/>
          <a:p>
            <a:pPr algn="l"/>
            <a:r>
              <a:rPr sz="900" b="0" i="0">
                <a:solidFill>
                  <a:srgbClr val="40493D"/>
                </a:solidFill>
                <a:latin typeface="Calibri"/>
              </a:rPr>
              <a:t>Maps used only for mapping, not for AI. Qwen/NLLB still work offline.</a:t>
            </a:r>
          </a:p>
        </p:txBody>
      </p:sp>
      <p:sp>
        <p:nvSpPr>
          <p:cNvPr id="42" name="Rectangle 41"/>
          <p:cNvSpPr/>
          <p:nvPr/>
        </p:nvSpPr>
        <p:spPr>
          <a:xfrm>
            <a:off x="365760" y="3730752"/>
            <a:ext cx="7818120" cy="457200"/>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3803904"/>
            <a:ext cx="2011680" cy="347472"/>
          </a:xfrm>
          <a:prstGeom prst="rect">
            <a:avLst/>
          </a:prstGeom>
          <a:noFill/>
        </p:spPr>
        <p:txBody>
          <a:bodyPr wrap="square">
            <a:spAutoFit/>
          </a:bodyPr>
          <a:lstStyle/>
          <a:p>
            <a:pPr algn="l"/>
            <a:r>
              <a:rPr sz="950" b="0" i="0">
                <a:solidFill>
                  <a:srgbClr val="181D17"/>
                </a:solidFill>
                <a:latin typeface="Calibri"/>
              </a:rPr>
              <a:t>Data privacy breach (sensor/GPS data)</a:t>
            </a:r>
          </a:p>
        </p:txBody>
      </p:sp>
      <p:sp>
        <p:nvSpPr>
          <p:cNvPr id="44" name="Rectangle 43"/>
          <p:cNvSpPr/>
          <p:nvPr/>
        </p:nvSpPr>
        <p:spPr>
          <a:xfrm>
            <a:off x="2606040" y="3822192"/>
            <a:ext cx="731520" cy="25603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606040" y="3840480"/>
            <a:ext cx="731520" cy="219456"/>
          </a:xfrm>
          <a:prstGeom prst="rect">
            <a:avLst/>
          </a:prstGeom>
          <a:noFill/>
        </p:spPr>
        <p:txBody>
          <a:bodyPr wrap="square">
            <a:spAutoFit/>
          </a:bodyPr>
          <a:lstStyle/>
          <a:p>
            <a:pPr algn="ctr"/>
            <a:r>
              <a:rPr sz="850" b="1" i="0">
                <a:solidFill>
                  <a:srgbClr val="FFFFFF"/>
                </a:solidFill>
                <a:latin typeface="Calibri"/>
              </a:rPr>
              <a:t>Low</a:t>
            </a:r>
          </a:p>
        </p:txBody>
      </p:sp>
      <p:sp>
        <p:nvSpPr>
          <p:cNvPr id="46" name="Rectangle 45"/>
          <p:cNvSpPr/>
          <p:nvPr/>
        </p:nvSpPr>
        <p:spPr>
          <a:xfrm>
            <a:off x="3520440" y="3822192"/>
            <a:ext cx="685800" cy="256032"/>
          </a:xfrm>
          <a:prstGeom prst="rect">
            <a:avLst/>
          </a:prstGeom>
          <a:solidFill>
            <a:srgbClr val="B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520440" y="3840480"/>
            <a:ext cx="685800" cy="219456"/>
          </a:xfrm>
          <a:prstGeom prst="rect">
            <a:avLst/>
          </a:prstGeom>
          <a:noFill/>
        </p:spPr>
        <p:txBody>
          <a:bodyPr wrap="square">
            <a:spAutoFit/>
          </a:bodyPr>
          <a:lstStyle/>
          <a:p>
            <a:pPr algn="ctr"/>
            <a:r>
              <a:rPr sz="850" b="1" i="0">
                <a:solidFill>
                  <a:srgbClr val="FFFFFF"/>
                </a:solidFill>
                <a:latin typeface="Calibri"/>
              </a:rPr>
              <a:t>High</a:t>
            </a:r>
          </a:p>
        </p:txBody>
      </p:sp>
      <p:sp>
        <p:nvSpPr>
          <p:cNvPr id="48" name="TextBox 47"/>
          <p:cNvSpPr txBox="1"/>
          <p:nvPr/>
        </p:nvSpPr>
        <p:spPr>
          <a:xfrm>
            <a:off x="4343400" y="3803904"/>
            <a:ext cx="3794760" cy="347472"/>
          </a:xfrm>
          <a:prstGeom prst="rect">
            <a:avLst/>
          </a:prstGeom>
          <a:noFill/>
        </p:spPr>
        <p:txBody>
          <a:bodyPr wrap="square">
            <a:spAutoFit/>
          </a:bodyPr>
          <a:lstStyle/>
          <a:p>
            <a:pPr algn="l"/>
            <a:r>
              <a:rPr sz="900" b="0" i="0">
                <a:solidFill>
                  <a:srgbClr val="40493D"/>
                </a:solidFill>
                <a:latin typeface="Calibri"/>
              </a:rPr>
              <a:t>SQLite on-premise, no cloud sync; RA 10173 consent forms at enrollment.</a:t>
            </a:r>
          </a:p>
        </p:txBody>
      </p:sp>
      <p:sp>
        <p:nvSpPr>
          <p:cNvPr id="49" name="Rectangle 48"/>
          <p:cNvSpPr/>
          <p:nvPr/>
        </p:nvSpPr>
        <p:spPr>
          <a:xfrm>
            <a:off x="365760" y="4206240"/>
            <a:ext cx="7818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7200" y="4279392"/>
            <a:ext cx="2011680" cy="347472"/>
          </a:xfrm>
          <a:prstGeom prst="rect">
            <a:avLst/>
          </a:prstGeom>
          <a:noFill/>
        </p:spPr>
        <p:txBody>
          <a:bodyPr wrap="square">
            <a:spAutoFit/>
          </a:bodyPr>
          <a:lstStyle/>
          <a:p>
            <a:pPr algn="l"/>
            <a:r>
              <a:rPr sz="950" b="0" i="0">
                <a:solidFill>
                  <a:srgbClr val="181D17"/>
                </a:solidFill>
                <a:latin typeface="Calibri"/>
              </a:rPr>
              <a:t>NLLB translation inaccuracy</a:t>
            </a:r>
          </a:p>
        </p:txBody>
      </p:sp>
      <p:sp>
        <p:nvSpPr>
          <p:cNvPr id="51" name="Rectangle 50"/>
          <p:cNvSpPr/>
          <p:nvPr/>
        </p:nvSpPr>
        <p:spPr>
          <a:xfrm>
            <a:off x="2606040" y="4297680"/>
            <a:ext cx="731520" cy="25603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606040" y="4315968"/>
            <a:ext cx="731520" cy="219456"/>
          </a:xfrm>
          <a:prstGeom prst="rect">
            <a:avLst/>
          </a:prstGeom>
          <a:noFill/>
        </p:spPr>
        <p:txBody>
          <a:bodyPr wrap="square">
            <a:spAutoFit/>
          </a:bodyPr>
          <a:lstStyle/>
          <a:p>
            <a:pPr algn="ctr"/>
            <a:r>
              <a:rPr sz="850" b="1" i="0">
                <a:solidFill>
                  <a:srgbClr val="FFFFFF"/>
                </a:solidFill>
                <a:latin typeface="Calibri"/>
              </a:rPr>
              <a:t>Low</a:t>
            </a:r>
          </a:p>
        </p:txBody>
      </p:sp>
      <p:sp>
        <p:nvSpPr>
          <p:cNvPr id="53" name="Rectangle 52"/>
          <p:cNvSpPr/>
          <p:nvPr/>
        </p:nvSpPr>
        <p:spPr>
          <a:xfrm>
            <a:off x="3520440" y="4297680"/>
            <a:ext cx="68580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520440" y="4315968"/>
            <a:ext cx="685800" cy="219456"/>
          </a:xfrm>
          <a:prstGeom prst="rect">
            <a:avLst/>
          </a:prstGeom>
          <a:noFill/>
        </p:spPr>
        <p:txBody>
          <a:bodyPr wrap="square">
            <a:spAutoFit/>
          </a:bodyPr>
          <a:lstStyle/>
          <a:p>
            <a:pPr algn="ctr"/>
            <a:r>
              <a:rPr sz="850" b="1" i="0">
                <a:solidFill>
                  <a:srgbClr val="FFFFFF"/>
                </a:solidFill>
                <a:latin typeface="Calibri"/>
              </a:rPr>
              <a:t>Medium</a:t>
            </a:r>
          </a:p>
        </p:txBody>
      </p:sp>
      <p:sp>
        <p:nvSpPr>
          <p:cNvPr id="55" name="TextBox 54"/>
          <p:cNvSpPr txBox="1"/>
          <p:nvPr/>
        </p:nvSpPr>
        <p:spPr>
          <a:xfrm>
            <a:off x="4343400" y="4279392"/>
            <a:ext cx="3794760" cy="347472"/>
          </a:xfrm>
          <a:prstGeom prst="rect">
            <a:avLst/>
          </a:prstGeom>
          <a:noFill/>
        </p:spPr>
        <p:txBody>
          <a:bodyPr wrap="square">
            <a:spAutoFit/>
          </a:bodyPr>
          <a:lstStyle/>
          <a:p>
            <a:pPr algn="l"/>
            <a:r>
              <a:rPr sz="900" b="0" i="0">
                <a:solidFill>
                  <a:srgbClr val="40493D"/>
                </a:solidFill>
                <a:latin typeface="Calibri"/>
              </a:rPr>
              <a:t>English version always shown alongside Filipino; farmer can request English.</a:t>
            </a:r>
          </a:p>
        </p:txBody>
      </p:sp>
      <p:sp>
        <p:nvSpPr>
          <p:cNvPr id="56" name="Rectangle 55"/>
          <p:cNvSpPr/>
          <p:nvPr/>
        </p:nvSpPr>
        <p:spPr>
          <a:xfrm>
            <a:off x="365760" y="4681728"/>
            <a:ext cx="7818120" cy="457200"/>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57200" y="4754880"/>
            <a:ext cx="2011680" cy="347472"/>
          </a:xfrm>
          <a:prstGeom prst="rect">
            <a:avLst/>
          </a:prstGeom>
          <a:noFill/>
        </p:spPr>
        <p:txBody>
          <a:bodyPr wrap="square">
            <a:spAutoFit/>
          </a:bodyPr>
          <a:lstStyle/>
          <a:p>
            <a:pPr algn="l"/>
            <a:r>
              <a:rPr sz="950" b="0" i="0">
                <a:solidFill>
                  <a:srgbClr val="181D17"/>
                </a:solidFill>
                <a:latin typeface="Calibri"/>
              </a:rPr>
              <a:t>Kaggle model accuracy drift over time</a:t>
            </a:r>
          </a:p>
        </p:txBody>
      </p:sp>
      <p:sp>
        <p:nvSpPr>
          <p:cNvPr id="58" name="Rectangle 57"/>
          <p:cNvSpPr/>
          <p:nvPr/>
        </p:nvSpPr>
        <p:spPr>
          <a:xfrm>
            <a:off x="2606040" y="4773168"/>
            <a:ext cx="731520" cy="25603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606040" y="4791456"/>
            <a:ext cx="731520" cy="219456"/>
          </a:xfrm>
          <a:prstGeom prst="rect">
            <a:avLst/>
          </a:prstGeom>
          <a:noFill/>
        </p:spPr>
        <p:txBody>
          <a:bodyPr wrap="square">
            <a:spAutoFit/>
          </a:bodyPr>
          <a:lstStyle/>
          <a:p>
            <a:pPr algn="ctr"/>
            <a:r>
              <a:rPr sz="850" b="1" i="0">
                <a:solidFill>
                  <a:srgbClr val="FFFFFF"/>
                </a:solidFill>
                <a:latin typeface="Calibri"/>
              </a:rPr>
              <a:t>Low</a:t>
            </a:r>
          </a:p>
        </p:txBody>
      </p:sp>
      <p:sp>
        <p:nvSpPr>
          <p:cNvPr id="60" name="Rectangle 59"/>
          <p:cNvSpPr/>
          <p:nvPr/>
        </p:nvSpPr>
        <p:spPr>
          <a:xfrm>
            <a:off x="3520440" y="4773168"/>
            <a:ext cx="685800" cy="2560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520440" y="4791456"/>
            <a:ext cx="685800" cy="219456"/>
          </a:xfrm>
          <a:prstGeom prst="rect">
            <a:avLst/>
          </a:prstGeom>
          <a:noFill/>
        </p:spPr>
        <p:txBody>
          <a:bodyPr wrap="square">
            <a:spAutoFit/>
          </a:bodyPr>
          <a:lstStyle/>
          <a:p>
            <a:pPr algn="ctr"/>
            <a:r>
              <a:rPr sz="850" b="1" i="0">
                <a:solidFill>
                  <a:srgbClr val="FFFFFF"/>
                </a:solidFill>
                <a:latin typeface="Calibri"/>
              </a:rPr>
              <a:t>Medium</a:t>
            </a:r>
          </a:p>
        </p:txBody>
      </p:sp>
      <p:sp>
        <p:nvSpPr>
          <p:cNvPr id="62" name="TextBox 61"/>
          <p:cNvSpPr txBox="1"/>
          <p:nvPr/>
        </p:nvSpPr>
        <p:spPr>
          <a:xfrm>
            <a:off x="4343400" y="4754880"/>
            <a:ext cx="3794760" cy="347472"/>
          </a:xfrm>
          <a:prstGeom prst="rect">
            <a:avLst/>
          </a:prstGeom>
          <a:noFill/>
        </p:spPr>
        <p:txBody>
          <a:bodyPr wrap="square">
            <a:spAutoFit/>
          </a:bodyPr>
          <a:lstStyle/>
          <a:p>
            <a:pPr algn="l"/>
            <a:r>
              <a:rPr sz="900" b="0" i="0">
                <a:solidFill>
                  <a:srgbClr val="40493D"/>
                </a:solidFill>
                <a:latin typeface="Calibri"/>
              </a:rPr>
              <a:t>Annual retraining with updated DA-BSWM soil data; Kaggle dataset versioned.</a:t>
            </a:r>
          </a:p>
        </p:txBody>
      </p:sp>
      <p:sp>
        <p:nvSpPr>
          <p:cNvPr id="63" name="Rectangle 62"/>
          <p:cNvSpPr/>
          <p:nvPr/>
        </p:nvSpPr>
        <p:spPr>
          <a:xfrm>
            <a:off x="8412480" y="1005840"/>
            <a:ext cx="3566160" cy="466344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549640" y="1078992"/>
            <a:ext cx="3291840" cy="347472"/>
          </a:xfrm>
          <a:prstGeom prst="rect">
            <a:avLst/>
          </a:prstGeom>
          <a:noFill/>
        </p:spPr>
        <p:txBody>
          <a:bodyPr wrap="square">
            <a:spAutoFit/>
          </a:bodyPr>
          <a:lstStyle/>
          <a:p>
            <a:pPr algn="l"/>
            <a:r>
              <a:rPr sz="1300" b="1" i="0">
                <a:solidFill>
                  <a:srgbClr val="0D631B"/>
                </a:solidFill>
                <a:latin typeface="Calibri"/>
              </a:rPr>
              <a:t>Governance Framework</a:t>
            </a:r>
          </a:p>
        </p:txBody>
      </p:sp>
      <p:sp>
        <p:nvSpPr>
          <p:cNvPr id="65" name="Rectangle 64"/>
          <p:cNvSpPr/>
          <p:nvPr/>
        </p:nvSpPr>
        <p:spPr>
          <a:xfrm>
            <a:off x="8458200" y="1536192"/>
            <a:ext cx="3383280" cy="100584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549640" y="1609344"/>
            <a:ext cx="3200400" cy="274320"/>
          </a:xfrm>
          <a:prstGeom prst="rect">
            <a:avLst/>
          </a:prstGeom>
          <a:noFill/>
        </p:spPr>
        <p:txBody>
          <a:bodyPr wrap="square">
            <a:spAutoFit/>
          </a:bodyPr>
          <a:lstStyle/>
          <a:p>
            <a:pPr algn="l"/>
            <a:r>
              <a:rPr sz="1100" b="1" i="0">
                <a:solidFill>
                  <a:srgbClr val="FFFFFF"/>
                </a:solidFill>
                <a:latin typeface="Calibri"/>
              </a:rPr>
              <a:t>RA 10173 — Data Privacy Act</a:t>
            </a:r>
          </a:p>
        </p:txBody>
      </p:sp>
      <p:sp>
        <p:nvSpPr>
          <p:cNvPr id="67" name="TextBox 66"/>
          <p:cNvSpPr txBox="1"/>
          <p:nvPr/>
        </p:nvSpPr>
        <p:spPr>
          <a:xfrm>
            <a:off x="8549640" y="1883664"/>
            <a:ext cx="3200400" cy="594360"/>
          </a:xfrm>
          <a:prstGeom prst="rect">
            <a:avLst/>
          </a:prstGeom>
          <a:noFill/>
        </p:spPr>
        <p:txBody>
          <a:bodyPr wrap="square">
            <a:spAutoFit/>
          </a:bodyPr>
          <a:lstStyle/>
          <a:p>
            <a:pPr algn="l"/>
            <a:r>
              <a:rPr sz="950" b="0" i="0">
                <a:solidFill>
                  <a:srgbClr val="FFFFFF"/>
                </a:solidFill>
                <a:latin typeface="Calibri"/>
              </a:rPr>
              <a:t>Farmer GPS &amp; ownership data stored only on-premise. Written consent at enrollment. NPC-compliant retention.</a:t>
            </a:r>
          </a:p>
        </p:txBody>
      </p:sp>
      <p:sp>
        <p:nvSpPr>
          <p:cNvPr id="68" name="Rectangle 67"/>
          <p:cNvSpPr/>
          <p:nvPr/>
        </p:nvSpPr>
        <p:spPr>
          <a:xfrm>
            <a:off x="8458200" y="2615184"/>
            <a:ext cx="3383280"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549640" y="2688336"/>
            <a:ext cx="3200400" cy="274320"/>
          </a:xfrm>
          <a:prstGeom prst="rect">
            <a:avLst/>
          </a:prstGeom>
          <a:noFill/>
        </p:spPr>
        <p:txBody>
          <a:bodyPr wrap="square">
            <a:spAutoFit/>
          </a:bodyPr>
          <a:lstStyle/>
          <a:p>
            <a:pPr algn="l"/>
            <a:r>
              <a:rPr sz="1100" b="1" i="0">
                <a:solidFill>
                  <a:srgbClr val="FFFFFF"/>
                </a:solidFill>
                <a:latin typeface="Calibri"/>
              </a:rPr>
              <a:t>Qwen AI Transparency</a:t>
            </a:r>
          </a:p>
        </p:txBody>
      </p:sp>
      <p:sp>
        <p:nvSpPr>
          <p:cNvPr id="70" name="TextBox 69"/>
          <p:cNvSpPr txBox="1"/>
          <p:nvPr/>
        </p:nvSpPr>
        <p:spPr>
          <a:xfrm>
            <a:off x="8549640" y="2962656"/>
            <a:ext cx="3200400" cy="594360"/>
          </a:xfrm>
          <a:prstGeom prst="rect">
            <a:avLst/>
          </a:prstGeom>
          <a:noFill/>
        </p:spPr>
        <p:txBody>
          <a:bodyPr wrap="square">
            <a:spAutoFit/>
          </a:bodyPr>
          <a:lstStyle/>
          <a:p>
            <a:pPr algn="l"/>
            <a:r>
              <a:rPr sz="950" b="0" i="0">
                <a:solidFill>
                  <a:srgbClr val="FFFFFF"/>
                </a:solidFill>
                <a:latin typeface="Calibri"/>
              </a:rPr>
              <a:t>Every Qwen recommendation includes a sensor-referenced explanation. Confidence % always displayed.</a:t>
            </a:r>
          </a:p>
        </p:txBody>
      </p:sp>
      <p:sp>
        <p:nvSpPr>
          <p:cNvPr id="71" name="Rectangle 70"/>
          <p:cNvSpPr/>
          <p:nvPr/>
        </p:nvSpPr>
        <p:spPr>
          <a:xfrm>
            <a:off x="8458200" y="3694176"/>
            <a:ext cx="3383280" cy="100584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549640" y="3767328"/>
            <a:ext cx="3200400" cy="274320"/>
          </a:xfrm>
          <a:prstGeom prst="rect">
            <a:avLst/>
          </a:prstGeom>
          <a:noFill/>
        </p:spPr>
        <p:txBody>
          <a:bodyPr wrap="square">
            <a:spAutoFit/>
          </a:bodyPr>
          <a:lstStyle/>
          <a:p>
            <a:pPr algn="l"/>
            <a:r>
              <a:rPr sz="1100" b="1" i="0">
                <a:solidFill>
                  <a:srgbClr val="755B00"/>
                </a:solidFill>
                <a:latin typeface="Calibri"/>
              </a:rPr>
              <a:t>Human Override Always Available</a:t>
            </a:r>
          </a:p>
        </p:txBody>
      </p:sp>
      <p:sp>
        <p:nvSpPr>
          <p:cNvPr id="73" name="TextBox 72"/>
          <p:cNvSpPr txBox="1"/>
          <p:nvPr/>
        </p:nvSpPr>
        <p:spPr>
          <a:xfrm>
            <a:off x="8549640" y="4041648"/>
            <a:ext cx="3200400" cy="594360"/>
          </a:xfrm>
          <a:prstGeom prst="rect">
            <a:avLst/>
          </a:prstGeom>
          <a:noFill/>
        </p:spPr>
        <p:txBody>
          <a:bodyPr wrap="square">
            <a:spAutoFit/>
          </a:bodyPr>
          <a:lstStyle/>
          <a:p>
            <a:pPr algn="l"/>
            <a:r>
              <a:rPr sz="950" b="0" i="0">
                <a:solidFill>
                  <a:srgbClr val="755B00"/>
                </a:solidFill>
                <a:latin typeface="Calibri"/>
              </a:rPr>
              <a:t>Extension workers &amp; managers retain final authority. Qwen AI is advisory only — never mandatory.</a:t>
            </a:r>
          </a:p>
        </p:txBody>
      </p:sp>
      <p:sp>
        <p:nvSpPr>
          <p:cNvPr id="74" name="Rectangle 73"/>
          <p:cNvSpPr/>
          <p:nvPr/>
        </p:nvSpPr>
        <p:spPr>
          <a:xfrm>
            <a:off x="8458200" y="4773168"/>
            <a:ext cx="3383280" cy="1005840"/>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549640" y="4846320"/>
            <a:ext cx="3200400" cy="274320"/>
          </a:xfrm>
          <a:prstGeom prst="rect">
            <a:avLst/>
          </a:prstGeom>
          <a:noFill/>
        </p:spPr>
        <p:txBody>
          <a:bodyPr wrap="square">
            <a:spAutoFit/>
          </a:bodyPr>
          <a:lstStyle/>
          <a:p>
            <a:pPr algn="l"/>
            <a:r>
              <a:rPr sz="1100" b="1" i="0">
                <a:solidFill>
                  <a:srgbClr val="FFFFFF"/>
                </a:solidFill>
                <a:latin typeface="Calibri"/>
              </a:rPr>
              <a:t>Translation Quality Control</a:t>
            </a:r>
          </a:p>
        </p:txBody>
      </p:sp>
      <p:sp>
        <p:nvSpPr>
          <p:cNvPr id="76" name="TextBox 75"/>
          <p:cNvSpPr txBox="1"/>
          <p:nvPr/>
        </p:nvSpPr>
        <p:spPr>
          <a:xfrm>
            <a:off x="8549640" y="5120640"/>
            <a:ext cx="3200400" cy="594360"/>
          </a:xfrm>
          <a:prstGeom prst="rect">
            <a:avLst/>
          </a:prstGeom>
          <a:noFill/>
        </p:spPr>
        <p:txBody>
          <a:bodyPr wrap="square">
            <a:spAutoFit/>
          </a:bodyPr>
          <a:lstStyle/>
          <a:p>
            <a:pPr algn="l"/>
            <a:r>
              <a:rPr sz="950" b="0" i="0">
                <a:solidFill>
                  <a:srgbClr val="FFFFFF"/>
                </a:solidFill>
                <a:latin typeface="Calibri"/>
              </a:rPr>
              <a:t>NLLB Filipino translation shown alongside English original so farmers can verify meaning.</a:t>
            </a:r>
          </a:p>
        </p:txBody>
      </p:sp>
      <p:sp>
        <p:nvSpPr>
          <p:cNvPr id="77" name="Rectangle 76"/>
          <p:cNvSpPr/>
          <p:nvPr/>
        </p:nvSpPr>
        <p:spPr>
          <a:xfrm>
            <a:off x="320040" y="5779008"/>
            <a:ext cx="11567160" cy="85039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57200" y="5833872"/>
            <a:ext cx="1280160" cy="347472"/>
          </a:xfrm>
          <a:prstGeom prst="rect">
            <a:avLst/>
          </a:prstGeom>
          <a:noFill/>
        </p:spPr>
        <p:txBody>
          <a:bodyPr wrap="square">
            <a:spAutoFit/>
          </a:bodyPr>
          <a:lstStyle/>
          <a:p>
            <a:pPr algn="l"/>
            <a:r>
              <a:rPr sz="1300" b="1" i="0">
                <a:solidFill>
                  <a:srgbClr val="FED255"/>
                </a:solidFill>
                <a:latin typeface="Calibri"/>
              </a:rPr>
              <a:t>RA 10173</a:t>
            </a:r>
          </a:p>
        </p:txBody>
      </p:sp>
      <p:sp>
        <p:nvSpPr>
          <p:cNvPr id="79" name="TextBox 78"/>
          <p:cNvSpPr txBox="1"/>
          <p:nvPr/>
        </p:nvSpPr>
        <p:spPr>
          <a:xfrm>
            <a:off x="457200" y="6172200"/>
            <a:ext cx="1280160" cy="411480"/>
          </a:xfrm>
          <a:prstGeom prst="rect">
            <a:avLst/>
          </a:prstGeom>
          <a:noFill/>
        </p:spPr>
        <p:txBody>
          <a:bodyPr wrap="square">
            <a:spAutoFit/>
          </a:bodyPr>
          <a:lstStyle/>
          <a:p>
            <a:pPr algn="l"/>
            <a:r>
              <a:rPr sz="900" b="1" i="0">
                <a:solidFill>
                  <a:srgbClr val="A3F69C"/>
                </a:solidFill>
                <a:latin typeface="Calibri"/>
              </a:rPr>
              <a:t>DATA PRIVACY
ACT 2012</a:t>
            </a:r>
          </a:p>
        </p:txBody>
      </p:sp>
      <p:sp>
        <p:nvSpPr>
          <p:cNvPr id="80" name="TextBox 79"/>
          <p:cNvSpPr txBox="1"/>
          <p:nvPr/>
        </p:nvSpPr>
        <p:spPr>
          <a:xfrm>
            <a:off x="1828800" y="5833872"/>
            <a:ext cx="10058400" cy="749808"/>
          </a:xfrm>
          <a:prstGeom prst="rect">
            <a:avLst/>
          </a:prstGeom>
          <a:noFill/>
        </p:spPr>
        <p:txBody>
          <a:bodyPr wrap="square">
            <a:spAutoFit/>
          </a:bodyPr>
          <a:lstStyle/>
          <a:p>
            <a:pPr algn="l"/>
            <a:r>
              <a:rPr sz="950" b="0" i="0">
                <a:solidFill>
                  <a:srgbClr val="FFFFFF"/>
                </a:solidFill>
                <a:latin typeface="Calibri"/>
              </a:rPr>
              <a:t>Aking Bukid processes personal data (farm owner name, GPS location from Google Maps) under the lawful basis of legitimate interest per RA 10173. All sensor readings and location data are stored exclusively on-premises — never sent to Google or any cloud. Farmers consent at enrollment. NPC breach notification procedures are followed.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i="0">
                <a:solidFill>
                  <a:srgbClr val="FFFFFF"/>
                </a:solidFill>
                <a:latin typeface="Calibri"/>
              </a:rPr>
              <a:t>Model Selection Justification</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i="0">
                <a:solidFill>
                  <a:srgbClr val="A3F69C"/>
                </a:solidFill>
                <a:latin typeface="Calibri"/>
              </a:rPr>
              <a:t>Kaggle Crop Recommendation Dataset  ·  Random Forest vs. alternatives  ·  Qwen AI for language  ·  Meta NLLB for translation</a:t>
            </a:r>
          </a:p>
        </p:txBody>
      </p:sp>
      <p:sp>
        <p:nvSpPr>
          <p:cNvPr id="5" name="Rectangle 4"/>
          <p:cNvSpPr/>
          <p:nvPr/>
        </p:nvSpPr>
        <p:spPr>
          <a:xfrm>
            <a:off x="11430000" y="274320"/>
            <a:ext cx="548640" cy="365760"/>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i="0">
                <a:solidFill>
                  <a:srgbClr val="755B00"/>
                </a:solidFill>
                <a:latin typeface="Calibri"/>
              </a:rPr>
              <a:t>8</a:t>
            </a:r>
          </a:p>
        </p:txBody>
      </p:sp>
      <p:sp>
        <p:nvSpPr>
          <p:cNvPr id="7" name="Rectangle 6"/>
          <p:cNvSpPr/>
          <p:nvPr/>
        </p:nvSpPr>
        <p:spPr>
          <a:xfrm>
            <a:off x="320040" y="1005840"/>
            <a:ext cx="6035040" cy="562356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78992"/>
            <a:ext cx="5760720" cy="347472"/>
          </a:xfrm>
          <a:prstGeom prst="rect">
            <a:avLst/>
          </a:prstGeom>
          <a:noFill/>
        </p:spPr>
        <p:txBody>
          <a:bodyPr wrap="square">
            <a:spAutoFit/>
          </a:bodyPr>
          <a:lstStyle/>
          <a:p>
            <a:pPr algn="l"/>
            <a:r>
              <a:rPr sz="1400" b="1" i="0">
                <a:solidFill>
                  <a:srgbClr val="0D631B"/>
                </a:solidFill>
                <a:latin typeface="Calibri"/>
              </a:rPr>
              <a:t>Why This Model Stack?</a:t>
            </a:r>
          </a:p>
        </p:txBody>
      </p:sp>
      <p:sp>
        <p:nvSpPr>
          <p:cNvPr id="9" name="Rectangle 8"/>
          <p:cNvSpPr/>
          <p:nvPr/>
        </p:nvSpPr>
        <p:spPr>
          <a:xfrm>
            <a:off x="457200" y="1508760"/>
            <a:ext cx="5760720" cy="658368"/>
          </a:xfrm>
          <a:prstGeom prst="rect">
            <a:avLst/>
          </a:prstGeom>
          <a:solidFill>
            <a:srgbClr val="FED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1554480"/>
            <a:ext cx="5486400" cy="274320"/>
          </a:xfrm>
          <a:prstGeom prst="rect">
            <a:avLst/>
          </a:prstGeom>
          <a:noFill/>
        </p:spPr>
        <p:txBody>
          <a:bodyPr wrap="square">
            <a:spAutoFit/>
          </a:bodyPr>
          <a:lstStyle/>
          <a:p>
            <a:pPr algn="l"/>
            <a:r>
              <a:rPr sz="1200" b="1" i="0">
                <a:solidFill>
                  <a:srgbClr val="755B00"/>
                </a:solidFill>
                <a:latin typeface="Calibri"/>
              </a:rPr>
              <a:t>Training Data: Kaggle — Crop Recommendation Dataset</a:t>
            </a:r>
          </a:p>
        </p:txBody>
      </p:sp>
      <p:sp>
        <p:nvSpPr>
          <p:cNvPr id="11" name="TextBox 10"/>
          <p:cNvSpPr txBox="1"/>
          <p:nvPr/>
        </p:nvSpPr>
        <p:spPr>
          <a:xfrm>
            <a:off x="566928" y="1828800"/>
            <a:ext cx="5486400" cy="274320"/>
          </a:xfrm>
          <a:prstGeom prst="rect">
            <a:avLst/>
          </a:prstGeom>
          <a:noFill/>
        </p:spPr>
        <p:txBody>
          <a:bodyPr wrap="square">
            <a:spAutoFit/>
          </a:bodyPr>
          <a:lstStyle/>
          <a:p>
            <a:pPr algn="l"/>
            <a:r>
              <a:rPr sz="1000" b="0" i="0">
                <a:solidFill>
                  <a:srgbClr val="755B00"/>
                </a:solidFill>
                <a:latin typeface="Calibri"/>
              </a:rPr>
              <a:t>2,200 labeled soil samples · 7 features (N, P, K, pH, temp, humidity, rainfall) · 22 crop classes</a:t>
            </a:r>
          </a:p>
        </p:txBody>
      </p:sp>
      <p:sp>
        <p:nvSpPr>
          <p:cNvPr id="12" name="Rectangle 11"/>
          <p:cNvSpPr/>
          <p:nvPr/>
        </p:nvSpPr>
        <p:spPr>
          <a:xfrm>
            <a:off x="457200" y="2322576"/>
            <a:ext cx="256032" cy="25603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322576"/>
            <a:ext cx="256032" cy="256032"/>
          </a:xfrm>
          <a:prstGeom prst="rect">
            <a:avLst/>
          </a:prstGeom>
          <a:noFill/>
        </p:spPr>
        <p:txBody>
          <a:bodyPr wrap="square">
            <a:spAutoFit/>
          </a:bodyPr>
          <a:lstStyle/>
          <a:p>
            <a:pPr algn="ctr"/>
            <a:r>
              <a:rPr sz="1100" b="1" i="0">
                <a:solidFill>
                  <a:srgbClr val="FFFFFF"/>
                </a:solidFill>
                <a:latin typeface="Calibri"/>
              </a:rPr>
              <a:t>✓</a:t>
            </a:r>
          </a:p>
        </p:txBody>
      </p:sp>
      <p:sp>
        <p:nvSpPr>
          <p:cNvPr id="14" name="TextBox 13"/>
          <p:cNvSpPr txBox="1"/>
          <p:nvPr/>
        </p:nvSpPr>
        <p:spPr>
          <a:xfrm>
            <a:off x="804672" y="2286000"/>
            <a:ext cx="5394960" cy="274320"/>
          </a:xfrm>
          <a:prstGeom prst="rect">
            <a:avLst/>
          </a:prstGeom>
          <a:noFill/>
        </p:spPr>
        <p:txBody>
          <a:bodyPr wrap="square">
            <a:spAutoFit/>
          </a:bodyPr>
          <a:lstStyle/>
          <a:p>
            <a:pPr algn="l"/>
            <a:r>
              <a:rPr sz="1100" b="1" i="0">
                <a:solidFill>
                  <a:srgbClr val="0D631B"/>
                </a:solidFill>
                <a:latin typeface="Calibri"/>
              </a:rPr>
              <a:t>Random Forest — 98.9% on Kaggle Dataset</a:t>
            </a:r>
          </a:p>
        </p:txBody>
      </p:sp>
      <p:sp>
        <p:nvSpPr>
          <p:cNvPr id="15" name="TextBox 14"/>
          <p:cNvSpPr txBox="1"/>
          <p:nvPr/>
        </p:nvSpPr>
        <p:spPr>
          <a:xfrm>
            <a:off x="804672" y="2560320"/>
            <a:ext cx="5394960" cy="530352"/>
          </a:xfrm>
          <a:prstGeom prst="rect">
            <a:avLst/>
          </a:prstGeom>
          <a:noFill/>
        </p:spPr>
        <p:txBody>
          <a:bodyPr wrap="square">
            <a:spAutoFit/>
          </a:bodyPr>
          <a:lstStyle/>
          <a:p>
            <a:pPr algn="l"/>
            <a:r>
              <a:rPr sz="950" b="0" i="0">
                <a:solidFill>
                  <a:srgbClr val="40493D"/>
                </a:solidFill>
                <a:latin typeface="Calibri"/>
              </a:rPr>
              <a:t>Achieved 98.9% accuracy in cross-validation on the Kaggle Crop Recommendation Dataset. Outperformed Decision Tree (90.1%), KNN (97.1%), and SVM (97.8%) on the same data.</a:t>
            </a:r>
          </a:p>
        </p:txBody>
      </p:sp>
      <p:sp>
        <p:nvSpPr>
          <p:cNvPr id="16" name="Rectangle 15"/>
          <p:cNvSpPr/>
          <p:nvPr/>
        </p:nvSpPr>
        <p:spPr>
          <a:xfrm>
            <a:off x="457200" y="3163824"/>
            <a:ext cx="256032" cy="25603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163824"/>
            <a:ext cx="256032" cy="256032"/>
          </a:xfrm>
          <a:prstGeom prst="rect">
            <a:avLst/>
          </a:prstGeom>
          <a:noFill/>
        </p:spPr>
        <p:txBody>
          <a:bodyPr wrap="square">
            <a:spAutoFit/>
          </a:bodyPr>
          <a:lstStyle/>
          <a:p>
            <a:pPr algn="ctr"/>
            <a:r>
              <a:rPr sz="1100" b="1" i="0">
                <a:solidFill>
                  <a:srgbClr val="FFFFFF"/>
                </a:solidFill>
                <a:latin typeface="Calibri"/>
              </a:rPr>
              <a:t>✓</a:t>
            </a:r>
          </a:p>
        </p:txBody>
      </p:sp>
      <p:sp>
        <p:nvSpPr>
          <p:cNvPr id="18" name="TextBox 17"/>
          <p:cNvSpPr txBox="1"/>
          <p:nvPr/>
        </p:nvSpPr>
        <p:spPr>
          <a:xfrm>
            <a:off x="804672" y="3127248"/>
            <a:ext cx="5394960" cy="274320"/>
          </a:xfrm>
          <a:prstGeom prst="rect">
            <a:avLst/>
          </a:prstGeom>
          <a:noFill/>
        </p:spPr>
        <p:txBody>
          <a:bodyPr wrap="square">
            <a:spAutoFit/>
          </a:bodyPr>
          <a:lstStyle/>
          <a:p>
            <a:pPr algn="l"/>
            <a:r>
              <a:rPr sz="1100" b="1" i="0">
                <a:solidFill>
                  <a:srgbClr val="0D631B"/>
                </a:solidFill>
                <a:latin typeface="Calibri"/>
              </a:rPr>
              <a:t>Offline-Ready — 3.5 MB .pkl File</a:t>
            </a:r>
          </a:p>
        </p:txBody>
      </p:sp>
      <p:sp>
        <p:nvSpPr>
          <p:cNvPr id="19" name="TextBox 18"/>
          <p:cNvSpPr txBox="1"/>
          <p:nvPr/>
        </p:nvSpPr>
        <p:spPr>
          <a:xfrm>
            <a:off x="804672" y="3401568"/>
            <a:ext cx="5394960" cy="530352"/>
          </a:xfrm>
          <a:prstGeom prst="rect">
            <a:avLst/>
          </a:prstGeom>
          <a:noFill/>
        </p:spPr>
        <p:txBody>
          <a:bodyPr wrap="square">
            <a:spAutoFit/>
          </a:bodyPr>
          <a:lstStyle/>
          <a:p>
            <a:pPr algn="l"/>
            <a:r>
              <a:rPr sz="950" b="0" i="0">
                <a:solidFill>
                  <a:srgbClr val="40493D"/>
                </a:solidFill>
                <a:latin typeface="Calibri"/>
              </a:rPr>
              <a:t>The entire trained model is one serialized .pkl file. Runs in milliseconds on CPU. No GPU, no cloud API, no subscription. Deployable on a ₱20K laptop.</a:t>
            </a:r>
          </a:p>
        </p:txBody>
      </p:sp>
      <p:sp>
        <p:nvSpPr>
          <p:cNvPr id="20" name="Rectangle 19"/>
          <p:cNvSpPr/>
          <p:nvPr/>
        </p:nvSpPr>
        <p:spPr>
          <a:xfrm>
            <a:off x="457200" y="4005072"/>
            <a:ext cx="256032" cy="25603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005072"/>
            <a:ext cx="256032" cy="256032"/>
          </a:xfrm>
          <a:prstGeom prst="rect">
            <a:avLst/>
          </a:prstGeom>
          <a:noFill/>
        </p:spPr>
        <p:txBody>
          <a:bodyPr wrap="square">
            <a:spAutoFit/>
          </a:bodyPr>
          <a:lstStyle/>
          <a:p>
            <a:pPr algn="ctr"/>
            <a:r>
              <a:rPr sz="1100" b="1" i="0">
                <a:solidFill>
                  <a:srgbClr val="FFFFFF"/>
                </a:solidFill>
                <a:latin typeface="Calibri"/>
              </a:rPr>
              <a:t>✓</a:t>
            </a:r>
          </a:p>
        </p:txBody>
      </p:sp>
      <p:sp>
        <p:nvSpPr>
          <p:cNvPr id="22" name="TextBox 21"/>
          <p:cNvSpPr txBox="1"/>
          <p:nvPr/>
        </p:nvSpPr>
        <p:spPr>
          <a:xfrm>
            <a:off x="804672" y="3968496"/>
            <a:ext cx="5394960" cy="274320"/>
          </a:xfrm>
          <a:prstGeom prst="rect">
            <a:avLst/>
          </a:prstGeom>
          <a:noFill/>
        </p:spPr>
        <p:txBody>
          <a:bodyPr wrap="square">
            <a:spAutoFit/>
          </a:bodyPr>
          <a:lstStyle/>
          <a:p>
            <a:pPr algn="l"/>
            <a:r>
              <a:rPr sz="1100" b="1" i="0">
                <a:solidFill>
                  <a:srgbClr val="0D631B"/>
                </a:solidFill>
                <a:latin typeface="Calibri"/>
              </a:rPr>
              <a:t>Perfect for Tabular Sensor Data</a:t>
            </a:r>
          </a:p>
        </p:txBody>
      </p:sp>
      <p:sp>
        <p:nvSpPr>
          <p:cNvPr id="23" name="TextBox 22"/>
          <p:cNvSpPr txBox="1"/>
          <p:nvPr/>
        </p:nvSpPr>
        <p:spPr>
          <a:xfrm>
            <a:off x="804672" y="4242816"/>
            <a:ext cx="5394960" cy="530352"/>
          </a:xfrm>
          <a:prstGeom prst="rect">
            <a:avLst/>
          </a:prstGeom>
          <a:noFill/>
        </p:spPr>
        <p:txBody>
          <a:bodyPr wrap="square">
            <a:spAutoFit/>
          </a:bodyPr>
          <a:lstStyle/>
          <a:p>
            <a:pPr algn="l"/>
            <a:r>
              <a:rPr sz="950" b="0" i="0">
                <a:solidFill>
                  <a:srgbClr val="40493D"/>
                </a:solidFill>
                <a:latin typeface="Calibri"/>
              </a:rPr>
              <a:t>Random Forest is the gold standard for structured tabular data. The Kaggle dataset features (N, P, K, pH, temp, humidity, rainfall) map directly to our IoT sensor readings.</a:t>
            </a:r>
          </a:p>
        </p:txBody>
      </p:sp>
      <p:sp>
        <p:nvSpPr>
          <p:cNvPr id="24" name="Rectangle 23"/>
          <p:cNvSpPr/>
          <p:nvPr/>
        </p:nvSpPr>
        <p:spPr>
          <a:xfrm>
            <a:off x="457200" y="4846320"/>
            <a:ext cx="256032" cy="25603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846320"/>
            <a:ext cx="256032" cy="256032"/>
          </a:xfrm>
          <a:prstGeom prst="rect">
            <a:avLst/>
          </a:prstGeom>
          <a:noFill/>
        </p:spPr>
        <p:txBody>
          <a:bodyPr wrap="square">
            <a:spAutoFit/>
          </a:bodyPr>
          <a:lstStyle/>
          <a:p>
            <a:pPr algn="ctr"/>
            <a:r>
              <a:rPr sz="1100" b="1" i="0">
                <a:solidFill>
                  <a:srgbClr val="FFFFFF"/>
                </a:solidFill>
                <a:latin typeface="Calibri"/>
              </a:rPr>
              <a:t>✓</a:t>
            </a:r>
          </a:p>
        </p:txBody>
      </p:sp>
      <p:sp>
        <p:nvSpPr>
          <p:cNvPr id="26" name="TextBox 25"/>
          <p:cNvSpPr txBox="1"/>
          <p:nvPr/>
        </p:nvSpPr>
        <p:spPr>
          <a:xfrm>
            <a:off x="804672" y="4809744"/>
            <a:ext cx="5394960" cy="274320"/>
          </a:xfrm>
          <a:prstGeom prst="rect">
            <a:avLst/>
          </a:prstGeom>
          <a:noFill/>
        </p:spPr>
        <p:txBody>
          <a:bodyPr wrap="square">
            <a:spAutoFit/>
          </a:bodyPr>
          <a:lstStyle/>
          <a:p>
            <a:pPr algn="l"/>
            <a:r>
              <a:rPr sz="1100" b="1" i="0">
                <a:solidFill>
                  <a:srgbClr val="0D631B"/>
                </a:solidFill>
                <a:latin typeface="Calibri"/>
              </a:rPr>
              <a:t>Qwen (Ollama) for Recommendation Language</a:t>
            </a:r>
          </a:p>
        </p:txBody>
      </p:sp>
      <p:sp>
        <p:nvSpPr>
          <p:cNvPr id="27" name="TextBox 26"/>
          <p:cNvSpPr txBox="1"/>
          <p:nvPr/>
        </p:nvSpPr>
        <p:spPr>
          <a:xfrm>
            <a:off x="804672" y="5084064"/>
            <a:ext cx="5394960" cy="530352"/>
          </a:xfrm>
          <a:prstGeom prst="rect">
            <a:avLst/>
          </a:prstGeom>
          <a:noFill/>
        </p:spPr>
        <p:txBody>
          <a:bodyPr wrap="square">
            <a:spAutoFit/>
          </a:bodyPr>
          <a:lstStyle/>
          <a:p>
            <a:pPr algn="l"/>
            <a:r>
              <a:rPr sz="950" b="0" i="0">
                <a:solidFill>
                  <a:srgbClr val="40493D"/>
                </a:solidFill>
                <a:latin typeface="Calibri"/>
              </a:rPr>
              <a:t>After RF selects the crop, the offline Qwen 2.5:3b model generates a plain-language explanation referencing the actual sensor values that drove the recommendation.</a:t>
            </a:r>
          </a:p>
        </p:txBody>
      </p:sp>
      <p:sp>
        <p:nvSpPr>
          <p:cNvPr id="28" name="Rectangle 27"/>
          <p:cNvSpPr/>
          <p:nvPr/>
        </p:nvSpPr>
        <p:spPr>
          <a:xfrm>
            <a:off x="457200" y="5687568"/>
            <a:ext cx="256032" cy="256032"/>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687568"/>
            <a:ext cx="256032" cy="256032"/>
          </a:xfrm>
          <a:prstGeom prst="rect">
            <a:avLst/>
          </a:prstGeom>
          <a:noFill/>
        </p:spPr>
        <p:txBody>
          <a:bodyPr wrap="square">
            <a:spAutoFit/>
          </a:bodyPr>
          <a:lstStyle/>
          <a:p>
            <a:pPr algn="ctr"/>
            <a:r>
              <a:rPr sz="1100" b="1" i="0">
                <a:solidFill>
                  <a:srgbClr val="FFFFFF"/>
                </a:solidFill>
                <a:latin typeface="Calibri"/>
              </a:rPr>
              <a:t>✓</a:t>
            </a:r>
          </a:p>
        </p:txBody>
      </p:sp>
      <p:sp>
        <p:nvSpPr>
          <p:cNvPr id="30" name="TextBox 29"/>
          <p:cNvSpPr txBox="1"/>
          <p:nvPr/>
        </p:nvSpPr>
        <p:spPr>
          <a:xfrm>
            <a:off x="804672" y="5650992"/>
            <a:ext cx="5394960" cy="274320"/>
          </a:xfrm>
          <a:prstGeom prst="rect">
            <a:avLst/>
          </a:prstGeom>
          <a:noFill/>
        </p:spPr>
        <p:txBody>
          <a:bodyPr wrap="square">
            <a:spAutoFit/>
          </a:bodyPr>
          <a:lstStyle/>
          <a:p>
            <a:pPr algn="l"/>
            <a:r>
              <a:rPr sz="1100" b="1" i="0">
                <a:solidFill>
                  <a:srgbClr val="0D631B"/>
                </a:solidFill>
                <a:latin typeface="Calibri"/>
              </a:rPr>
              <a:t>Meta NLLB-200 for Filipino Translation</a:t>
            </a:r>
          </a:p>
        </p:txBody>
      </p:sp>
      <p:sp>
        <p:nvSpPr>
          <p:cNvPr id="31" name="TextBox 30"/>
          <p:cNvSpPr txBox="1"/>
          <p:nvPr/>
        </p:nvSpPr>
        <p:spPr>
          <a:xfrm>
            <a:off x="804672" y="5925312"/>
            <a:ext cx="5394960" cy="530352"/>
          </a:xfrm>
          <a:prstGeom prst="rect">
            <a:avLst/>
          </a:prstGeom>
          <a:noFill/>
        </p:spPr>
        <p:txBody>
          <a:bodyPr wrap="square">
            <a:spAutoFit/>
          </a:bodyPr>
          <a:lstStyle/>
          <a:p>
            <a:pPr algn="l"/>
            <a:r>
              <a:rPr sz="950" b="0" i="0">
                <a:solidFill>
                  <a:srgbClr val="40493D"/>
                </a:solidFill>
                <a:latin typeface="Calibri"/>
              </a:rPr>
              <a:t>Meta's No Language Left Behind (NLLB-200-distilled-600M) translates the Qwen explanation to Filipino — offline, zero API cost, 200+ language pairs supported.</a:t>
            </a:r>
          </a:p>
        </p:txBody>
      </p:sp>
      <p:sp>
        <p:nvSpPr>
          <p:cNvPr id="32" name="Rectangle 31"/>
          <p:cNvSpPr/>
          <p:nvPr/>
        </p:nvSpPr>
        <p:spPr>
          <a:xfrm>
            <a:off x="6537960" y="1005840"/>
            <a:ext cx="5349240" cy="3246120"/>
          </a:xfrm>
          <a:prstGeom prst="rect">
            <a:avLst/>
          </a:prstGeom>
          <a:solidFill>
            <a:srgbClr val="FFFFFF"/>
          </a:solidFill>
          <a:ln w="12700">
            <a:solidFill>
              <a:srgbClr val="E5E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75120" y="1078992"/>
            <a:ext cx="5074920" cy="347472"/>
          </a:xfrm>
          <a:prstGeom prst="rect">
            <a:avLst/>
          </a:prstGeom>
          <a:noFill/>
        </p:spPr>
        <p:txBody>
          <a:bodyPr wrap="square">
            <a:spAutoFit/>
          </a:bodyPr>
          <a:lstStyle/>
          <a:p>
            <a:pPr algn="l"/>
            <a:r>
              <a:rPr sz="1300" b="1" i="0">
                <a:solidFill>
                  <a:srgbClr val="0D631B"/>
                </a:solidFill>
                <a:latin typeface="Calibri"/>
              </a:rPr>
              <a:t>Model Comparison (Kaggle Dataset)</a:t>
            </a:r>
          </a:p>
        </p:txBody>
      </p:sp>
      <p:sp>
        <p:nvSpPr>
          <p:cNvPr id="34" name="Rectangle 33"/>
          <p:cNvSpPr/>
          <p:nvPr/>
        </p:nvSpPr>
        <p:spPr>
          <a:xfrm>
            <a:off x="6583680" y="1463040"/>
            <a:ext cx="5257800" cy="347472"/>
          </a:xfrm>
          <a:prstGeom prst="rect">
            <a:avLst/>
          </a:prstGeom>
          <a:solidFill>
            <a:srgbClr val="E5E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1490472"/>
            <a:ext cx="1508760" cy="274320"/>
          </a:xfrm>
          <a:prstGeom prst="rect">
            <a:avLst/>
          </a:prstGeom>
          <a:noFill/>
        </p:spPr>
        <p:txBody>
          <a:bodyPr wrap="square">
            <a:spAutoFit/>
          </a:bodyPr>
          <a:lstStyle/>
          <a:p>
            <a:pPr algn="ctr"/>
            <a:r>
              <a:rPr sz="850" b="1" i="0">
                <a:solidFill>
                  <a:srgbClr val="0D631B"/>
                </a:solidFill>
                <a:latin typeface="Calibri"/>
              </a:rPr>
              <a:t>Model</a:t>
            </a:r>
          </a:p>
        </p:txBody>
      </p:sp>
      <p:sp>
        <p:nvSpPr>
          <p:cNvPr id="36" name="TextBox 35"/>
          <p:cNvSpPr txBox="1"/>
          <p:nvPr/>
        </p:nvSpPr>
        <p:spPr>
          <a:xfrm>
            <a:off x="8183880" y="1490472"/>
            <a:ext cx="822960" cy="274320"/>
          </a:xfrm>
          <a:prstGeom prst="rect">
            <a:avLst/>
          </a:prstGeom>
          <a:noFill/>
        </p:spPr>
        <p:txBody>
          <a:bodyPr wrap="square">
            <a:spAutoFit/>
          </a:bodyPr>
          <a:lstStyle/>
          <a:p>
            <a:pPr algn="ctr"/>
            <a:r>
              <a:rPr sz="850" b="1" i="0">
                <a:solidFill>
                  <a:srgbClr val="0D631B"/>
                </a:solidFill>
                <a:latin typeface="Calibri"/>
              </a:rPr>
              <a:t>Accuracy</a:t>
            </a:r>
          </a:p>
        </p:txBody>
      </p:sp>
      <p:sp>
        <p:nvSpPr>
          <p:cNvPr id="37" name="TextBox 36"/>
          <p:cNvSpPr txBox="1"/>
          <p:nvPr/>
        </p:nvSpPr>
        <p:spPr>
          <a:xfrm>
            <a:off x="9006840" y="1490472"/>
            <a:ext cx="731520" cy="274320"/>
          </a:xfrm>
          <a:prstGeom prst="rect">
            <a:avLst/>
          </a:prstGeom>
          <a:noFill/>
        </p:spPr>
        <p:txBody>
          <a:bodyPr wrap="square">
            <a:spAutoFit/>
          </a:bodyPr>
          <a:lstStyle/>
          <a:p>
            <a:pPr algn="ctr"/>
            <a:r>
              <a:rPr sz="850" b="1" i="0">
                <a:solidFill>
                  <a:srgbClr val="0D631B"/>
                </a:solidFill>
                <a:latin typeface="Calibri"/>
              </a:rPr>
              <a:t>Offline</a:t>
            </a:r>
          </a:p>
        </p:txBody>
      </p:sp>
      <p:sp>
        <p:nvSpPr>
          <p:cNvPr id="38" name="TextBox 37"/>
          <p:cNvSpPr txBox="1"/>
          <p:nvPr/>
        </p:nvSpPr>
        <p:spPr>
          <a:xfrm>
            <a:off x="9738360" y="1490472"/>
            <a:ext cx="685800" cy="274320"/>
          </a:xfrm>
          <a:prstGeom prst="rect">
            <a:avLst/>
          </a:prstGeom>
          <a:noFill/>
        </p:spPr>
        <p:txBody>
          <a:bodyPr wrap="square">
            <a:spAutoFit/>
          </a:bodyPr>
          <a:lstStyle/>
          <a:p>
            <a:pPr algn="ctr"/>
            <a:r>
              <a:rPr sz="850" b="1" i="0">
                <a:solidFill>
                  <a:srgbClr val="0D631B"/>
                </a:solidFill>
                <a:latin typeface="Calibri"/>
              </a:rPr>
              <a:t>Speed</a:t>
            </a:r>
          </a:p>
        </p:txBody>
      </p:sp>
      <p:sp>
        <p:nvSpPr>
          <p:cNvPr id="39" name="TextBox 38"/>
          <p:cNvSpPr txBox="1"/>
          <p:nvPr/>
        </p:nvSpPr>
        <p:spPr>
          <a:xfrm>
            <a:off x="10424160" y="1490472"/>
            <a:ext cx="777240" cy="274320"/>
          </a:xfrm>
          <a:prstGeom prst="rect">
            <a:avLst/>
          </a:prstGeom>
          <a:noFill/>
        </p:spPr>
        <p:txBody>
          <a:bodyPr wrap="square">
            <a:spAutoFit/>
          </a:bodyPr>
          <a:lstStyle/>
          <a:p>
            <a:pPr algn="ctr"/>
            <a:r>
              <a:rPr sz="850" b="1" i="0">
                <a:solidFill>
                  <a:srgbClr val="0D631B"/>
                </a:solidFill>
                <a:latin typeface="Calibri"/>
              </a:rPr>
              <a:t>Size</a:t>
            </a:r>
          </a:p>
        </p:txBody>
      </p:sp>
      <p:sp>
        <p:nvSpPr>
          <p:cNvPr id="40" name="TextBox 39"/>
          <p:cNvSpPr txBox="1"/>
          <p:nvPr/>
        </p:nvSpPr>
        <p:spPr>
          <a:xfrm>
            <a:off x="11201400" y="1490472"/>
            <a:ext cx="777240" cy="274320"/>
          </a:xfrm>
          <a:prstGeom prst="rect">
            <a:avLst/>
          </a:prstGeom>
          <a:noFill/>
        </p:spPr>
        <p:txBody>
          <a:bodyPr wrap="square">
            <a:spAutoFit/>
          </a:bodyPr>
          <a:lstStyle/>
          <a:p>
            <a:pPr algn="ctr"/>
            <a:r>
              <a:rPr sz="850" b="1" i="0">
                <a:solidFill>
                  <a:srgbClr val="0D631B"/>
                </a:solidFill>
                <a:latin typeface="Calibri"/>
              </a:rPr>
              <a:t>Used?</a:t>
            </a:r>
          </a:p>
        </p:txBody>
      </p:sp>
      <p:sp>
        <p:nvSpPr>
          <p:cNvPr id="41" name="Rectangle 40"/>
          <p:cNvSpPr/>
          <p:nvPr/>
        </p:nvSpPr>
        <p:spPr>
          <a:xfrm>
            <a:off x="6583680" y="1828800"/>
            <a:ext cx="5257800" cy="457200"/>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75120" y="1920240"/>
            <a:ext cx="1508760" cy="274320"/>
          </a:xfrm>
          <a:prstGeom prst="rect">
            <a:avLst/>
          </a:prstGeom>
          <a:noFill/>
        </p:spPr>
        <p:txBody>
          <a:bodyPr wrap="square">
            <a:spAutoFit/>
          </a:bodyPr>
          <a:lstStyle/>
          <a:p>
            <a:pPr algn="ctr"/>
            <a:r>
              <a:rPr sz="1000" b="1" i="0">
                <a:solidFill>
                  <a:srgbClr val="FFFFFF"/>
                </a:solidFill>
                <a:latin typeface="Calibri"/>
              </a:rPr>
              <a:t>Random Forest</a:t>
            </a:r>
          </a:p>
        </p:txBody>
      </p:sp>
      <p:sp>
        <p:nvSpPr>
          <p:cNvPr id="43" name="TextBox 42"/>
          <p:cNvSpPr txBox="1"/>
          <p:nvPr/>
        </p:nvSpPr>
        <p:spPr>
          <a:xfrm>
            <a:off x="8183880" y="1920240"/>
            <a:ext cx="822960" cy="274320"/>
          </a:xfrm>
          <a:prstGeom prst="rect">
            <a:avLst/>
          </a:prstGeom>
          <a:noFill/>
        </p:spPr>
        <p:txBody>
          <a:bodyPr wrap="square">
            <a:spAutoFit/>
          </a:bodyPr>
          <a:lstStyle/>
          <a:p>
            <a:pPr algn="ctr"/>
            <a:r>
              <a:rPr sz="1000" b="1" i="0">
                <a:solidFill>
                  <a:srgbClr val="FFFFFF"/>
                </a:solidFill>
                <a:latin typeface="Calibri"/>
              </a:rPr>
              <a:t>98.9%</a:t>
            </a:r>
          </a:p>
        </p:txBody>
      </p:sp>
      <p:sp>
        <p:nvSpPr>
          <p:cNvPr id="44" name="TextBox 43"/>
          <p:cNvSpPr txBox="1"/>
          <p:nvPr/>
        </p:nvSpPr>
        <p:spPr>
          <a:xfrm>
            <a:off x="9006840" y="1920240"/>
            <a:ext cx="731520" cy="274320"/>
          </a:xfrm>
          <a:prstGeom prst="rect">
            <a:avLst/>
          </a:prstGeom>
          <a:noFill/>
        </p:spPr>
        <p:txBody>
          <a:bodyPr wrap="square">
            <a:spAutoFit/>
          </a:bodyPr>
          <a:lstStyle/>
          <a:p>
            <a:pPr algn="ctr"/>
            <a:r>
              <a:rPr sz="1000" b="1" i="0">
                <a:solidFill>
                  <a:srgbClr val="FFFFFF"/>
                </a:solidFill>
                <a:latin typeface="Calibri"/>
              </a:rPr>
              <a:t>✅</a:t>
            </a:r>
          </a:p>
        </p:txBody>
      </p:sp>
      <p:sp>
        <p:nvSpPr>
          <p:cNvPr id="45" name="TextBox 44"/>
          <p:cNvSpPr txBox="1"/>
          <p:nvPr/>
        </p:nvSpPr>
        <p:spPr>
          <a:xfrm>
            <a:off x="9738360" y="1920240"/>
            <a:ext cx="685800" cy="274320"/>
          </a:xfrm>
          <a:prstGeom prst="rect">
            <a:avLst/>
          </a:prstGeom>
          <a:noFill/>
        </p:spPr>
        <p:txBody>
          <a:bodyPr wrap="square">
            <a:spAutoFit/>
          </a:bodyPr>
          <a:lstStyle/>
          <a:p>
            <a:pPr algn="ctr"/>
            <a:r>
              <a:rPr sz="1000" b="1" i="0">
                <a:solidFill>
                  <a:srgbClr val="FFFFFF"/>
                </a:solidFill>
                <a:latin typeface="Calibri"/>
              </a:rPr>
              <a:t>Fast</a:t>
            </a:r>
          </a:p>
        </p:txBody>
      </p:sp>
      <p:sp>
        <p:nvSpPr>
          <p:cNvPr id="46" name="TextBox 45"/>
          <p:cNvSpPr txBox="1"/>
          <p:nvPr/>
        </p:nvSpPr>
        <p:spPr>
          <a:xfrm>
            <a:off x="10424160" y="1920240"/>
            <a:ext cx="777240" cy="274320"/>
          </a:xfrm>
          <a:prstGeom prst="rect">
            <a:avLst/>
          </a:prstGeom>
          <a:noFill/>
        </p:spPr>
        <p:txBody>
          <a:bodyPr wrap="square">
            <a:spAutoFit/>
          </a:bodyPr>
          <a:lstStyle/>
          <a:p>
            <a:pPr algn="ctr"/>
            <a:r>
              <a:rPr sz="1000" b="1" i="0">
                <a:solidFill>
                  <a:srgbClr val="FFFFFF"/>
                </a:solidFill>
                <a:latin typeface="Calibri"/>
              </a:rPr>
              <a:t>3.5 MB</a:t>
            </a:r>
          </a:p>
        </p:txBody>
      </p:sp>
      <p:sp>
        <p:nvSpPr>
          <p:cNvPr id="47" name="TextBox 46"/>
          <p:cNvSpPr txBox="1"/>
          <p:nvPr/>
        </p:nvSpPr>
        <p:spPr>
          <a:xfrm>
            <a:off x="11201400" y="1920240"/>
            <a:ext cx="777240" cy="274320"/>
          </a:xfrm>
          <a:prstGeom prst="rect">
            <a:avLst/>
          </a:prstGeom>
          <a:noFill/>
        </p:spPr>
        <p:txBody>
          <a:bodyPr wrap="square">
            <a:spAutoFit/>
          </a:bodyPr>
          <a:lstStyle/>
          <a:p>
            <a:pPr algn="ctr"/>
            <a:r>
              <a:rPr sz="1000" b="1" i="0">
                <a:solidFill>
                  <a:srgbClr val="FFFFFF"/>
                </a:solidFill>
                <a:latin typeface="Calibri"/>
              </a:rPr>
              <a:t>⭐ Yes</a:t>
            </a:r>
          </a:p>
        </p:txBody>
      </p:sp>
      <p:sp>
        <p:nvSpPr>
          <p:cNvPr id="48" name="Rectangle 47"/>
          <p:cNvSpPr/>
          <p:nvPr/>
        </p:nvSpPr>
        <p:spPr>
          <a:xfrm>
            <a:off x="6583680" y="2304288"/>
            <a:ext cx="5257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75120" y="2395728"/>
            <a:ext cx="1508760" cy="274320"/>
          </a:xfrm>
          <a:prstGeom prst="rect">
            <a:avLst/>
          </a:prstGeom>
          <a:noFill/>
        </p:spPr>
        <p:txBody>
          <a:bodyPr wrap="square">
            <a:spAutoFit/>
          </a:bodyPr>
          <a:lstStyle/>
          <a:p>
            <a:pPr algn="ctr"/>
            <a:r>
              <a:rPr sz="1000" b="0" i="0">
                <a:solidFill>
                  <a:srgbClr val="181D17"/>
                </a:solidFill>
                <a:latin typeface="Calibri"/>
              </a:rPr>
              <a:t>Decision Tree</a:t>
            </a:r>
          </a:p>
        </p:txBody>
      </p:sp>
      <p:sp>
        <p:nvSpPr>
          <p:cNvPr id="50" name="TextBox 49"/>
          <p:cNvSpPr txBox="1"/>
          <p:nvPr/>
        </p:nvSpPr>
        <p:spPr>
          <a:xfrm>
            <a:off x="8183880" y="2395728"/>
            <a:ext cx="822960" cy="274320"/>
          </a:xfrm>
          <a:prstGeom prst="rect">
            <a:avLst/>
          </a:prstGeom>
          <a:noFill/>
        </p:spPr>
        <p:txBody>
          <a:bodyPr wrap="square">
            <a:spAutoFit/>
          </a:bodyPr>
          <a:lstStyle/>
          <a:p>
            <a:pPr algn="ctr"/>
            <a:r>
              <a:rPr sz="1000" b="0" i="0">
                <a:solidFill>
                  <a:srgbClr val="181D17"/>
                </a:solidFill>
                <a:latin typeface="Calibri"/>
              </a:rPr>
              <a:t>90.1%</a:t>
            </a:r>
          </a:p>
        </p:txBody>
      </p:sp>
      <p:sp>
        <p:nvSpPr>
          <p:cNvPr id="51" name="TextBox 50"/>
          <p:cNvSpPr txBox="1"/>
          <p:nvPr/>
        </p:nvSpPr>
        <p:spPr>
          <a:xfrm>
            <a:off x="9006840" y="2395728"/>
            <a:ext cx="731520" cy="274320"/>
          </a:xfrm>
          <a:prstGeom prst="rect">
            <a:avLst/>
          </a:prstGeom>
          <a:noFill/>
        </p:spPr>
        <p:txBody>
          <a:bodyPr wrap="square">
            <a:spAutoFit/>
          </a:bodyPr>
          <a:lstStyle/>
          <a:p>
            <a:pPr algn="ctr"/>
            <a:r>
              <a:rPr sz="1000" b="0" i="0">
                <a:solidFill>
                  <a:srgbClr val="181D17"/>
                </a:solidFill>
                <a:latin typeface="Calibri"/>
              </a:rPr>
              <a:t>✅</a:t>
            </a:r>
          </a:p>
        </p:txBody>
      </p:sp>
      <p:sp>
        <p:nvSpPr>
          <p:cNvPr id="52" name="TextBox 51"/>
          <p:cNvSpPr txBox="1"/>
          <p:nvPr/>
        </p:nvSpPr>
        <p:spPr>
          <a:xfrm>
            <a:off x="9738360" y="2395728"/>
            <a:ext cx="685800" cy="274320"/>
          </a:xfrm>
          <a:prstGeom prst="rect">
            <a:avLst/>
          </a:prstGeom>
          <a:noFill/>
        </p:spPr>
        <p:txBody>
          <a:bodyPr wrap="square">
            <a:spAutoFit/>
          </a:bodyPr>
          <a:lstStyle/>
          <a:p>
            <a:pPr algn="ctr"/>
            <a:r>
              <a:rPr sz="1000" b="0" i="0">
                <a:solidFill>
                  <a:srgbClr val="181D17"/>
                </a:solidFill>
                <a:latin typeface="Calibri"/>
              </a:rPr>
              <a:t>Fast</a:t>
            </a:r>
          </a:p>
        </p:txBody>
      </p:sp>
      <p:sp>
        <p:nvSpPr>
          <p:cNvPr id="53" name="TextBox 52"/>
          <p:cNvSpPr txBox="1"/>
          <p:nvPr/>
        </p:nvSpPr>
        <p:spPr>
          <a:xfrm>
            <a:off x="10424160" y="2395728"/>
            <a:ext cx="777240" cy="274320"/>
          </a:xfrm>
          <a:prstGeom prst="rect">
            <a:avLst/>
          </a:prstGeom>
          <a:noFill/>
        </p:spPr>
        <p:txBody>
          <a:bodyPr wrap="square">
            <a:spAutoFit/>
          </a:bodyPr>
          <a:lstStyle/>
          <a:p>
            <a:pPr algn="ctr"/>
            <a:r>
              <a:rPr sz="1000" b="0" i="0">
                <a:solidFill>
                  <a:srgbClr val="181D17"/>
                </a:solidFill>
                <a:latin typeface="Calibri"/>
              </a:rPr>
              <a:t>&lt;1 MB</a:t>
            </a:r>
          </a:p>
        </p:txBody>
      </p:sp>
      <p:sp>
        <p:nvSpPr>
          <p:cNvPr id="54" name="TextBox 53"/>
          <p:cNvSpPr txBox="1"/>
          <p:nvPr/>
        </p:nvSpPr>
        <p:spPr>
          <a:xfrm>
            <a:off x="11201400" y="2395728"/>
            <a:ext cx="777240" cy="274320"/>
          </a:xfrm>
          <a:prstGeom prst="rect">
            <a:avLst/>
          </a:prstGeom>
          <a:noFill/>
        </p:spPr>
        <p:txBody>
          <a:bodyPr wrap="square">
            <a:spAutoFit/>
          </a:bodyPr>
          <a:lstStyle/>
          <a:p>
            <a:pPr algn="ctr"/>
            <a:r>
              <a:rPr sz="1000" b="0" i="0">
                <a:solidFill>
                  <a:srgbClr val="181D17"/>
                </a:solidFill>
                <a:latin typeface="Calibri"/>
              </a:rPr>
              <a:t>No</a:t>
            </a:r>
          </a:p>
        </p:txBody>
      </p:sp>
      <p:sp>
        <p:nvSpPr>
          <p:cNvPr id="55" name="Rectangle 54"/>
          <p:cNvSpPr/>
          <p:nvPr/>
        </p:nvSpPr>
        <p:spPr>
          <a:xfrm>
            <a:off x="6583680" y="2779776"/>
            <a:ext cx="5257800" cy="457200"/>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75120" y="2871216"/>
            <a:ext cx="1508760" cy="274320"/>
          </a:xfrm>
          <a:prstGeom prst="rect">
            <a:avLst/>
          </a:prstGeom>
          <a:noFill/>
        </p:spPr>
        <p:txBody>
          <a:bodyPr wrap="square">
            <a:spAutoFit/>
          </a:bodyPr>
          <a:lstStyle/>
          <a:p>
            <a:pPr algn="ctr"/>
            <a:r>
              <a:rPr sz="1000" b="0" i="0">
                <a:solidFill>
                  <a:srgbClr val="181D17"/>
                </a:solidFill>
                <a:latin typeface="Calibri"/>
              </a:rPr>
              <a:t>K-Nearest Neigh.</a:t>
            </a:r>
          </a:p>
        </p:txBody>
      </p:sp>
      <p:sp>
        <p:nvSpPr>
          <p:cNvPr id="57" name="TextBox 56"/>
          <p:cNvSpPr txBox="1"/>
          <p:nvPr/>
        </p:nvSpPr>
        <p:spPr>
          <a:xfrm>
            <a:off x="8183880" y="2871216"/>
            <a:ext cx="822960" cy="274320"/>
          </a:xfrm>
          <a:prstGeom prst="rect">
            <a:avLst/>
          </a:prstGeom>
          <a:noFill/>
        </p:spPr>
        <p:txBody>
          <a:bodyPr wrap="square">
            <a:spAutoFit/>
          </a:bodyPr>
          <a:lstStyle/>
          <a:p>
            <a:pPr algn="ctr"/>
            <a:r>
              <a:rPr sz="1000" b="0" i="0">
                <a:solidFill>
                  <a:srgbClr val="181D17"/>
                </a:solidFill>
                <a:latin typeface="Calibri"/>
              </a:rPr>
              <a:t>97.1%</a:t>
            </a:r>
          </a:p>
        </p:txBody>
      </p:sp>
      <p:sp>
        <p:nvSpPr>
          <p:cNvPr id="58" name="TextBox 57"/>
          <p:cNvSpPr txBox="1"/>
          <p:nvPr/>
        </p:nvSpPr>
        <p:spPr>
          <a:xfrm>
            <a:off x="9006840" y="2871216"/>
            <a:ext cx="731520" cy="274320"/>
          </a:xfrm>
          <a:prstGeom prst="rect">
            <a:avLst/>
          </a:prstGeom>
          <a:noFill/>
        </p:spPr>
        <p:txBody>
          <a:bodyPr wrap="square">
            <a:spAutoFit/>
          </a:bodyPr>
          <a:lstStyle/>
          <a:p>
            <a:pPr algn="ctr"/>
            <a:r>
              <a:rPr sz="1000" b="0" i="0">
                <a:solidFill>
                  <a:srgbClr val="181D17"/>
                </a:solidFill>
                <a:latin typeface="Calibri"/>
              </a:rPr>
              <a:t>✅</a:t>
            </a:r>
          </a:p>
        </p:txBody>
      </p:sp>
      <p:sp>
        <p:nvSpPr>
          <p:cNvPr id="59" name="TextBox 58"/>
          <p:cNvSpPr txBox="1"/>
          <p:nvPr/>
        </p:nvSpPr>
        <p:spPr>
          <a:xfrm>
            <a:off x="9738360" y="2871216"/>
            <a:ext cx="685800" cy="274320"/>
          </a:xfrm>
          <a:prstGeom prst="rect">
            <a:avLst/>
          </a:prstGeom>
          <a:noFill/>
        </p:spPr>
        <p:txBody>
          <a:bodyPr wrap="square">
            <a:spAutoFit/>
          </a:bodyPr>
          <a:lstStyle/>
          <a:p>
            <a:pPr algn="ctr"/>
            <a:r>
              <a:rPr sz="1000" b="0" i="0">
                <a:solidFill>
                  <a:srgbClr val="181D17"/>
                </a:solidFill>
                <a:latin typeface="Calibri"/>
              </a:rPr>
              <a:t>Slow</a:t>
            </a:r>
          </a:p>
        </p:txBody>
      </p:sp>
      <p:sp>
        <p:nvSpPr>
          <p:cNvPr id="60" name="TextBox 59"/>
          <p:cNvSpPr txBox="1"/>
          <p:nvPr/>
        </p:nvSpPr>
        <p:spPr>
          <a:xfrm>
            <a:off x="10424160" y="2871216"/>
            <a:ext cx="777240" cy="274320"/>
          </a:xfrm>
          <a:prstGeom prst="rect">
            <a:avLst/>
          </a:prstGeom>
          <a:noFill/>
        </p:spPr>
        <p:txBody>
          <a:bodyPr wrap="square">
            <a:spAutoFit/>
          </a:bodyPr>
          <a:lstStyle/>
          <a:p>
            <a:pPr algn="ctr"/>
            <a:r>
              <a:rPr sz="1000" b="0" i="0">
                <a:solidFill>
                  <a:srgbClr val="181D17"/>
                </a:solidFill>
                <a:latin typeface="Calibri"/>
              </a:rPr>
              <a:t>2 MB</a:t>
            </a:r>
          </a:p>
        </p:txBody>
      </p:sp>
      <p:sp>
        <p:nvSpPr>
          <p:cNvPr id="61" name="TextBox 60"/>
          <p:cNvSpPr txBox="1"/>
          <p:nvPr/>
        </p:nvSpPr>
        <p:spPr>
          <a:xfrm>
            <a:off x="11201400" y="2871216"/>
            <a:ext cx="777240" cy="274320"/>
          </a:xfrm>
          <a:prstGeom prst="rect">
            <a:avLst/>
          </a:prstGeom>
          <a:noFill/>
        </p:spPr>
        <p:txBody>
          <a:bodyPr wrap="square">
            <a:spAutoFit/>
          </a:bodyPr>
          <a:lstStyle/>
          <a:p>
            <a:pPr algn="ctr"/>
            <a:r>
              <a:rPr sz="1000" b="0" i="0">
                <a:solidFill>
                  <a:srgbClr val="181D17"/>
                </a:solidFill>
                <a:latin typeface="Calibri"/>
              </a:rPr>
              <a:t>No</a:t>
            </a:r>
          </a:p>
        </p:txBody>
      </p:sp>
      <p:sp>
        <p:nvSpPr>
          <p:cNvPr id="62" name="Rectangle 61"/>
          <p:cNvSpPr/>
          <p:nvPr/>
        </p:nvSpPr>
        <p:spPr>
          <a:xfrm>
            <a:off x="6583680" y="3255264"/>
            <a:ext cx="5257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675120" y="3346704"/>
            <a:ext cx="1508760" cy="274320"/>
          </a:xfrm>
          <a:prstGeom prst="rect">
            <a:avLst/>
          </a:prstGeom>
          <a:noFill/>
        </p:spPr>
        <p:txBody>
          <a:bodyPr wrap="square">
            <a:spAutoFit/>
          </a:bodyPr>
          <a:lstStyle/>
          <a:p>
            <a:pPr algn="ctr"/>
            <a:r>
              <a:rPr sz="1000" b="0" i="0">
                <a:solidFill>
                  <a:srgbClr val="181D17"/>
                </a:solidFill>
                <a:latin typeface="Calibri"/>
              </a:rPr>
              <a:t>SVM</a:t>
            </a:r>
          </a:p>
        </p:txBody>
      </p:sp>
      <p:sp>
        <p:nvSpPr>
          <p:cNvPr id="64" name="TextBox 63"/>
          <p:cNvSpPr txBox="1"/>
          <p:nvPr/>
        </p:nvSpPr>
        <p:spPr>
          <a:xfrm>
            <a:off x="8183880" y="3346704"/>
            <a:ext cx="822960" cy="274320"/>
          </a:xfrm>
          <a:prstGeom prst="rect">
            <a:avLst/>
          </a:prstGeom>
          <a:noFill/>
        </p:spPr>
        <p:txBody>
          <a:bodyPr wrap="square">
            <a:spAutoFit/>
          </a:bodyPr>
          <a:lstStyle/>
          <a:p>
            <a:pPr algn="ctr"/>
            <a:r>
              <a:rPr sz="1000" b="0" i="0">
                <a:solidFill>
                  <a:srgbClr val="181D17"/>
                </a:solidFill>
                <a:latin typeface="Calibri"/>
              </a:rPr>
              <a:t>97.8%</a:t>
            </a:r>
          </a:p>
        </p:txBody>
      </p:sp>
      <p:sp>
        <p:nvSpPr>
          <p:cNvPr id="65" name="TextBox 64"/>
          <p:cNvSpPr txBox="1"/>
          <p:nvPr/>
        </p:nvSpPr>
        <p:spPr>
          <a:xfrm>
            <a:off x="9006840" y="3346704"/>
            <a:ext cx="731520" cy="274320"/>
          </a:xfrm>
          <a:prstGeom prst="rect">
            <a:avLst/>
          </a:prstGeom>
          <a:noFill/>
        </p:spPr>
        <p:txBody>
          <a:bodyPr wrap="square">
            <a:spAutoFit/>
          </a:bodyPr>
          <a:lstStyle/>
          <a:p>
            <a:pPr algn="ctr"/>
            <a:r>
              <a:rPr sz="1000" b="0" i="0">
                <a:solidFill>
                  <a:srgbClr val="181D17"/>
                </a:solidFill>
                <a:latin typeface="Calibri"/>
              </a:rPr>
              <a:t>✅</a:t>
            </a:r>
          </a:p>
        </p:txBody>
      </p:sp>
      <p:sp>
        <p:nvSpPr>
          <p:cNvPr id="66" name="TextBox 65"/>
          <p:cNvSpPr txBox="1"/>
          <p:nvPr/>
        </p:nvSpPr>
        <p:spPr>
          <a:xfrm>
            <a:off x="9738360" y="3346704"/>
            <a:ext cx="685800" cy="274320"/>
          </a:xfrm>
          <a:prstGeom prst="rect">
            <a:avLst/>
          </a:prstGeom>
          <a:noFill/>
        </p:spPr>
        <p:txBody>
          <a:bodyPr wrap="square">
            <a:spAutoFit/>
          </a:bodyPr>
          <a:lstStyle/>
          <a:p>
            <a:pPr algn="ctr"/>
            <a:r>
              <a:rPr sz="1000" b="0" i="0">
                <a:solidFill>
                  <a:srgbClr val="181D17"/>
                </a:solidFill>
                <a:latin typeface="Calibri"/>
              </a:rPr>
              <a:t>Medium</a:t>
            </a:r>
          </a:p>
        </p:txBody>
      </p:sp>
      <p:sp>
        <p:nvSpPr>
          <p:cNvPr id="67" name="TextBox 66"/>
          <p:cNvSpPr txBox="1"/>
          <p:nvPr/>
        </p:nvSpPr>
        <p:spPr>
          <a:xfrm>
            <a:off x="10424160" y="3346704"/>
            <a:ext cx="777240" cy="274320"/>
          </a:xfrm>
          <a:prstGeom prst="rect">
            <a:avLst/>
          </a:prstGeom>
          <a:noFill/>
        </p:spPr>
        <p:txBody>
          <a:bodyPr wrap="square">
            <a:spAutoFit/>
          </a:bodyPr>
          <a:lstStyle/>
          <a:p>
            <a:pPr algn="ctr"/>
            <a:r>
              <a:rPr sz="1000" b="0" i="0">
                <a:solidFill>
                  <a:srgbClr val="181D17"/>
                </a:solidFill>
                <a:latin typeface="Calibri"/>
              </a:rPr>
              <a:t>8 MB</a:t>
            </a:r>
          </a:p>
        </p:txBody>
      </p:sp>
      <p:sp>
        <p:nvSpPr>
          <p:cNvPr id="68" name="TextBox 67"/>
          <p:cNvSpPr txBox="1"/>
          <p:nvPr/>
        </p:nvSpPr>
        <p:spPr>
          <a:xfrm>
            <a:off x="11201400" y="3346704"/>
            <a:ext cx="777240" cy="274320"/>
          </a:xfrm>
          <a:prstGeom prst="rect">
            <a:avLst/>
          </a:prstGeom>
          <a:noFill/>
        </p:spPr>
        <p:txBody>
          <a:bodyPr wrap="square">
            <a:spAutoFit/>
          </a:bodyPr>
          <a:lstStyle/>
          <a:p>
            <a:pPr algn="ctr"/>
            <a:r>
              <a:rPr sz="1000" b="0" i="0">
                <a:solidFill>
                  <a:srgbClr val="181D17"/>
                </a:solidFill>
                <a:latin typeface="Calibri"/>
              </a:rPr>
              <a:t>No</a:t>
            </a:r>
          </a:p>
        </p:txBody>
      </p:sp>
      <p:sp>
        <p:nvSpPr>
          <p:cNvPr id="69" name="Rectangle 68"/>
          <p:cNvSpPr/>
          <p:nvPr/>
        </p:nvSpPr>
        <p:spPr>
          <a:xfrm>
            <a:off x="6583680" y="3730752"/>
            <a:ext cx="5257800" cy="457200"/>
          </a:xfrm>
          <a:prstGeom prst="rect">
            <a:avLst/>
          </a:prstGeom>
          <a:solidFill>
            <a:srgbClr val="F7F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675120" y="3822192"/>
            <a:ext cx="1508760" cy="274320"/>
          </a:xfrm>
          <a:prstGeom prst="rect">
            <a:avLst/>
          </a:prstGeom>
          <a:noFill/>
        </p:spPr>
        <p:txBody>
          <a:bodyPr wrap="square">
            <a:spAutoFit/>
          </a:bodyPr>
          <a:lstStyle/>
          <a:p>
            <a:pPr algn="ctr"/>
            <a:r>
              <a:rPr sz="1000" b="0" i="0">
                <a:solidFill>
                  <a:srgbClr val="181D17"/>
                </a:solidFill>
                <a:latin typeface="Calibri"/>
              </a:rPr>
              <a:t>Neural Network</a:t>
            </a:r>
          </a:p>
        </p:txBody>
      </p:sp>
      <p:sp>
        <p:nvSpPr>
          <p:cNvPr id="71" name="TextBox 70"/>
          <p:cNvSpPr txBox="1"/>
          <p:nvPr/>
        </p:nvSpPr>
        <p:spPr>
          <a:xfrm>
            <a:off x="8183880" y="3822192"/>
            <a:ext cx="822960" cy="274320"/>
          </a:xfrm>
          <a:prstGeom prst="rect">
            <a:avLst/>
          </a:prstGeom>
          <a:noFill/>
        </p:spPr>
        <p:txBody>
          <a:bodyPr wrap="square">
            <a:spAutoFit/>
          </a:bodyPr>
          <a:lstStyle/>
          <a:p>
            <a:pPr algn="ctr"/>
            <a:r>
              <a:rPr sz="1000" b="0" i="0">
                <a:solidFill>
                  <a:srgbClr val="181D17"/>
                </a:solidFill>
                <a:latin typeface="Calibri"/>
              </a:rPr>
              <a:t>99.1%</a:t>
            </a:r>
          </a:p>
        </p:txBody>
      </p:sp>
      <p:sp>
        <p:nvSpPr>
          <p:cNvPr id="72" name="TextBox 71"/>
          <p:cNvSpPr txBox="1"/>
          <p:nvPr/>
        </p:nvSpPr>
        <p:spPr>
          <a:xfrm>
            <a:off x="9006840" y="3822192"/>
            <a:ext cx="731520" cy="274320"/>
          </a:xfrm>
          <a:prstGeom prst="rect">
            <a:avLst/>
          </a:prstGeom>
          <a:noFill/>
        </p:spPr>
        <p:txBody>
          <a:bodyPr wrap="square">
            <a:spAutoFit/>
          </a:bodyPr>
          <a:lstStyle/>
          <a:p>
            <a:pPr algn="ctr"/>
            <a:r>
              <a:rPr sz="1000" b="0" i="0">
                <a:solidFill>
                  <a:srgbClr val="181D17"/>
                </a:solidFill>
                <a:latin typeface="Calibri"/>
              </a:rPr>
              <a:t>⚠</a:t>
            </a:r>
          </a:p>
        </p:txBody>
      </p:sp>
      <p:sp>
        <p:nvSpPr>
          <p:cNvPr id="73" name="TextBox 72"/>
          <p:cNvSpPr txBox="1"/>
          <p:nvPr/>
        </p:nvSpPr>
        <p:spPr>
          <a:xfrm>
            <a:off x="9738360" y="3822192"/>
            <a:ext cx="685800" cy="274320"/>
          </a:xfrm>
          <a:prstGeom prst="rect">
            <a:avLst/>
          </a:prstGeom>
          <a:noFill/>
        </p:spPr>
        <p:txBody>
          <a:bodyPr wrap="square">
            <a:spAutoFit/>
          </a:bodyPr>
          <a:lstStyle/>
          <a:p>
            <a:pPr algn="ctr"/>
            <a:r>
              <a:rPr sz="1000" b="0" i="0">
                <a:solidFill>
                  <a:srgbClr val="181D17"/>
                </a:solidFill>
                <a:latin typeface="Calibri"/>
              </a:rPr>
              <a:t>Slow</a:t>
            </a:r>
          </a:p>
        </p:txBody>
      </p:sp>
      <p:sp>
        <p:nvSpPr>
          <p:cNvPr id="74" name="TextBox 73"/>
          <p:cNvSpPr txBox="1"/>
          <p:nvPr/>
        </p:nvSpPr>
        <p:spPr>
          <a:xfrm>
            <a:off x="10424160" y="3822192"/>
            <a:ext cx="777240" cy="274320"/>
          </a:xfrm>
          <a:prstGeom prst="rect">
            <a:avLst/>
          </a:prstGeom>
          <a:noFill/>
        </p:spPr>
        <p:txBody>
          <a:bodyPr wrap="square">
            <a:spAutoFit/>
          </a:bodyPr>
          <a:lstStyle/>
          <a:p>
            <a:pPr algn="ctr"/>
            <a:r>
              <a:rPr sz="1000" b="0" i="0">
                <a:solidFill>
                  <a:srgbClr val="181D17"/>
                </a:solidFill>
                <a:latin typeface="Calibri"/>
              </a:rPr>
              <a:t>&gt;100 MB</a:t>
            </a:r>
          </a:p>
        </p:txBody>
      </p:sp>
      <p:sp>
        <p:nvSpPr>
          <p:cNvPr id="75" name="TextBox 74"/>
          <p:cNvSpPr txBox="1"/>
          <p:nvPr/>
        </p:nvSpPr>
        <p:spPr>
          <a:xfrm>
            <a:off x="11201400" y="3822192"/>
            <a:ext cx="777240" cy="274320"/>
          </a:xfrm>
          <a:prstGeom prst="rect">
            <a:avLst/>
          </a:prstGeom>
          <a:noFill/>
        </p:spPr>
        <p:txBody>
          <a:bodyPr wrap="square">
            <a:spAutoFit/>
          </a:bodyPr>
          <a:lstStyle/>
          <a:p>
            <a:pPr algn="ctr"/>
            <a:r>
              <a:rPr sz="1000" b="0" i="0">
                <a:solidFill>
                  <a:srgbClr val="181D17"/>
                </a:solidFill>
                <a:latin typeface="Calibri"/>
              </a:rPr>
              <a:t>No</a:t>
            </a:r>
          </a:p>
        </p:txBody>
      </p:sp>
      <p:sp>
        <p:nvSpPr>
          <p:cNvPr id="76" name="Rectangle 75"/>
          <p:cNvSpPr/>
          <p:nvPr/>
        </p:nvSpPr>
        <p:spPr>
          <a:xfrm>
            <a:off x="6583680" y="4206240"/>
            <a:ext cx="5257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75120" y="4297680"/>
            <a:ext cx="1508760" cy="274320"/>
          </a:xfrm>
          <a:prstGeom prst="rect">
            <a:avLst/>
          </a:prstGeom>
          <a:noFill/>
        </p:spPr>
        <p:txBody>
          <a:bodyPr wrap="square">
            <a:spAutoFit/>
          </a:bodyPr>
          <a:lstStyle/>
          <a:p>
            <a:pPr algn="ctr"/>
            <a:r>
              <a:rPr sz="1000" b="0" i="0">
                <a:solidFill>
                  <a:srgbClr val="181D17"/>
                </a:solidFill>
                <a:latin typeface="Calibri"/>
              </a:rPr>
              <a:t>Cloud LLM only</a:t>
            </a:r>
          </a:p>
        </p:txBody>
      </p:sp>
      <p:sp>
        <p:nvSpPr>
          <p:cNvPr id="78" name="TextBox 77"/>
          <p:cNvSpPr txBox="1"/>
          <p:nvPr/>
        </p:nvSpPr>
        <p:spPr>
          <a:xfrm>
            <a:off x="8183880" y="4297680"/>
            <a:ext cx="822960" cy="274320"/>
          </a:xfrm>
          <a:prstGeom prst="rect">
            <a:avLst/>
          </a:prstGeom>
          <a:noFill/>
        </p:spPr>
        <p:txBody>
          <a:bodyPr wrap="square">
            <a:spAutoFit/>
          </a:bodyPr>
          <a:lstStyle/>
          <a:p>
            <a:pPr algn="ctr"/>
            <a:r>
              <a:rPr sz="1000" b="0" i="0">
                <a:solidFill>
                  <a:srgbClr val="181D17"/>
                </a:solidFill>
                <a:latin typeface="Calibri"/>
              </a:rPr>
              <a:t>N/A</a:t>
            </a:r>
          </a:p>
        </p:txBody>
      </p:sp>
      <p:sp>
        <p:nvSpPr>
          <p:cNvPr id="79" name="TextBox 78"/>
          <p:cNvSpPr txBox="1"/>
          <p:nvPr/>
        </p:nvSpPr>
        <p:spPr>
          <a:xfrm>
            <a:off x="9006840" y="4297680"/>
            <a:ext cx="731520" cy="274320"/>
          </a:xfrm>
          <a:prstGeom prst="rect">
            <a:avLst/>
          </a:prstGeom>
          <a:noFill/>
        </p:spPr>
        <p:txBody>
          <a:bodyPr wrap="square">
            <a:spAutoFit/>
          </a:bodyPr>
          <a:lstStyle/>
          <a:p>
            <a:pPr algn="ctr"/>
            <a:r>
              <a:rPr sz="1000" b="0" i="0">
                <a:solidFill>
                  <a:srgbClr val="BA1A1A"/>
                </a:solidFill>
                <a:latin typeface="Calibri"/>
              </a:rPr>
              <a:t>❌</a:t>
            </a:r>
          </a:p>
        </p:txBody>
      </p:sp>
      <p:sp>
        <p:nvSpPr>
          <p:cNvPr id="80" name="TextBox 79"/>
          <p:cNvSpPr txBox="1"/>
          <p:nvPr/>
        </p:nvSpPr>
        <p:spPr>
          <a:xfrm>
            <a:off x="9738360" y="4297680"/>
            <a:ext cx="685800" cy="274320"/>
          </a:xfrm>
          <a:prstGeom prst="rect">
            <a:avLst/>
          </a:prstGeom>
          <a:noFill/>
        </p:spPr>
        <p:txBody>
          <a:bodyPr wrap="square">
            <a:spAutoFit/>
          </a:bodyPr>
          <a:lstStyle/>
          <a:p>
            <a:pPr algn="ctr"/>
            <a:r>
              <a:rPr sz="1000" b="0" i="0">
                <a:solidFill>
                  <a:srgbClr val="181D17"/>
                </a:solidFill>
                <a:latin typeface="Calibri"/>
              </a:rPr>
              <a:t>Slow</a:t>
            </a:r>
          </a:p>
        </p:txBody>
      </p:sp>
      <p:sp>
        <p:nvSpPr>
          <p:cNvPr id="81" name="TextBox 80"/>
          <p:cNvSpPr txBox="1"/>
          <p:nvPr/>
        </p:nvSpPr>
        <p:spPr>
          <a:xfrm>
            <a:off x="10424160" y="4297680"/>
            <a:ext cx="777240" cy="274320"/>
          </a:xfrm>
          <a:prstGeom prst="rect">
            <a:avLst/>
          </a:prstGeom>
          <a:noFill/>
        </p:spPr>
        <p:txBody>
          <a:bodyPr wrap="square">
            <a:spAutoFit/>
          </a:bodyPr>
          <a:lstStyle/>
          <a:p>
            <a:pPr algn="ctr"/>
            <a:r>
              <a:rPr sz="1000" b="0" i="0">
                <a:solidFill>
                  <a:srgbClr val="181D17"/>
                </a:solidFill>
                <a:latin typeface="Calibri"/>
              </a:rPr>
              <a:t>Cloud</a:t>
            </a:r>
          </a:p>
        </p:txBody>
      </p:sp>
      <p:sp>
        <p:nvSpPr>
          <p:cNvPr id="82" name="TextBox 81"/>
          <p:cNvSpPr txBox="1"/>
          <p:nvPr/>
        </p:nvSpPr>
        <p:spPr>
          <a:xfrm>
            <a:off x="11201400" y="4297680"/>
            <a:ext cx="777240" cy="274320"/>
          </a:xfrm>
          <a:prstGeom prst="rect">
            <a:avLst/>
          </a:prstGeom>
          <a:noFill/>
        </p:spPr>
        <p:txBody>
          <a:bodyPr wrap="square">
            <a:spAutoFit/>
          </a:bodyPr>
          <a:lstStyle/>
          <a:p>
            <a:pPr algn="ctr"/>
            <a:r>
              <a:rPr sz="1000" b="0" i="0">
                <a:solidFill>
                  <a:srgbClr val="181D17"/>
                </a:solidFill>
                <a:latin typeface="Calibri"/>
              </a:rPr>
              <a:t>No</a:t>
            </a:r>
          </a:p>
        </p:txBody>
      </p:sp>
      <p:sp>
        <p:nvSpPr>
          <p:cNvPr id="83" name="Rectangle 82"/>
          <p:cNvSpPr/>
          <p:nvPr/>
        </p:nvSpPr>
        <p:spPr>
          <a:xfrm>
            <a:off x="6537960" y="4370832"/>
            <a:ext cx="5349240" cy="2258568"/>
          </a:xfrm>
          <a:prstGeom prst="rect">
            <a:avLst/>
          </a:prstGeom>
          <a:solidFill>
            <a:srgbClr val="0D6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675120" y="4443984"/>
            <a:ext cx="5074920" cy="320040"/>
          </a:xfrm>
          <a:prstGeom prst="rect">
            <a:avLst/>
          </a:prstGeom>
          <a:noFill/>
        </p:spPr>
        <p:txBody>
          <a:bodyPr wrap="square">
            <a:spAutoFit/>
          </a:bodyPr>
          <a:lstStyle/>
          <a:p>
            <a:pPr algn="l"/>
            <a:r>
              <a:rPr sz="1200" b="1" i="0">
                <a:solidFill>
                  <a:srgbClr val="FFFFFF"/>
                </a:solidFill>
                <a:latin typeface="Calibri"/>
              </a:rPr>
              <a:t>Full AI Stack</a:t>
            </a:r>
          </a:p>
        </p:txBody>
      </p:sp>
      <p:sp>
        <p:nvSpPr>
          <p:cNvPr id="85" name="Rectangle 84"/>
          <p:cNvSpPr/>
          <p:nvPr/>
        </p:nvSpPr>
        <p:spPr>
          <a:xfrm>
            <a:off x="6675120" y="4864608"/>
            <a:ext cx="201168" cy="23774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949440" y="4828032"/>
            <a:ext cx="1417320" cy="292608"/>
          </a:xfrm>
          <a:prstGeom prst="rect">
            <a:avLst/>
          </a:prstGeom>
          <a:noFill/>
        </p:spPr>
        <p:txBody>
          <a:bodyPr wrap="square">
            <a:spAutoFit/>
          </a:bodyPr>
          <a:lstStyle/>
          <a:p>
            <a:pPr algn="l"/>
            <a:r>
              <a:rPr sz="1000" b="1" i="0">
                <a:solidFill>
                  <a:srgbClr val="FFFFFF"/>
                </a:solidFill>
                <a:latin typeface="Calibri"/>
              </a:rPr>
              <a:t>Random Forest</a:t>
            </a:r>
          </a:p>
        </p:txBody>
      </p:sp>
      <p:sp>
        <p:nvSpPr>
          <p:cNvPr id="87" name="TextBox 86"/>
          <p:cNvSpPr txBox="1"/>
          <p:nvPr/>
        </p:nvSpPr>
        <p:spPr>
          <a:xfrm>
            <a:off x="8412480" y="4828032"/>
            <a:ext cx="3383280" cy="292608"/>
          </a:xfrm>
          <a:prstGeom prst="rect">
            <a:avLst/>
          </a:prstGeom>
          <a:noFill/>
        </p:spPr>
        <p:txBody>
          <a:bodyPr wrap="square">
            <a:spAutoFit/>
          </a:bodyPr>
          <a:lstStyle/>
          <a:p>
            <a:pPr algn="l"/>
            <a:r>
              <a:rPr sz="950" b="0" i="0">
                <a:solidFill>
                  <a:srgbClr val="A3F69C"/>
                </a:solidFill>
                <a:latin typeface="Calibri"/>
              </a:rPr>
              <a:t>Kaggle-trained crop predictor  (3.5 MB .pkl)</a:t>
            </a:r>
          </a:p>
        </p:txBody>
      </p:sp>
      <p:sp>
        <p:nvSpPr>
          <p:cNvPr id="88" name="Rectangle 87"/>
          <p:cNvSpPr/>
          <p:nvPr/>
        </p:nvSpPr>
        <p:spPr>
          <a:xfrm>
            <a:off x="6675120" y="5212080"/>
            <a:ext cx="201168" cy="237744"/>
          </a:xfrm>
          <a:prstGeom prst="rect">
            <a:avLst/>
          </a:prstGeom>
          <a:solidFill>
            <a:srgbClr val="1B6D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949440" y="5175504"/>
            <a:ext cx="1417320" cy="292608"/>
          </a:xfrm>
          <a:prstGeom prst="rect">
            <a:avLst/>
          </a:prstGeom>
          <a:noFill/>
        </p:spPr>
        <p:txBody>
          <a:bodyPr wrap="square">
            <a:spAutoFit/>
          </a:bodyPr>
          <a:lstStyle/>
          <a:p>
            <a:pPr algn="l"/>
            <a:r>
              <a:rPr sz="1000" b="1" i="0">
                <a:solidFill>
                  <a:srgbClr val="FFFFFF"/>
                </a:solidFill>
                <a:latin typeface="Calibri"/>
              </a:rPr>
              <a:t>Qwen 2.5:3b</a:t>
            </a:r>
          </a:p>
        </p:txBody>
      </p:sp>
      <p:sp>
        <p:nvSpPr>
          <p:cNvPr id="90" name="TextBox 89"/>
          <p:cNvSpPr txBox="1"/>
          <p:nvPr/>
        </p:nvSpPr>
        <p:spPr>
          <a:xfrm>
            <a:off x="8412480" y="5175504"/>
            <a:ext cx="3383280" cy="292608"/>
          </a:xfrm>
          <a:prstGeom prst="rect">
            <a:avLst/>
          </a:prstGeom>
          <a:noFill/>
        </p:spPr>
        <p:txBody>
          <a:bodyPr wrap="square">
            <a:spAutoFit/>
          </a:bodyPr>
          <a:lstStyle/>
          <a:p>
            <a:pPr algn="l"/>
            <a:r>
              <a:rPr sz="950" b="0" i="0">
                <a:solidFill>
                  <a:srgbClr val="A3F69C"/>
                </a:solidFill>
                <a:latin typeface="Calibri"/>
              </a:rPr>
              <a:t>Ollama offline LLM — recommendation + explanation</a:t>
            </a:r>
          </a:p>
        </p:txBody>
      </p:sp>
      <p:sp>
        <p:nvSpPr>
          <p:cNvPr id="91" name="Rectangle 90"/>
          <p:cNvSpPr/>
          <p:nvPr/>
        </p:nvSpPr>
        <p:spPr>
          <a:xfrm>
            <a:off x="6675120" y="5559552"/>
            <a:ext cx="201168" cy="237744"/>
          </a:xfrm>
          <a:prstGeom prst="rect">
            <a:avLst/>
          </a:prstGeom>
          <a:solidFill>
            <a:srgbClr val="1A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949440" y="5522976"/>
            <a:ext cx="1417320" cy="292608"/>
          </a:xfrm>
          <a:prstGeom prst="rect">
            <a:avLst/>
          </a:prstGeom>
          <a:noFill/>
        </p:spPr>
        <p:txBody>
          <a:bodyPr wrap="square">
            <a:spAutoFit/>
          </a:bodyPr>
          <a:lstStyle/>
          <a:p>
            <a:pPr algn="l"/>
            <a:r>
              <a:rPr sz="1000" b="1" i="0">
                <a:solidFill>
                  <a:srgbClr val="FFFFFF"/>
                </a:solidFill>
                <a:latin typeface="Calibri"/>
              </a:rPr>
              <a:t>NLLB-200 (Meta)</a:t>
            </a:r>
          </a:p>
        </p:txBody>
      </p:sp>
      <p:sp>
        <p:nvSpPr>
          <p:cNvPr id="93" name="TextBox 92"/>
          <p:cNvSpPr txBox="1"/>
          <p:nvPr/>
        </p:nvSpPr>
        <p:spPr>
          <a:xfrm>
            <a:off x="8412480" y="5522976"/>
            <a:ext cx="3383280" cy="292608"/>
          </a:xfrm>
          <a:prstGeom prst="rect">
            <a:avLst/>
          </a:prstGeom>
          <a:noFill/>
        </p:spPr>
        <p:txBody>
          <a:bodyPr wrap="square">
            <a:spAutoFit/>
          </a:bodyPr>
          <a:lstStyle/>
          <a:p>
            <a:pPr algn="l"/>
            <a:r>
              <a:rPr sz="950" b="0" i="0">
                <a:solidFill>
                  <a:srgbClr val="A3F69C"/>
                </a:solidFill>
                <a:latin typeface="Calibri"/>
              </a:rPr>
              <a:t>No Language Left Behind — EN → Filipino offline</a:t>
            </a:r>
          </a:p>
        </p:txBody>
      </p:sp>
      <p:sp>
        <p:nvSpPr>
          <p:cNvPr id="94" name="Rectangle 93"/>
          <p:cNvSpPr/>
          <p:nvPr/>
        </p:nvSpPr>
        <p:spPr>
          <a:xfrm>
            <a:off x="6675120" y="5907024"/>
            <a:ext cx="201168" cy="237744"/>
          </a:xfrm>
          <a:prstGeom prst="rect">
            <a:avLst/>
          </a:prstGeom>
          <a:solidFill>
            <a:srgbClr val="1865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949440" y="5870448"/>
            <a:ext cx="1417320" cy="292608"/>
          </a:xfrm>
          <a:prstGeom prst="rect">
            <a:avLst/>
          </a:prstGeom>
          <a:noFill/>
        </p:spPr>
        <p:txBody>
          <a:bodyPr wrap="square">
            <a:spAutoFit/>
          </a:bodyPr>
          <a:lstStyle/>
          <a:p>
            <a:pPr algn="l"/>
            <a:r>
              <a:rPr sz="1000" b="1" i="0">
                <a:solidFill>
                  <a:srgbClr val="FFFFFF"/>
                </a:solidFill>
                <a:latin typeface="Calibri"/>
              </a:rPr>
              <a:t>Google Maps API</a:t>
            </a:r>
          </a:p>
        </p:txBody>
      </p:sp>
      <p:sp>
        <p:nvSpPr>
          <p:cNvPr id="96" name="TextBox 95"/>
          <p:cNvSpPr txBox="1"/>
          <p:nvPr/>
        </p:nvSpPr>
        <p:spPr>
          <a:xfrm>
            <a:off x="8412480" y="5870448"/>
            <a:ext cx="3383280" cy="292608"/>
          </a:xfrm>
          <a:prstGeom prst="rect">
            <a:avLst/>
          </a:prstGeom>
          <a:noFill/>
        </p:spPr>
        <p:txBody>
          <a:bodyPr wrap="square">
            <a:spAutoFit/>
          </a:bodyPr>
          <a:lstStyle/>
          <a:p>
            <a:pPr algn="l"/>
            <a:r>
              <a:rPr sz="950" b="0" i="0">
                <a:solidFill>
                  <a:srgbClr val="A3F69C"/>
                </a:solidFill>
                <a:latin typeface="Calibri"/>
              </a:rPr>
              <a:t>Farm boundary &amp; sensor GPS mapping (online only)</a:t>
            </a:r>
          </a:p>
        </p:txBody>
      </p:sp>
      <p:sp>
        <p:nvSpPr>
          <p:cNvPr id="97" name="Rectangle 96"/>
          <p:cNvSpPr/>
          <p:nvPr/>
        </p:nvSpPr>
        <p:spPr>
          <a:xfrm>
            <a:off x="6675120" y="6254496"/>
            <a:ext cx="201168" cy="237744"/>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949440" y="6217920"/>
            <a:ext cx="1417320" cy="292608"/>
          </a:xfrm>
          <a:prstGeom prst="rect">
            <a:avLst/>
          </a:prstGeom>
          <a:noFill/>
        </p:spPr>
        <p:txBody>
          <a:bodyPr wrap="square">
            <a:spAutoFit/>
          </a:bodyPr>
          <a:lstStyle/>
          <a:p>
            <a:pPr algn="l"/>
            <a:r>
              <a:rPr sz="1000" b="1" i="0">
                <a:solidFill>
                  <a:srgbClr val="FFFFFF"/>
                </a:solidFill>
                <a:latin typeface="Calibri"/>
              </a:rPr>
              <a:t>IoT Sensor Layer</a:t>
            </a:r>
          </a:p>
        </p:txBody>
      </p:sp>
      <p:sp>
        <p:nvSpPr>
          <p:cNvPr id="99" name="TextBox 98"/>
          <p:cNvSpPr txBox="1"/>
          <p:nvPr/>
        </p:nvSpPr>
        <p:spPr>
          <a:xfrm>
            <a:off x="8412480" y="6217920"/>
            <a:ext cx="3383280" cy="292608"/>
          </a:xfrm>
          <a:prstGeom prst="rect">
            <a:avLst/>
          </a:prstGeom>
          <a:noFill/>
        </p:spPr>
        <p:txBody>
          <a:bodyPr wrap="square">
            <a:spAutoFit/>
          </a:bodyPr>
          <a:lstStyle/>
          <a:p>
            <a:pPr algn="l"/>
            <a:r>
              <a:rPr sz="950" b="0" i="0">
                <a:solidFill>
                  <a:srgbClr val="A3F69C"/>
                </a:solidFill>
                <a:latin typeface="Calibri"/>
              </a:rPr>
              <a:t>Real soil data: N · P · K · pH · Temp · Humidity · Rain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D6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0515600" cy="502920"/>
          </a:xfrm>
          <a:prstGeom prst="rect">
            <a:avLst/>
          </a:prstGeom>
          <a:noFill/>
        </p:spPr>
        <p:txBody>
          <a:bodyPr wrap="square">
            <a:spAutoFit/>
          </a:bodyPr>
          <a:lstStyle/>
          <a:p>
            <a:pPr algn="l"/>
            <a:r>
              <a:rPr sz="2400" b="1">
                <a:solidFill>
                  <a:srgbClr val="FFFFFF"/>
                </a:solidFill>
                <a:latin typeface="Calibri"/>
              </a:rPr>
              <a:t>Q&amp;A</a:t>
            </a:r>
          </a:p>
        </p:txBody>
      </p:sp>
      <p:sp>
        <p:nvSpPr>
          <p:cNvPr id="4" name="TextBox 3"/>
          <p:cNvSpPr txBox="1"/>
          <p:nvPr/>
        </p:nvSpPr>
        <p:spPr>
          <a:xfrm>
            <a:off x="365760" y="612648"/>
            <a:ext cx="10515600" cy="256032"/>
          </a:xfrm>
          <a:prstGeom prst="rect">
            <a:avLst/>
          </a:prstGeom>
          <a:noFill/>
        </p:spPr>
        <p:txBody>
          <a:bodyPr wrap="square">
            <a:spAutoFit/>
          </a:bodyPr>
          <a:lstStyle/>
          <a:p>
            <a:pPr algn="l"/>
            <a:r>
              <a:rPr sz="1100" b="0">
                <a:solidFill>
                  <a:srgbClr val="A3F69C"/>
                </a:solidFill>
                <a:latin typeface="Calibri"/>
              </a:rPr>
              <a:t>Open floor for questions · DICT Capstone Project 2026</a:t>
            </a:r>
          </a:p>
        </p:txBody>
      </p:sp>
      <p:sp>
        <p:nvSpPr>
          <p:cNvPr id="5" name="Rectangle 4"/>
          <p:cNvSpPr/>
          <p:nvPr/>
        </p:nvSpPr>
        <p:spPr>
          <a:xfrm>
            <a:off x="11430000" y="274320"/>
            <a:ext cx="548640" cy="365760"/>
          </a:xfrm>
          <a:prstGeom prst="rect">
            <a:avLst/>
          </a:prstGeom>
          <a:solidFill>
            <a:srgbClr val="FED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0" y="301752"/>
            <a:ext cx="548640" cy="320040"/>
          </a:xfrm>
          <a:prstGeom prst="rect">
            <a:avLst/>
          </a:prstGeom>
          <a:noFill/>
        </p:spPr>
        <p:txBody>
          <a:bodyPr wrap="square">
            <a:spAutoFit/>
          </a:bodyPr>
          <a:lstStyle/>
          <a:p>
            <a:pPr algn="ctr"/>
            <a:r>
              <a:rPr sz="1300" b="1">
                <a:solidFill>
                  <a:srgbClr val="755B00"/>
                </a:solidFill>
                <a:latin typeface="Calibri"/>
              </a:rPr>
              <a:t>10</a:t>
            </a:r>
          </a:p>
        </p:txBody>
      </p:sp>
      <p:sp>
        <p:nvSpPr>
          <p:cNvPr id="7" name="Rectangle 6"/>
          <p:cNvSpPr/>
          <p:nvPr/>
        </p:nvSpPr>
        <p:spPr>
          <a:xfrm>
            <a:off x="1828800" y="1600200"/>
            <a:ext cx="8534095"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1828800"/>
            <a:ext cx="8534095" cy="800000"/>
          </a:xfrm>
          <a:prstGeom prst="rect">
            <a:avLst/>
          </a:prstGeom>
          <a:noFill/>
        </p:spPr>
        <p:txBody>
          <a:bodyPr wrap="square">
            <a:spAutoFit/>
          </a:bodyPr>
          <a:lstStyle/>
          <a:p>
            <a:pPr algn="ctr"/>
            <a:r>
              <a:rPr sz="5400" b="0">
                <a:solidFill>
                  <a:srgbClr val="0D631B"/>
                </a:solidFill>
                <a:latin typeface="Calibri"/>
              </a:rPr>
              <a:t>🙋</a:t>
            </a:r>
          </a:p>
        </p:txBody>
      </p:sp>
      <p:sp>
        <p:nvSpPr>
          <p:cNvPr id="9" name="TextBox 8"/>
          <p:cNvSpPr txBox="1"/>
          <p:nvPr/>
        </p:nvSpPr>
        <p:spPr>
          <a:xfrm>
            <a:off x="1828800" y="2700000"/>
            <a:ext cx="8534095" cy="700000"/>
          </a:xfrm>
          <a:prstGeom prst="rect">
            <a:avLst/>
          </a:prstGeom>
          <a:noFill/>
        </p:spPr>
        <p:txBody>
          <a:bodyPr wrap="square">
            <a:spAutoFit/>
          </a:bodyPr>
          <a:lstStyle/>
          <a:p>
            <a:pPr algn="ctr"/>
            <a:r>
              <a:rPr sz="3600" b="1">
                <a:solidFill>
                  <a:srgbClr val="0D631B"/>
                </a:solidFill>
                <a:latin typeface="Calibri"/>
              </a:rPr>
              <a:t>Questions &amp; Answers</a:t>
            </a:r>
          </a:p>
        </p:txBody>
      </p:sp>
      <p:sp>
        <p:nvSpPr>
          <p:cNvPr id="10" name="TextBox 9"/>
          <p:cNvSpPr txBox="1"/>
          <p:nvPr/>
        </p:nvSpPr>
        <p:spPr>
          <a:xfrm>
            <a:off x="1828800" y="3450000"/>
            <a:ext cx="8534095" cy="500000"/>
          </a:xfrm>
          <a:prstGeom prst="rect">
            <a:avLst/>
          </a:prstGeom>
          <a:noFill/>
        </p:spPr>
        <p:txBody>
          <a:bodyPr wrap="square">
            <a:spAutoFit/>
          </a:bodyPr>
          <a:lstStyle/>
          <a:p>
            <a:pPr algn="ctr"/>
            <a:r>
              <a:rPr sz="1400" b="0">
                <a:solidFill>
                  <a:srgbClr val="333333"/>
                </a:solidFill>
                <a:latin typeface="Calibri"/>
              </a:rPr>
              <a:t>Maraming salamat po! Tanong tungkol sa sistema, datos, gastos, o susunod na hakbang?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2256</Words>
  <Application>Microsoft Office PowerPoint</Application>
  <PresentationFormat>Widescreen</PresentationFormat>
  <Paragraphs>356</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DICT DTC02</cp:lastModifiedBy>
  <cp:revision>2</cp:revision>
  <dcterms:created xsi:type="dcterms:W3CDTF">2013-01-27T09:14:16Z</dcterms:created>
  <dcterms:modified xsi:type="dcterms:W3CDTF">2026-06-24T05:41:09Z</dcterms:modified>
  <cp:category/>
</cp:coreProperties>
</file>